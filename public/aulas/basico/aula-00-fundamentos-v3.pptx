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735cb5263f94aad" /><Relationship Type="http://schemas.openxmlformats.org/officeDocument/2006/relationships/extended-properties" Target="/docProps/app.xml" Id="Raf2ba5c47fed458b" /><Relationship Type="http://schemas.openxmlformats.org/officeDocument/2006/relationships/officeDocument" Target="/ppt/presentation.xml" Id="Rb7f802638bb3490e" /></Relationships>
</file>

<file path=ppt/presentation.xml><?xml version="1.0" encoding="utf-8"?>
<p:presentation xmlns:p="http://schemas.openxmlformats.org/presentationml/2006/main">
  <p:sldMasterIdLst>
    <p:sldMasterId xmlns:r="http://schemas.openxmlformats.org/officeDocument/2006/relationships" id="2147483648" r:id="Rb3fdfdc346f8487e"/>
  </p:sldMasterIdLst>
  <p:notesMasterIdLst>
    <p:notesMasterId xmlns:r="http://schemas.openxmlformats.org/officeDocument/2006/relationships" r:id="Rd7905ea8c4134a24"/>
  </p:notesMasterIdLst>
  <p:sldIdLst>
    <p:sldId xmlns:r="http://schemas.openxmlformats.org/officeDocument/2006/relationships" id="256" r:id="R85b3a3f946c14524"/>
    <p:sldId xmlns:r="http://schemas.openxmlformats.org/officeDocument/2006/relationships" id="257" r:id="Rbab4a9e4b94d4033"/>
    <p:sldId xmlns:r="http://schemas.openxmlformats.org/officeDocument/2006/relationships" id="258" r:id="R441dc114acc34fc2"/>
    <p:sldId xmlns:r="http://schemas.openxmlformats.org/officeDocument/2006/relationships" id="259" r:id="Rcca33a9e9a2c45ae"/>
    <p:sldId xmlns:r="http://schemas.openxmlformats.org/officeDocument/2006/relationships" id="260" r:id="R0a8d79decada4096"/>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338a2425a94f63" /><Relationship Type="http://schemas.openxmlformats.org/officeDocument/2006/relationships/slideMaster" Target="/ppt/slideMasters/slideMaster1.xml" Id="Rb3fdfdc346f8487e" /><Relationship Type="http://schemas.openxmlformats.org/officeDocument/2006/relationships/notesMaster" Target="/ppt/notesMasters/notesMaster1.xml" Id="Rd7905ea8c4134a24" /><Relationship Type="http://schemas.openxmlformats.org/officeDocument/2006/relationships/presProps" Target="/ppt/presProps.xml" Id="R440e44ec33394144" /><Relationship Type="http://schemas.openxmlformats.org/officeDocument/2006/relationships/tableStyles" Target="/ppt/tableStyles.xml" Id="R84f8bb6308a94f32" /><Relationship Type="http://schemas.openxmlformats.org/officeDocument/2006/relationships/slide" Target="/ppt/slides/slide1.xml" Id="R85b3a3f946c14524" /><Relationship Type="http://schemas.openxmlformats.org/officeDocument/2006/relationships/slide" Target="/ppt/slides/slide2.xml" Id="Rbab4a9e4b94d4033" /><Relationship Type="http://schemas.openxmlformats.org/officeDocument/2006/relationships/slide" Target="/ppt/slides/slide3.xml" Id="R441dc114acc34fc2" /><Relationship Type="http://schemas.openxmlformats.org/officeDocument/2006/relationships/slide" Target="/ppt/slides/slide4.xml" Id="Rcca33a9e9a2c45ae" /><Relationship Type="http://schemas.openxmlformats.org/officeDocument/2006/relationships/slide" Target="/ppt/slides/slide5.xml" Id="R0a8d79decada40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db189b396745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2025d93b464328" /><Relationship Type="http://schemas.openxmlformats.org/officeDocument/2006/relationships/notesMaster" Target="/ppt/notesMasters/notesMaster1.xml" Id="R12a658dd662041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0cc7ec9b52d428c" /><Relationship Type="http://schemas.openxmlformats.org/officeDocument/2006/relationships/notesMaster" Target="/ppt/notesMasters/notesMaster1.xml" Id="Rbe7523c766a04c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82aa9277b24a6a" /><Relationship Type="http://schemas.openxmlformats.org/officeDocument/2006/relationships/notesMaster" Target="/ppt/notesMasters/notesMaster1.xml" Id="R1af53e6084a1433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66f0f67c43482a" /><Relationship Type="http://schemas.openxmlformats.org/officeDocument/2006/relationships/notesMaster" Target="/ppt/notesMasters/notesMaster1.xml" Id="R4ac4607a079445e2" /></Relationships>
</file>

<file path=ppt/notesSlides/_rels/notesSlide5.xml.rels>&#65279;<?xml version="1.0" encoding="utf-8"?><Relationships xmlns="http://schemas.openxmlformats.org/package/2006/relationships"><Relationship Type="http://schemas.openxmlformats.org/officeDocument/2006/relationships/slide" Target="/ppt/slides/slide5.xml" Id="R184e86ab10724209" /><Relationship Type="http://schemas.openxmlformats.org/officeDocument/2006/relationships/notesMaster" Target="/ppt/notesMasters/notesMaster1.xml" Id="Rd4b48037480c42f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Você não precisa chegar aqui com uma grande ideia. Uma pequena dificuldade do trabalho já é um começo: abrir um vídeo, organizar um pedido de edição ou encontrar palavras para apresentar seu produto.</a:t>
            </a:r>
          </a:p>
          <a:p xmlns:a="http://schemas.openxmlformats.org/drawingml/2006/main">
            <a:r>
              <a:t/>
            </a:r>
          </a:p>
          <a:p xmlns:a="http://schemas.openxmlformats.org/drawingml/2006/main">
            <a:r>
              <a:t>Talvez você conheça a IA pelas respostas impressionantes que aparecem nas redes. Aqui, a medida de sucesso é outra: algo ficou mais claro ou mais viável para você? Uma abertura de vídeo que finalmente soa natural pode ensinar mais do que uma demonstração sofisticada sem relação com seu trabalho.</a:t>
            </a:r>
          </a:p>
          <a:p xmlns:a="http://schemas.openxmlformats.org/drawingml/2006/main">
            <a:r>
              <a:t/>
            </a:r>
          </a:p>
          <a:p xmlns:a="http://schemas.openxmlformats.org/drawingml/2006/main">
            <a:r>
              <a:t>Ao longo deste módulo, você vai escolher uma pergunta, construir um pequeno projeto e aprender a julgar o resultado. Não precisa acertar o pedido de primeira. Sua experiência com a própria rotina já oferece algo essencial: pistas sobre o que uma boa resposta precisa respeitar.</a:t>
            </a:r>
          </a:p>
          <a:p xmlns:a="http://schemas.openxmlformats.org/drawingml/2006/main">
            <a:r>
              <a:t/>
            </a:r>
          </a:p>
          <a:p xmlns:a="http://schemas.openxmlformats.org/drawingml/2006/main">
            <a:r>
              <a:t>O resultado do teste pode ser uma solução, uma pergunta melhor ou a descoberta de um limite.</a:t>
            </a:r>
          </a:p>
          <a:p xmlns:a="http://schemas.openxmlformats.org/drawingml/2006/main">
            <a:r>
              <a:t/>
            </a:r>
          </a:p>
          <a:p xmlns:a="http://schemas.openxmlformats.org/drawingml/2006/main">
            <a:r>
              <a:t>EXEMPLO FICTÍCIO: Uma abertura para sair da página em branco</a:t>
            </a:r>
          </a:p>
          <a:p xmlns:a="http://schemas.openxmlformats.org/drawingml/2006/main">
            <a:r>
              <a:t/>
            </a:r>
          </a:p>
          <a:p xmlns:a="http://schemas.openxmlformats.org/drawingml/2006/main">
            <a:r>
              <a:t>Lia cria conteúdo e trava na primeira frase de um vídeo. Neste caso fictício, o tema é organizar arquivos antes de editar.</a:t>
            </a:r>
          </a:p>
          <a:p xmlns:a="http://schemas.openxmlformats.org/drawingml/2006/main">
            <a:r>
              <a:t/>
            </a:r>
          </a:p>
          <a:p xmlns:a="http://schemas.openxmlformats.org/drawingml/2006/main">
            <a:r>
              <a:t>Ela pede: ‘Sugira três aberturas de uma frase para esse vídeo. Fale com editores iniciantes, sem prometer economia de tempo que eu não medi.’</a:t>
            </a:r>
          </a:p>
          <a:p xmlns:a="http://schemas.openxmlformats.org/drawingml/2006/main">
            <a:r>
              <a:t/>
            </a:r>
          </a:p>
          <a:p xmlns:a="http://schemas.openxmlformats.org/drawingml/2006/main">
            <a:r>
              <a:t>Lia lê as opções em voz alta e escolhe uma para reescrever. O teste não mede visualizações futuras: ela consegue avaliar agora se a frase é clara, fiel ao tema e natural na sua voz.</a:t>
            </a:r>
          </a:p>
          <a:p xmlns:a="http://schemas.openxmlformats.org/drawingml/2006/main">
            <a:r>
              <a:t/>
            </a:r>
          </a:p>
          <a:p xmlns:a="http://schemas.openxmlformats.org/drawingml/2006/main">
            <a:r>
              <a:t>REFLEXÃO: Se você pudesse destravar uma única coisa pequena nesta semana, qual seria?</a:t>
            </a:r>
          </a:p>
          <a:p xmlns:a="http://schemas.openxmlformats.org/drawingml/2006/main">
            <a:r>
              <a:t/>
            </a:r>
          </a:p>
          <a:p xmlns:a="http://schemas.openxmlformats.org/drawingml/2006/main">
            <a:r>
              <a:t>Uma resposta possível é ‘escrever uma mensagem para esclarecer o pedido de um cliente fictício’. Existe uma ação concreta e você consegue reconhecer se ela pede a informação que falta. Guarde a sua ideia para a prática.</a:t>
            </a:r>
          </a:p>
          <a:p xmlns:a="http://schemas.openxmlformats.org/drawingml/2006/main">
            <a:r>
              <a:t/>
            </a:r>
          </a:p>
          <a:p xmlns:a="http://schemas.openxmlformats.org/drawingml/2006/main">
            <a:r>
              <a:t>IDEIA PRINCIPAL: A sua curiosidade já é matéria-prima. Comece por algo que importa para você.</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Inteligência artificial é um campo amplo. Neste curso, nosso ponto de partida é a IA generativa de texto: um sistema capaz de produzir respostas a partir das instruções e informações que recebe.</a:t>
            </a:r>
          </a:p>
          <a:p xmlns:a="http://schemas.openxmlformats.org/drawingml/2006/main">
            <a:r>
              <a:t/>
            </a:r>
          </a:p>
          <a:p xmlns:a="http://schemas.openxmlformats.org/drawingml/2006/main">
            <a:r>
              <a:t>Um modelo de linguagem aprende padrões durante o treinamento e gera texto em pequenas unidades, chamadas tokens. Tokens podem ser palavras, partes de palavras ou sinais; não existe uma equivalência fixa de um token para uma palavra. ‘Prompt’ é apenas o nome do pedido ou das instruções que você envia.</a:t>
            </a:r>
          </a:p>
          <a:p xmlns:a="http://schemas.openxmlformats.org/drawingml/2006/main">
            <a:r>
              <a:t/>
            </a:r>
          </a:p>
          <a:p xmlns:a="http://schemas.openxmlformats.org/drawingml/2006/main">
            <a:r>
              <a:t>Separe três coisas: o modelo gera a resposta; o aplicativo oferece a interface; ferramentas adicionais podem dar acesso a pesquisa ou arquivos. Uma capacidade não vem automaticamente com a outra. O chat de prática desta Academy trabalha com texto: ele não pesquisa a internet nem realiza ações em outros aplicativos.</a:t>
            </a:r>
          </a:p>
          <a:p xmlns:a="http://schemas.openxmlformats.org/drawingml/2006/main">
            <a:r>
              <a:t/>
            </a:r>
          </a:p>
          <a:p xmlns:a="http://schemas.openxmlformats.org/drawingml/2006/main">
            <a:r>
              <a:t>Modelo e aplicativo não são sinônimos. Este desenho simplifica uma conversa de texto, não descreve uma pesquisa na web.</a:t>
            </a:r>
          </a:p>
          <a:p xmlns:a="http://schemas.openxmlformats.org/drawingml/2006/main">
            <a:r>
              <a:t/>
            </a:r>
          </a:p>
          <a:p xmlns:a="http://schemas.openxmlformats.org/drawingml/2006/main">
            <a:r>
              <a:t>EXEMPLO FICTÍCIO: Gerar não é consultar</a:t>
            </a:r>
          </a:p>
          <a:p xmlns:a="http://schemas.openxmlformats.org/drawingml/2006/main">
            <a:r>
              <a:t/>
            </a:r>
          </a:p>
          <a:p xmlns:a="http://schemas.openxmlformats.org/drawingml/2006/main">
            <a:r>
              <a:t>Você pergunta: ‘Qual áudio está em alta hoje para o vídeo da minha loja?’</a:t>
            </a:r>
          </a:p>
          <a:p xmlns:a="http://schemas.openxmlformats.org/drawingml/2006/main">
            <a:r>
              <a:t/>
            </a:r>
          </a:p>
          <a:p xmlns:a="http://schemas.openxmlformats.org/drawingml/2006/main">
            <a:r>
              <a:t>O chat pode sugerir um nome plausível sem ter consultado a plataforma ou ouvido o áudio.</a:t>
            </a:r>
          </a:p>
          <a:p xmlns:a="http://schemas.openxmlformats.org/drawingml/2006/main">
            <a:r>
              <a:t/>
            </a:r>
          </a:p>
          <a:p xmlns:a="http://schemas.openxmlformats.org/drawingml/2006/main">
            <a:r>
              <a:t>Para verificar tendências atuais e condições de uso, consulte a plataforma e suas informações oficiais. Aqui, você pode pedir critérios para escolher uma trilha a partir do objetivo do vídeo, sem fingir que o chat pesquisou.</a:t>
            </a:r>
          </a:p>
          <a:p xmlns:a="http://schemas.openxmlformats.org/drawingml/2006/main">
            <a:r>
              <a:t/>
            </a:r>
          </a:p>
          <a:p xmlns:a="http://schemas.openxmlformats.org/drawingml/2006/main">
            <a:r>
              <a:t>REFLEXÃO: Se a resposta trouxer um link, isso prova que a IA consultou aquela página?</a:t>
            </a:r>
          </a:p>
          <a:p xmlns:a="http://schemas.openxmlformats.org/drawingml/2006/main">
            <a:r>
              <a:t/>
            </a:r>
          </a:p>
          <a:p xmlns:a="http://schemas.openxmlformats.org/drawingml/2006/main">
            <a:r>
              <a:t>Não. Um endereço escrito na resposta não comprova acesso à página e pode até estar incorreto. Neste chat, não há pesquisa na web; abra a fonte por conta própria e confira se ela sustenta a informação.</a:t>
            </a:r>
          </a:p>
          <a:p xmlns:a="http://schemas.openxmlformats.org/drawingml/2006/main">
            <a:r>
              <a:t/>
            </a:r>
          </a:p>
          <a:p xmlns:a="http://schemas.openxmlformats.org/drawingml/2006/main">
            <a:r>
              <a:t>IDEIA PRINCIPAL: Entender o que a ferramenta faz também significa reconhecer o que ela não fez.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Uma resposta pode ser clara, simpática e errada. A aparência de certeza não é uma prova. Aprender a usar IA inclui aprender a interromper a leitura e perguntar: ‘Como eu sei que isso faz sentido?’</a:t>
            </a:r>
          </a:p>
          <a:p xmlns:a="http://schemas.openxmlformats.org/drawingml/2006/main">
            <a:r>
              <a:t/>
            </a:r>
          </a:p>
          <a:p xmlns:a="http://schemas.openxmlformats.org/drawingml/2006/main">
            <a:r>
              <a:t>Há pelo menos três avaliações diferentes. Correção: os fatos e cálculos estão certos? Adequação: a proposta serve ao seu objetivo? Viabilidade: dá para executar com seu tempo e seus recursos? Um roteiro pode exigir uma cena que você não tem; uma resposta ao cliente pode estar correta e soar formal demais.</a:t>
            </a:r>
          </a:p>
          <a:p xmlns:a="http://schemas.openxmlformats.org/drawingml/2006/main">
            <a:r>
              <a:t/>
            </a:r>
          </a:p>
          <a:p xmlns:a="http://schemas.openxmlformats.org/drawingml/2006/main">
            <a:r>
              <a:t>Também avalie o que você compartilha. Nos exercícios, use situações inventadas ou informações públicas. Não envie senhas, documentos pessoais ou detalhes confidenciais. Para aprender, um nome fictício e uma descrição simplificada costumam bastar. Quanto maior a consequência de um erro, mais cuidado e verificação independente são necessários.</a:t>
            </a:r>
          </a:p>
          <a:p xmlns:a="http://schemas.openxmlformats.org/drawingml/2006/main">
            <a:r>
              <a:t/>
            </a:r>
          </a:p>
          <a:p xmlns:a="http://schemas.openxmlformats.org/drawingml/2006/main">
            <a:r>
              <a:t>Passar em uma pergunta não significa passar nas outras. Use as três como filtros, não como uma pontuação automática.</a:t>
            </a:r>
          </a:p>
          <a:p xmlns:a="http://schemas.openxmlformats.org/drawingml/2006/main">
            <a:r>
              <a:t/>
            </a:r>
          </a:p>
          <a:p xmlns:a="http://schemas.openxmlformats.org/drawingml/2006/main">
            <a:r>
              <a:t>EXEMPLO FICTÍCIO: Bonito no papel, impossível no prazo</a:t>
            </a:r>
          </a:p>
          <a:p xmlns:a="http://schemas.openxmlformats.org/drawingml/2006/main">
            <a:r>
              <a:t/>
            </a:r>
          </a:p>
          <a:p xmlns:a="http://schemas.openxmlformats.org/drawingml/2006/main">
            <a:r>
              <a:t>Um roteiro para uma papelaria fictícia pede locução, nova gravação externa e animação. A editora só tem três tomadas do produto e 30 minutos para montar uma primeira versão.</a:t>
            </a:r>
          </a:p>
          <a:p xmlns:a="http://schemas.openxmlformats.org/drawingml/2006/main">
            <a:r>
              <a:t/>
            </a:r>
          </a:p>
          <a:p xmlns:a="http://schemas.openxmlformats.org/drawingml/2006/main">
            <a:r>
              <a:t>‘Use apenas as três tomadas descritas. Retire locução e animação. Proponha uma sequência simples para eu testar no editor.’</a:t>
            </a:r>
          </a:p>
          <a:p xmlns:a="http://schemas.openxmlformats.org/drawingml/2006/main">
            <a:r>
              <a:t/>
            </a:r>
          </a:p>
          <a:p xmlns:a="http://schemas.openxmlformats.org/drawingml/2006/main">
            <a:r>
              <a:t>O problema era uma condição ignorada. A IA pode revisar o plano em texto, mas não edita nem vê o vídeo neste chat. A editora ainda precisa montar a sequência e verificar se ela cabe no prazo.</a:t>
            </a:r>
          </a:p>
          <a:p xmlns:a="http://schemas.openxmlformats.org/drawingml/2006/main">
            <a:r>
              <a:t/>
            </a:r>
          </a:p>
          <a:p xmlns:a="http://schemas.openxmlformats.org/drawingml/2006/main">
            <a:r>
              <a:t>REFLEXÃO: A IA disse que revisou a própria resposta. Posso pular a conferência?</a:t>
            </a:r>
          </a:p>
          <a:p xmlns:a="http://schemas.openxmlformats.org/drawingml/2006/main">
            <a:r>
              <a:t/>
            </a:r>
          </a:p>
          <a:p xmlns:a="http://schemas.openxmlformats.org/drawingml/2006/main">
            <a:r>
              <a:t>Não. A autorrevisão pode apontar problemas, mas não é uma validação independente. Refaça uma conta com calculadora ou confira um fato na fonte correspondente antes de depender dele.</a:t>
            </a:r>
          </a:p>
          <a:p xmlns:a="http://schemas.openxmlformats.org/drawingml/2006/main">
            <a:r>
              <a:t/>
            </a:r>
          </a:p>
          <a:p xmlns:a="http://schemas.openxmlformats.org/drawingml/2006/main">
            <a:r>
              <a:t>IDEIA PRINCIPAL: Seu julgamento faz parte do processo — não é um detalhe depois da resposta.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Conversar com IA não exige uma linguagem secreta. Comece dizendo o que quer fazer, acrescente uma condição importante e convide o sistema a perguntar sobre o que falta. Depois, responda com o que realmente ajuda na tarefa.</a:t>
            </a:r>
          </a:p>
          <a:p xmlns:a="http://schemas.openxmlformats.org/drawingml/2006/main">
            <a:r>
              <a:t/>
            </a:r>
          </a:p>
          <a:p xmlns:a="http://schemas.openxmlformats.org/drawingml/2006/main">
            <a:r>
              <a:t>Um pedido muito aberto deixa mais espaço para suposições. ‘Faça conteúdo para minha loja’ não revela o produto, o público ou a entrega. Você não precisa escrever uma biografia: ‘Quero apresentar um caderno artesanal para quem gosta de desenhar, em um post curto’ já orienta melhor a conversa.</a:t>
            </a:r>
          </a:p>
          <a:p xmlns:a="http://schemas.openxmlformats.org/drawingml/2006/main">
            <a:r>
              <a:t/>
            </a:r>
          </a:p>
          <a:p xmlns:a="http://schemas.openxmlformats.org/drawingml/2006/main">
            <a:r>
              <a:t>A conversa pode avançar em pequenas trocas. Se o modelo fizer muitas perguntas de uma vez, peça apenas a mais importante. Se propuser uma solução cedo demais, diga o que ainda falta saber. Você pode conduzir o ritmo sem encontrar uma fórmula perfeita antes de começar.</a:t>
            </a:r>
          </a:p>
          <a:p xmlns:a="http://schemas.openxmlformats.org/drawingml/2006/main">
            <a:r>
              <a:t/>
            </a:r>
          </a:p>
          <a:p xmlns:a="http://schemas.openxmlformats.org/drawingml/2006/main">
            <a:r>
              <a:t>O ciclo pode se repetir, mas você também pode encerrar quando já tiver algo útil ou quando o teste não estiver ajudando.</a:t>
            </a:r>
          </a:p>
          <a:p xmlns:a="http://schemas.openxmlformats.org/drawingml/2006/main">
            <a:r>
              <a:t/>
            </a:r>
          </a:p>
          <a:p xmlns:a="http://schemas.openxmlformats.org/drawingml/2006/main">
            <a:r>
              <a:t>EXEMPLO FICTÍCIO: A pergunta que muda o texto</a:t>
            </a:r>
          </a:p>
          <a:p xmlns:a="http://schemas.openxmlformats.org/drawingml/2006/main">
            <a:r>
              <a:t/>
            </a:r>
          </a:p>
          <a:p xmlns:a="http://schemas.openxmlformats.org/drawingml/2006/main">
            <a:r>
              <a:t>Você pede um post para uma papelaria fictícia. A IA pergunta quais características do produto pode mencionar.</a:t>
            </a:r>
          </a:p>
          <a:p xmlns:a="http://schemas.openxmlformats.org/drawingml/2006/main">
            <a:r>
              <a:t/>
            </a:r>
          </a:p>
          <a:p xmlns:a="http://schemas.openxmlformats.org/drawingml/2006/main">
            <a:r>
              <a:t>‘O caderno tem capa lisa e 80 folhas sem pauta. Quero duas frases para quem desenha. Não temos desconto nem informação sobre resistência à água.’</a:t>
            </a:r>
          </a:p>
          <a:p xmlns:a="http://schemas.openxmlformats.org/drawingml/2006/main">
            <a:r>
              <a:t/>
            </a:r>
          </a:p>
          <a:p xmlns:a="http://schemas.openxmlformats.org/drawingml/2006/main">
            <a:r>
              <a:t>Agora você pode comparar a legenda com uma ficha simples. Uma boa continuação é conferir se o texto inventou benefícios, condições de venda ou materiais que você não informou.</a:t>
            </a:r>
          </a:p>
          <a:p xmlns:a="http://schemas.openxmlformats.org/drawingml/2006/main">
            <a:r>
              <a:t/>
            </a:r>
          </a:p>
          <a:p xmlns:a="http://schemas.openxmlformats.org/drawingml/2006/main">
            <a:r>
              <a:t>PEDIDO PARA ADAPTAR: Quero escrever um post curto para uma papelaria fictícia apresentar um caderno a pessoas que gostam de desenhar. Antes de sugerir o texto, faça uma pergunta sobre a informação mais importante que está faltando. Não invente características do produto ou ofertas.</a:t>
            </a:r>
          </a:p>
          <a:p xmlns:a="http://schemas.openxmlformats.org/drawingml/2006/main">
            <a:r>
              <a:t/>
            </a:r>
          </a:p>
          <a:p xmlns:a="http://schemas.openxmlformats.org/drawingml/2006/main">
            <a:r>
              <a:t>REFLEXÃO: A primeira resposta não combina com o seu trabalho. Você precisa abrir outra conversa?</a:t>
            </a:r>
          </a:p>
          <a:p xmlns:a="http://schemas.openxmlformats.org/drawingml/2006/main">
            <a:r>
              <a:t/>
            </a:r>
          </a:p>
          <a:p xmlns:a="http://schemas.openxmlformats.org/drawingml/2006/main">
            <a:r>
              <a:t>Nem sempre. Na mesma conversa, indique o desencontro: ‘Você inventou um desconto. Retire a oferta e mantenha apenas capa lisa e 80 folhas sem pauta.’ Reapresente a condição importante e confira a nova versão.</a:t>
            </a:r>
          </a:p>
          <a:p xmlns:a="http://schemas.openxmlformats.org/drawingml/2006/main">
            <a:r>
              <a:t/>
            </a:r>
          </a:p>
          <a:p xmlns:a="http://schemas.openxmlformats.org/drawingml/2006/main">
            <a:r>
              <a:t>IDEIA PRINCIPAL: Você pode começar com poucas palavras e construir clareza durante a conversa.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Antes de seguir, transforme sua curiosidade em uma pergunta que possa acompanhar você nas próximas aulas. Ela não precisa ser definitiva. Precisa apenas apontar para algo pequeno o bastante para experimentar agora.</a:t>
            </a:r>
          </a:p>
          <a:p xmlns:a="http://schemas.openxmlformats.org/drawingml/2006/main">
            <a:r>
              <a:t/>
            </a:r>
          </a:p>
          <a:p xmlns:a="http://schemas.openxmlformats.org/drawingml/2006/main">
            <a:r>
              <a:t>Complete ‘Eu gostaria de ter ajuda para…’ com uma ação: escrever, comparar, resumir, planejar ou entender. Em seguida, reduza o tamanho da entrega. ‘Melhorar meu conteúdo’ é uma direção; ‘escrever três aberturas para um vídeo a partir deste resumo’ é um primeiro teste que você consegue revisar.</a:t>
            </a:r>
          </a:p>
          <a:p xmlns:a="http://schemas.openxmlformats.org/drawingml/2006/main">
            <a:r>
              <a:t/>
            </a:r>
          </a:p>
          <a:p xmlns:a="http://schemas.openxmlformats.org/drawingml/2006/main">
            <a:r>
              <a:t>Acrescente uma forma de reconhecer utilidade. Talvez você queira uma explicação que consiga recontar com suas palavras, três opções que caibam no seu tempo ou uma mensagem sem uma expressão que você jamais usaria. Esse critério torna sua próxima conversa mais intencional.</a:t>
            </a:r>
          </a:p>
          <a:p xmlns:a="http://schemas.openxmlformats.org/drawingml/2006/main">
            <a:r>
              <a:t/>
            </a:r>
          </a:p>
          <a:p xmlns:a="http://schemas.openxmlformats.org/drawingml/2006/main">
            <a:r>
              <a:t>Reduzir o escopo não reduz a importância da sua ideia. Dá a ela um ponto de entrada.</a:t>
            </a:r>
          </a:p>
          <a:p xmlns:a="http://schemas.openxmlformats.org/drawingml/2006/main">
            <a:r>
              <a:t/>
            </a:r>
          </a:p>
          <a:p xmlns:a="http://schemas.openxmlformats.org/drawingml/2006/main">
            <a:r>
              <a:t>EXEMPLO FICTÍCIO: Uma pergunta pronta para sair do papel</a:t>
            </a:r>
          </a:p>
          <a:p xmlns:a="http://schemas.openxmlformats.org/drawingml/2006/main">
            <a:r>
              <a:t/>
            </a:r>
          </a:p>
          <a:p xmlns:a="http://schemas.openxmlformats.org/drawingml/2006/main">
            <a:r>
              <a:t>‘Eu gostaria de ter ajuda para esclarecer um pedido de edição.’</a:t>
            </a:r>
          </a:p>
          <a:p xmlns:a="http://schemas.openxmlformats.org/drawingml/2006/main">
            <a:r>
              <a:t/>
            </a:r>
          </a:p>
          <a:p xmlns:a="http://schemas.openxmlformats.org/drawingml/2006/main">
            <a:r>
              <a:t>‘Neste briefing fictício, o cliente só pediu um vídeo mais dinâmico. Sugira três perguntas para esclarecer ritmo, público e duração antes de editar.’</a:t>
            </a:r>
          </a:p>
          <a:p xmlns:a="http://schemas.openxmlformats.org/drawingml/2006/main">
            <a:r>
              <a:t/>
            </a:r>
          </a:p>
          <a:p xmlns:a="http://schemas.openxmlformats.org/drawingml/2006/main">
            <a:r>
              <a:t>O pedido delimita uma entrega e uma qualidade desejada. A editora fornece o briefing, isto é, a descrição do trabalho. O chat ajuda a formular perguntas, sem transformar um pedido vago em decisões já aprovadas.</a:t>
            </a:r>
          </a:p>
          <a:p xmlns:a="http://schemas.openxmlformats.org/drawingml/2006/main">
            <a:r>
              <a:t/>
            </a:r>
          </a:p>
          <a:p xmlns:a="http://schemas.openxmlformats.org/drawingml/2006/main">
            <a:r>
              <a:t>REFLEXÃO: Você ainda não encontrou uma ideia sua. Dá para começar mesmo assim?</a:t>
            </a:r>
          </a:p>
          <a:p xmlns:a="http://schemas.openxmlformats.org/drawingml/2006/main">
            <a:r>
              <a:t/>
            </a:r>
          </a:p>
          <a:p xmlns:a="http://schemas.openxmlformats.org/drawingml/2006/main">
            <a:r>
              <a:t>Sim. Use a papelaria fictícia ou invente um cliente. Ao testar, observe o que desperta interesse ou incomoda você. Uma pergunta própria pode aparecer depois da primeira experiência, não necessariamente antes dela.</a:t>
            </a:r>
          </a:p>
          <a:p xmlns:a="http://schemas.openxmlformats.org/drawingml/2006/main">
            <a:r>
              <a:t/>
            </a:r>
          </a:p>
          <a:p xmlns:a="http://schemas.openxmlformats.org/drawingml/2006/main">
            <a:r>
              <a:t>IDEIA PRINCIPAL: Sua primeira pergunta é um ponto de partida, não um compromisso para sempre.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ae98e0d8944cd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d1a034c7f3544e4" /><Relationship Type="http://schemas.openxmlformats.org/officeDocument/2006/relationships/slideLayout" Target="/ppt/slideLayouts/slideLayout1.xml" Id="R02597b603c304b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597b603c304b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089e75534874e52" /><Relationship Type="http://schemas.openxmlformats.org/officeDocument/2006/relationships/notesSlide" Target="/ppt/notesSlides/notesSlide1.xml" Id="R1bfeb3fcd3544f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bdc8ea91a3146af" /><Relationship Type="http://schemas.openxmlformats.org/officeDocument/2006/relationships/notesSlide" Target="/ppt/notesSlides/notesSlide2.xml" Id="R61c459e793ae45b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9a4003e12734109" /><Relationship Type="http://schemas.openxmlformats.org/officeDocument/2006/relationships/notesSlide" Target="/ppt/notesSlides/notesSlide3.xml" Id="R8914d14aa38443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86ccc68903e439e" /><Relationship Type="http://schemas.openxmlformats.org/officeDocument/2006/relationships/notesSlide" Target="/ppt/notesSlides/notesSlide4.xml" Id="R8196f0d8136446b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10632c318a14bfa" /><Relationship Type="http://schemas.openxmlformats.org/officeDocument/2006/relationships/notesSlide" Target="/ppt/notesSlides/notesSlide5.xml" Id="Rec20faa811644427" /></Relationships>
</file>

<file path=ppt/slides/slide1.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5281E4E-EFC9-44DD-B383-FBA639A3E143}"/>
              </a:ext>
            </a:extLst>
          </p:cNvPr>
          <p:cNvSpPr>
            <a:spLocks xmlns:a="http://schemas.openxmlformats.org/drawingml/2006/main" noGrp="1"/>
          </p:cNvSpPr>
          <p:nvPr/>
        </p:nvSpPr>
        <p:spPr>
          <a:xfrm xmlns:a="http://schemas.openxmlformats.org/drawingml/2006/main">
            <a:off x="666750" y="523875"/>
            <a:ext cx="1381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0">
                <a:solidFill>
                  <a:srgbClr val="F6F3F5"/>
                </a:solidFill>
                <a:latin typeface="Arial"/>
                <a:ea typeface="Arial"/>
                <a:cs typeface="Arial"/>
              </a:defRPr>
            </a:pPr>
            <a:r>
              <a:rPr sz="3450" b="0">
                <a:solidFill>
                  <a:srgbClr val="F6F3F5"/>
                </a:solidFill>
                <a:latin typeface="Arial"/>
                <a:ea typeface="Arial"/>
                <a:cs typeface="Arial"/>
              </a:rPr>
              <a:t>Seu primeiro passo com IA</a:t>
            </a:r>
          </a:p>
        </p:txBody>
      </p:sp>
      <p:sp>
        <p:nvSpPr>
          <p:cNvPr id="2" name="">
            <a:extLst xmlns:a="http://schemas.openxmlformats.org/drawingml/2006/main">
              <a:ext uri="{FF2B5EF4-FFF2-40B4-BE49-F238E27FC236}">
                <a16:creationId xmlns:a16="http://schemas.microsoft.com/office/drawing/2014/main" id="{FF9207E6-2290-4805-9B51-145F99E56E08}"/>
              </a:ext>
            </a:extLst>
          </p:cNvPr>
          <p:cNvSpPr>
            <a:spLocks xmlns:a="http://schemas.openxmlformats.org/drawingml/2006/main" noGrp="1"/>
          </p:cNvSpPr>
          <p:nvPr/>
        </p:nvSpPr>
        <p:spPr>
          <a:xfrm xmlns:a="http://schemas.openxmlformats.org/drawingml/2006/main">
            <a:off x="666750" y="1762125"/>
            <a:ext cx="13620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D6CFD4"/>
                </a:solidFill>
                <a:latin typeface="Arial"/>
                <a:ea typeface="Arial"/>
                <a:cs typeface="Arial"/>
              </a:defRPr>
            </a:pPr>
            <a:r>
              <a:rPr sz="2025" b="0">
                <a:solidFill>
                  <a:srgbClr val="D6CFD4"/>
                </a:solidFill>
                <a:latin typeface="Arial"/>
                <a:ea typeface="Arial"/>
                <a:cs typeface="Arial"/>
              </a:rPr>
              <a:t>Você não precisa chegar aqui com uma grande ideia. Uma pequena dificuldade do trabalho já é um começo: abrir um vídeo, organizar um pedido de edição ou encontrar palavras para apresentar seu produto.</a:t>
            </a:r>
          </a:p>
        </p:txBody>
      </p:sp>
      <p:sp>
        <p:nvSpPr>
          <p:cNvPr id="3" name="">
            <a:extLst xmlns:a="http://schemas.openxmlformats.org/drawingml/2006/main">
              <a:ext uri="{FF2B5EF4-FFF2-40B4-BE49-F238E27FC236}">
                <a16:creationId xmlns:a16="http://schemas.microsoft.com/office/drawing/2014/main" id="{FE72BB98-E59E-4C35-A9F3-4E9C607F75F7}"/>
              </a:ext>
            </a:extLst>
          </p:cNvPr>
          <p:cNvSpPr>
            <a:spLocks xmlns:a="http://schemas.openxmlformats.org/drawingml/2006/main" noGrp="1"/>
          </p:cNvSpPr>
          <p:nvPr/>
        </p:nvSpPr>
        <p:spPr>
          <a:xfrm xmlns:a="http://schemas.openxmlformats.org/drawingml/2006/main">
            <a:off x="666750" y="3238500"/>
            <a:ext cx="1381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E7B5D4"/>
                </a:solidFill>
                <a:latin typeface="Arial"/>
                <a:ea typeface="Arial"/>
                <a:cs typeface="Arial"/>
              </a:defRPr>
            </a:pPr>
            <a:r>
              <a:rPr sz="2175" b="0">
                <a:solidFill>
                  <a:srgbClr val="E7B5D4"/>
                </a:solidFill>
                <a:latin typeface="Arial"/>
                <a:ea typeface="Arial"/>
                <a:cs typeface="Arial"/>
              </a:rPr>
              <a:t>Uma curiosidade pode virar uma experiência</a:t>
            </a:r>
          </a:p>
        </p:txBody>
      </p:sp>
      <p:sp>
        <p:nvSpPr>
          <p:cNvPr id="4" name="">
            <a:extLst xmlns:a="http://schemas.openxmlformats.org/drawingml/2006/main">
              <a:ext uri="{FF2B5EF4-FFF2-40B4-BE49-F238E27FC236}">
                <a16:creationId xmlns:a16="http://schemas.microsoft.com/office/drawing/2014/main" id="{1793D409-639F-49D4-95EE-290939EA5B09}"/>
              </a:ext>
            </a:extLst>
          </p:cNvPr>
          <p:cNvSpPr>
            <a:spLocks xmlns:a="http://schemas.openxmlformats.org/drawingml/2006/main" noGrp="1"/>
          </p:cNvSpPr>
          <p:nvPr/>
        </p:nvSpPr>
        <p:spPr>
          <a:xfrm xmlns:a="http://schemas.openxmlformats.org/drawingml/2006/main">
            <a:off x="6667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E7B5D4"/>
                </a:solidFill>
                <a:latin typeface="Arial"/>
                <a:ea typeface="Arial"/>
                <a:cs typeface="Arial"/>
              </a:defRPr>
            </a:pPr>
            <a:r>
              <a:rPr sz="1650" b="0">
                <a:solidFill>
                  <a:srgbClr val="E7B5D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78539973-27CE-4819-A5DD-ED8FA7916D5B}"/>
              </a:ext>
            </a:extLst>
          </p:cNvPr>
          <p:cNvSpPr>
            <a:spLocks xmlns:a="http://schemas.openxmlformats.org/drawingml/2006/main" noGrp="1"/>
          </p:cNvSpPr>
          <p:nvPr/>
        </p:nvSpPr>
        <p:spPr>
          <a:xfrm xmlns:a="http://schemas.openxmlformats.org/drawingml/2006/main">
            <a:off x="6667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6F3F5"/>
                </a:solidFill>
                <a:latin typeface="Arial"/>
                <a:ea typeface="Arial"/>
                <a:cs typeface="Arial"/>
              </a:defRPr>
            </a:pPr>
            <a:r>
              <a:rPr sz="1950" b="1">
                <a:solidFill>
                  <a:srgbClr val="F6F3F5"/>
                </a:solidFill>
                <a:latin typeface="Arial"/>
                <a:ea typeface="Arial"/>
                <a:cs typeface="Arial"/>
              </a:rPr>
              <a:t>Perceber</a:t>
            </a:r>
          </a:p>
        </p:txBody>
      </p:sp>
      <p:sp>
        <p:nvSpPr>
          <p:cNvPr id="6" name="">
            <a:extLst xmlns:a="http://schemas.openxmlformats.org/drawingml/2006/main">
              <a:ext uri="{FF2B5EF4-FFF2-40B4-BE49-F238E27FC236}">
                <a16:creationId xmlns:a16="http://schemas.microsoft.com/office/drawing/2014/main" id="{7732535E-4333-4A7F-98F3-1FB16E87D221}"/>
              </a:ext>
            </a:extLst>
          </p:cNvPr>
          <p:cNvSpPr>
            <a:spLocks xmlns:a="http://schemas.openxmlformats.org/drawingml/2006/main" noGrp="1"/>
          </p:cNvSpPr>
          <p:nvPr/>
        </p:nvSpPr>
        <p:spPr>
          <a:xfrm xmlns:a="http://schemas.openxmlformats.org/drawingml/2006/main">
            <a:off x="6667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6CFD4"/>
                </a:solidFill>
                <a:latin typeface="Arial"/>
                <a:ea typeface="Arial"/>
                <a:cs typeface="Arial"/>
              </a:defRPr>
            </a:pPr>
            <a:r>
              <a:rPr sz="1725" b="0">
                <a:solidFill>
                  <a:srgbClr val="D6CFD4"/>
                </a:solidFill>
                <a:latin typeface="Arial"/>
                <a:ea typeface="Arial"/>
                <a:cs typeface="Arial"/>
              </a:rPr>
              <a:t>Que parte do meu dia merece uma ajuda?</a:t>
            </a:r>
          </a:p>
        </p:txBody>
      </p:sp>
      <p:sp>
        <p:nvSpPr>
          <p:cNvPr id="7" name="">
            <a:extLst xmlns:a="http://schemas.openxmlformats.org/drawingml/2006/main">
              <a:ext uri="{FF2B5EF4-FFF2-40B4-BE49-F238E27FC236}">
                <a16:creationId xmlns:a16="http://schemas.microsoft.com/office/drawing/2014/main" id="{F4981177-6CAE-4A0C-B958-565C71BFB505}"/>
              </a:ext>
            </a:extLst>
          </p:cNvPr>
          <p:cNvSpPr>
            <a:spLocks xmlns:a="http://schemas.openxmlformats.org/drawingml/2006/main" noGrp="1"/>
          </p:cNvSpPr>
          <p:nvPr/>
        </p:nvSpPr>
        <p:spPr>
          <a:xfrm xmlns:a="http://schemas.openxmlformats.org/drawingml/2006/main">
            <a:off x="5111750"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80CC52D-64A4-4958-81EF-B666CF841ABC}"/>
              </a:ext>
            </a:extLst>
          </p:cNvPr>
          <p:cNvSpPr>
            <a:spLocks xmlns:a="http://schemas.openxmlformats.org/drawingml/2006/main" noGrp="1"/>
          </p:cNvSpPr>
          <p:nvPr/>
        </p:nvSpPr>
        <p:spPr>
          <a:xfrm xmlns:a="http://schemas.openxmlformats.org/drawingml/2006/main">
            <a:off x="543560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E7B5D4"/>
                </a:solidFill>
                <a:latin typeface="Arial"/>
                <a:ea typeface="Arial"/>
                <a:cs typeface="Arial"/>
              </a:defRPr>
            </a:pPr>
            <a:r>
              <a:rPr sz="1650" b="0">
                <a:solidFill>
                  <a:srgbClr val="E7B5D4"/>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840FF5DC-39D7-407A-9370-5C605841B713}"/>
              </a:ext>
            </a:extLst>
          </p:cNvPr>
          <p:cNvSpPr>
            <a:spLocks xmlns:a="http://schemas.openxmlformats.org/drawingml/2006/main" noGrp="1"/>
          </p:cNvSpPr>
          <p:nvPr/>
        </p:nvSpPr>
        <p:spPr>
          <a:xfrm xmlns:a="http://schemas.openxmlformats.org/drawingml/2006/main">
            <a:off x="543560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6F3F5"/>
                </a:solidFill>
                <a:latin typeface="Arial"/>
                <a:ea typeface="Arial"/>
                <a:cs typeface="Arial"/>
              </a:defRPr>
            </a:pPr>
            <a:r>
              <a:rPr sz="1950" b="1">
                <a:solidFill>
                  <a:srgbClr val="F6F3F5"/>
                </a:solidFill>
                <a:latin typeface="Arial"/>
                <a:ea typeface="Arial"/>
                <a:cs typeface="Arial"/>
              </a:rPr>
              <a:t>Experimentar</a:t>
            </a:r>
          </a:p>
        </p:txBody>
      </p:sp>
      <p:sp>
        <p:nvSpPr>
          <p:cNvPr id="10" name="">
            <a:extLst xmlns:a="http://schemas.openxmlformats.org/drawingml/2006/main">
              <a:ext uri="{FF2B5EF4-FFF2-40B4-BE49-F238E27FC236}">
                <a16:creationId xmlns:a16="http://schemas.microsoft.com/office/drawing/2014/main" id="{B23728D5-462D-4C86-BC9F-C3777557EB57}"/>
              </a:ext>
            </a:extLst>
          </p:cNvPr>
          <p:cNvSpPr>
            <a:spLocks xmlns:a="http://schemas.openxmlformats.org/drawingml/2006/main" noGrp="1"/>
          </p:cNvSpPr>
          <p:nvPr/>
        </p:nvSpPr>
        <p:spPr>
          <a:xfrm xmlns:a="http://schemas.openxmlformats.org/drawingml/2006/main">
            <a:off x="543560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6CFD4"/>
                </a:solidFill>
                <a:latin typeface="Arial"/>
                <a:ea typeface="Arial"/>
                <a:cs typeface="Arial"/>
              </a:defRPr>
            </a:pPr>
            <a:r>
              <a:rPr sz="1725" b="0">
                <a:solidFill>
                  <a:srgbClr val="D6CFD4"/>
                </a:solidFill>
                <a:latin typeface="Arial"/>
                <a:ea typeface="Arial"/>
                <a:cs typeface="Arial"/>
              </a:rPr>
              <a:t>Peço uma entrega pequena, com dados fictícios.</a:t>
            </a:r>
          </a:p>
        </p:txBody>
      </p:sp>
      <p:sp>
        <p:nvSpPr>
          <p:cNvPr id="11" name="">
            <a:extLst xmlns:a="http://schemas.openxmlformats.org/drawingml/2006/main">
              <a:ext uri="{FF2B5EF4-FFF2-40B4-BE49-F238E27FC236}">
                <a16:creationId xmlns:a16="http://schemas.microsoft.com/office/drawing/2014/main" id="{178F26F5-A188-4C41-B30C-C520FCAF68BC}"/>
              </a:ext>
            </a:extLst>
          </p:cNvPr>
          <p:cNvSpPr>
            <a:spLocks xmlns:a="http://schemas.openxmlformats.org/drawingml/2006/main" noGrp="1"/>
          </p:cNvSpPr>
          <p:nvPr/>
        </p:nvSpPr>
        <p:spPr>
          <a:xfrm xmlns:a="http://schemas.openxmlformats.org/drawingml/2006/main">
            <a:off x="9880600"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88EDEC4-15FB-44F5-A661-832F6F12CECF}"/>
              </a:ext>
            </a:extLst>
          </p:cNvPr>
          <p:cNvSpPr>
            <a:spLocks xmlns:a="http://schemas.openxmlformats.org/drawingml/2006/main" noGrp="1"/>
          </p:cNvSpPr>
          <p:nvPr/>
        </p:nvSpPr>
        <p:spPr>
          <a:xfrm xmlns:a="http://schemas.openxmlformats.org/drawingml/2006/main">
            <a:off x="102044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E7B5D4"/>
                </a:solidFill>
                <a:latin typeface="Arial"/>
                <a:ea typeface="Arial"/>
                <a:cs typeface="Arial"/>
              </a:defRPr>
            </a:pPr>
            <a:r>
              <a:rPr sz="1650" b="0">
                <a:solidFill>
                  <a:srgbClr val="E7B5D4"/>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BF03719E-D5EE-4A42-ADAC-37236EAA0C67}"/>
              </a:ext>
            </a:extLst>
          </p:cNvPr>
          <p:cNvSpPr>
            <a:spLocks xmlns:a="http://schemas.openxmlformats.org/drawingml/2006/main" noGrp="1"/>
          </p:cNvSpPr>
          <p:nvPr/>
        </p:nvSpPr>
        <p:spPr>
          <a:xfrm xmlns:a="http://schemas.openxmlformats.org/drawingml/2006/main">
            <a:off x="102044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6F3F5"/>
                </a:solidFill>
                <a:latin typeface="Arial"/>
                <a:ea typeface="Arial"/>
                <a:cs typeface="Arial"/>
              </a:defRPr>
            </a:pPr>
            <a:r>
              <a:rPr sz="1950" b="1">
                <a:solidFill>
                  <a:srgbClr val="F6F3F5"/>
                </a:solidFill>
                <a:latin typeface="Arial"/>
                <a:ea typeface="Arial"/>
                <a:cs typeface="Arial"/>
              </a:rPr>
              <a:t>Avaliar</a:t>
            </a:r>
          </a:p>
        </p:txBody>
      </p:sp>
      <p:sp>
        <p:nvSpPr>
          <p:cNvPr id="14" name="">
            <a:extLst xmlns:a="http://schemas.openxmlformats.org/drawingml/2006/main">
              <a:ext uri="{FF2B5EF4-FFF2-40B4-BE49-F238E27FC236}">
                <a16:creationId xmlns:a16="http://schemas.microsoft.com/office/drawing/2014/main" id="{E8759D1C-FDEB-4E27-B226-FFE1C85A5B94}"/>
              </a:ext>
            </a:extLst>
          </p:cNvPr>
          <p:cNvSpPr>
            <a:spLocks xmlns:a="http://schemas.openxmlformats.org/drawingml/2006/main" noGrp="1"/>
          </p:cNvSpPr>
          <p:nvPr/>
        </p:nvSpPr>
        <p:spPr>
          <a:xfrm xmlns:a="http://schemas.openxmlformats.org/drawingml/2006/main">
            <a:off x="102044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6CFD4"/>
                </a:solidFill>
                <a:latin typeface="Arial"/>
                <a:ea typeface="Arial"/>
                <a:cs typeface="Arial"/>
              </a:defRPr>
            </a:pPr>
            <a:r>
              <a:rPr sz="1725" b="0">
                <a:solidFill>
                  <a:srgbClr val="D6CFD4"/>
                </a:solidFill>
                <a:latin typeface="Arial"/>
                <a:ea typeface="Arial"/>
                <a:cs typeface="Arial"/>
              </a:rPr>
              <a:t>Vejo o que serviu e o que precisa mudar.</a:t>
            </a:r>
          </a:p>
        </p:txBody>
      </p:sp>
      <p:sp>
        <p:nvSpPr>
          <p:cNvPr id="15" name="">
            <a:extLst xmlns:a="http://schemas.openxmlformats.org/drawingml/2006/main">
              <a:ext uri="{FF2B5EF4-FFF2-40B4-BE49-F238E27FC236}">
                <a16:creationId xmlns:a16="http://schemas.microsoft.com/office/drawing/2014/main" id="{EC7D0963-7B5E-4FD4-ACB0-C9ACA5DBF6EB}"/>
              </a:ext>
            </a:extLst>
          </p:cNvPr>
          <p:cNvSpPr>
            <a:spLocks xmlns:a="http://schemas.openxmlformats.org/drawingml/2006/main" noGrp="1"/>
          </p:cNvSpPr>
          <p:nvPr/>
        </p:nvSpPr>
        <p:spPr>
          <a:xfrm xmlns:a="http://schemas.openxmlformats.org/drawingml/2006/main">
            <a:off x="666750" y="7239000"/>
            <a:ext cx="1381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BFCEB8"/>
                </a:solidFill>
                <a:latin typeface="Arial"/>
                <a:ea typeface="Arial"/>
                <a:cs typeface="Arial"/>
              </a:defRPr>
            </a:pPr>
            <a:r>
              <a:rPr sz="1950" b="0">
                <a:solidFill>
                  <a:srgbClr val="BFCEB8"/>
                </a:solidFill>
                <a:latin typeface="Arial"/>
                <a:ea typeface="Arial"/>
                <a:cs typeface="Arial"/>
              </a:rPr>
              <a:t>A sua curiosidade já é matéria-prima. Comece por algo que importa para você.</a:t>
            </a:r>
          </a:p>
        </p:txBody>
      </p:sp>
      <p:sp>
        <p:nvSpPr>
          <p:cNvPr id="16" name="">
            <a:extLst xmlns:a="http://schemas.openxmlformats.org/drawingml/2006/main">
              <a:ext uri="{FF2B5EF4-FFF2-40B4-BE49-F238E27FC236}">
                <a16:creationId xmlns:a16="http://schemas.microsoft.com/office/drawing/2014/main" id="{597156E4-180C-492B-A899-7C69B257ABC1}"/>
              </a:ext>
            </a:extLst>
          </p:cNvPr>
          <p:cNvSpPr>
            <a:spLocks xmlns:a="http://schemas.openxmlformats.org/drawingml/2006/main" noGrp="1"/>
          </p:cNvSpPr>
          <p:nvPr/>
        </p:nvSpPr>
        <p:spPr>
          <a:xfrm xmlns:a="http://schemas.openxmlformats.org/drawingml/2006/main">
            <a:off x="666750" y="8115300"/>
            <a:ext cx="1381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0ABB0"/>
                </a:solidFill>
                <a:latin typeface="Arial"/>
                <a:ea typeface="Arial"/>
                <a:cs typeface="Arial"/>
              </a:defRPr>
            </a:pPr>
            <a:r>
              <a:rPr sz="1275" b="0">
                <a:solidFill>
                  <a:srgbClr val="B0ABB0"/>
                </a:solidFill>
                <a:latin typeface="Arial"/>
                <a:ea typeface="Arial"/>
                <a:cs typeface="Arial"/>
              </a:rPr>
              <a:t>Emada Academy · Fundamentos · Aula 1 · 1/5</a:t>
            </a:r>
          </a:p>
        </p:txBody>
      </p:sp>
    </p:spTree>
    <p:extLst>
      <p:ext uri="{BB962C8B-B14F-4D97-AF65-F5344CB8AC3E}">
        <p14:creationId xmlns:p14="http://schemas.microsoft.com/office/powerpoint/2010/main" val="1606365840"/>
      </p:ext>
    </p:extLst>
  </p:cSld>
</p:sld>
</file>

<file path=ppt/slides/slide2.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B7884F9-4EBB-4D79-B51F-A0DEDBC294A4}"/>
              </a:ext>
            </a:extLst>
          </p:cNvPr>
          <p:cNvSpPr>
            <a:spLocks xmlns:a="http://schemas.openxmlformats.org/drawingml/2006/main" noGrp="1"/>
          </p:cNvSpPr>
          <p:nvPr/>
        </p:nvSpPr>
        <p:spPr>
          <a:xfrm xmlns:a="http://schemas.openxmlformats.org/drawingml/2006/main">
            <a:off x="666750" y="523875"/>
            <a:ext cx="1381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0">
                <a:solidFill>
                  <a:srgbClr val="F6F3F5"/>
                </a:solidFill>
                <a:latin typeface="Arial"/>
                <a:ea typeface="Arial"/>
                <a:cs typeface="Arial"/>
              </a:defRPr>
            </a:pPr>
            <a:r>
              <a:rPr sz="3450" b="0">
                <a:solidFill>
                  <a:srgbClr val="F6F3F5"/>
                </a:solidFill>
                <a:latin typeface="Arial"/>
                <a:ea typeface="Arial"/>
                <a:cs typeface="Arial"/>
              </a:rPr>
              <a:t>O que vamos usar aqui</a:t>
            </a:r>
          </a:p>
        </p:txBody>
      </p:sp>
      <p:sp>
        <p:nvSpPr>
          <p:cNvPr id="2" name="">
            <a:extLst xmlns:a="http://schemas.openxmlformats.org/drawingml/2006/main">
              <a:ext uri="{FF2B5EF4-FFF2-40B4-BE49-F238E27FC236}">
                <a16:creationId xmlns:a16="http://schemas.microsoft.com/office/drawing/2014/main" id="{2A194860-53AE-46C3-9B61-2CA087063171}"/>
              </a:ext>
            </a:extLst>
          </p:cNvPr>
          <p:cNvSpPr>
            <a:spLocks xmlns:a="http://schemas.openxmlformats.org/drawingml/2006/main" noGrp="1"/>
          </p:cNvSpPr>
          <p:nvPr/>
        </p:nvSpPr>
        <p:spPr>
          <a:xfrm xmlns:a="http://schemas.openxmlformats.org/drawingml/2006/main">
            <a:off x="666750" y="1762125"/>
            <a:ext cx="13620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D6CFD4"/>
                </a:solidFill>
                <a:latin typeface="Arial"/>
                <a:ea typeface="Arial"/>
                <a:cs typeface="Arial"/>
              </a:defRPr>
            </a:pPr>
            <a:r>
              <a:rPr sz="2025" b="0">
                <a:solidFill>
                  <a:srgbClr val="D6CFD4"/>
                </a:solidFill>
                <a:latin typeface="Arial"/>
                <a:ea typeface="Arial"/>
                <a:cs typeface="Arial"/>
              </a:rPr>
              <a:t>Inteligência artificial é um campo amplo. Neste curso, nosso ponto de partida é a IA generativa de texto: um sistema capaz de produzir respostas a partir das instruções e informações que recebe.</a:t>
            </a:r>
          </a:p>
        </p:txBody>
      </p:sp>
      <p:sp>
        <p:nvSpPr>
          <p:cNvPr id="3" name="">
            <a:extLst xmlns:a="http://schemas.openxmlformats.org/drawingml/2006/main">
              <a:ext uri="{FF2B5EF4-FFF2-40B4-BE49-F238E27FC236}">
                <a16:creationId xmlns:a16="http://schemas.microsoft.com/office/drawing/2014/main" id="{F9F2F66D-95ED-454E-A90B-919078903335}"/>
              </a:ext>
            </a:extLst>
          </p:cNvPr>
          <p:cNvSpPr>
            <a:spLocks xmlns:a="http://schemas.openxmlformats.org/drawingml/2006/main" noGrp="1"/>
          </p:cNvSpPr>
          <p:nvPr/>
        </p:nvSpPr>
        <p:spPr>
          <a:xfrm xmlns:a="http://schemas.openxmlformats.org/drawingml/2006/main">
            <a:off x="666750" y="3238500"/>
            <a:ext cx="1381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E7B5D4"/>
                </a:solidFill>
                <a:latin typeface="Arial"/>
                <a:ea typeface="Arial"/>
                <a:cs typeface="Arial"/>
              </a:defRPr>
            </a:pPr>
            <a:r>
              <a:rPr sz="2175" b="0">
                <a:solidFill>
                  <a:srgbClr val="E7B5D4"/>
                </a:solidFill>
                <a:latin typeface="Arial"/>
                <a:ea typeface="Arial"/>
                <a:cs typeface="Arial"/>
              </a:rPr>
              <a:t>O caminho de uma mensagem</a:t>
            </a:r>
          </a:p>
        </p:txBody>
      </p:sp>
      <p:sp>
        <p:nvSpPr>
          <p:cNvPr id="4" name="">
            <a:extLst xmlns:a="http://schemas.openxmlformats.org/drawingml/2006/main">
              <a:ext uri="{FF2B5EF4-FFF2-40B4-BE49-F238E27FC236}">
                <a16:creationId xmlns:a16="http://schemas.microsoft.com/office/drawing/2014/main" id="{36044A18-E15B-49D2-9E75-34F2343D2DBD}"/>
              </a:ext>
            </a:extLst>
          </p:cNvPr>
          <p:cNvSpPr>
            <a:spLocks xmlns:a="http://schemas.openxmlformats.org/drawingml/2006/main" noGrp="1"/>
          </p:cNvSpPr>
          <p:nvPr/>
        </p:nvSpPr>
        <p:spPr>
          <a:xfrm xmlns:a="http://schemas.openxmlformats.org/drawingml/2006/main">
            <a:off x="6667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E7B5D4"/>
                </a:solidFill>
                <a:latin typeface="Arial"/>
                <a:ea typeface="Arial"/>
                <a:cs typeface="Arial"/>
              </a:defRPr>
            </a:pPr>
            <a:r>
              <a:rPr sz="1650" b="0">
                <a:solidFill>
                  <a:srgbClr val="E7B5D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03EEBBAF-CB85-4C37-9C99-FB6317538363}"/>
              </a:ext>
            </a:extLst>
          </p:cNvPr>
          <p:cNvSpPr>
            <a:spLocks xmlns:a="http://schemas.openxmlformats.org/drawingml/2006/main" noGrp="1"/>
          </p:cNvSpPr>
          <p:nvPr/>
        </p:nvSpPr>
        <p:spPr>
          <a:xfrm xmlns:a="http://schemas.openxmlformats.org/drawingml/2006/main">
            <a:off x="6667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6F3F5"/>
                </a:solidFill>
                <a:latin typeface="Arial"/>
                <a:ea typeface="Arial"/>
                <a:cs typeface="Arial"/>
              </a:defRPr>
            </a:pPr>
            <a:r>
              <a:rPr sz="1950" b="1">
                <a:solidFill>
                  <a:srgbClr val="F6F3F5"/>
                </a:solidFill>
                <a:latin typeface="Arial"/>
                <a:ea typeface="Arial"/>
                <a:cs typeface="Arial"/>
              </a:rPr>
              <a:t>Seu pedido</a:t>
            </a:r>
          </a:p>
        </p:txBody>
      </p:sp>
      <p:sp>
        <p:nvSpPr>
          <p:cNvPr id="6" name="">
            <a:extLst xmlns:a="http://schemas.openxmlformats.org/drawingml/2006/main">
              <a:ext uri="{FF2B5EF4-FFF2-40B4-BE49-F238E27FC236}">
                <a16:creationId xmlns:a16="http://schemas.microsoft.com/office/drawing/2014/main" id="{35BE291F-E8E9-4C82-AEBD-81F587D90AC7}"/>
              </a:ext>
            </a:extLst>
          </p:cNvPr>
          <p:cNvSpPr>
            <a:spLocks xmlns:a="http://schemas.openxmlformats.org/drawingml/2006/main" noGrp="1"/>
          </p:cNvSpPr>
          <p:nvPr/>
        </p:nvSpPr>
        <p:spPr>
          <a:xfrm xmlns:a="http://schemas.openxmlformats.org/drawingml/2006/main">
            <a:off x="6667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6CFD4"/>
                </a:solidFill>
                <a:latin typeface="Arial"/>
                <a:ea typeface="Arial"/>
                <a:cs typeface="Arial"/>
              </a:defRPr>
            </a:pPr>
            <a:r>
              <a:rPr sz="1725" b="0">
                <a:solidFill>
                  <a:srgbClr val="D6CFD4"/>
                </a:solidFill>
                <a:latin typeface="Arial"/>
                <a:ea typeface="Arial"/>
                <a:cs typeface="Arial"/>
              </a:rPr>
              <a:t>Instruções, informações e uma tarefa.</a:t>
            </a:r>
          </a:p>
        </p:txBody>
      </p:sp>
      <p:sp>
        <p:nvSpPr>
          <p:cNvPr id="7" name="">
            <a:extLst xmlns:a="http://schemas.openxmlformats.org/drawingml/2006/main">
              <a:ext uri="{FF2B5EF4-FFF2-40B4-BE49-F238E27FC236}">
                <a16:creationId xmlns:a16="http://schemas.microsoft.com/office/drawing/2014/main" id="{5AD85DAC-11E9-4713-8AD6-DE74971432BA}"/>
              </a:ext>
            </a:extLst>
          </p:cNvPr>
          <p:cNvSpPr>
            <a:spLocks xmlns:a="http://schemas.openxmlformats.org/drawingml/2006/main" noGrp="1"/>
          </p:cNvSpPr>
          <p:nvPr/>
        </p:nvSpPr>
        <p:spPr>
          <a:xfrm xmlns:a="http://schemas.openxmlformats.org/drawingml/2006/main">
            <a:off x="5111750"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046D3E0-A57A-4F71-A010-97D3AA1BD6F0}"/>
              </a:ext>
            </a:extLst>
          </p:cNvPr>
          <p:cNvSpPr>
            <a:spLocks xmlns:a="http://schemas.openxmlformats.org/drawingml/2006/main" noGrp="1"/>
          </p:cNvSpPr>
          <p:nvPr/>
        </p:nvSpPr>
        <p:spPr>
          <a:xfrm xmlns:a="http://schemas.openxmlformats.org/drawingml/2006/main">
            <a:off x="543560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E7B5D4"/>
                </a:solidFill>
                <a:latin typeface="Arial"/>
                <a:ea typeface="Arial"/>
                <a:cs typeface="Arial"/>
              </a:defRPr>
            </a:pPr>
            <a:r>
              <a:rPr sz="1650" b="0">
                <a:solidFill>
                  <a:srgbClr val="E7B5D4"/>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B1C5D611-B4A9-4D28-8037-5E44132A33C3}"/>
              </a:ext>
            </a:extLst>
          </p:cNvPr>
          <p:cNvSpPr>
            <a:spLocks xmlns:a="http://schemas.openxmlformats.org/drawingml/2006/main" noGrp="1"/>
          </p:cNvSpPr>
          <p:nvPr/>
        </p:nvSpPr>
        <p:spPr>
          <a:xfrm xmlns:a="http://schemas.openxmlformats.org/drawingml/2006/main">
            <a:off x="543560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6F3F5"/>
                </a:solidFill>
                <a:latin typeface="Arial"/>
                <a:ea typeface="Arial"/>
                <a:cs typeface="Arial"/>
              </a:defRPr>
            </a:pPr>
            <a:r>
              <a:rPr sz="1950" b="1">
                <a:solidFill>
                  <a:srgbClr val="F6F3F5"/>
                </a:solidFill>
                <a:latin typeface="Arial"/>
                <a:ea typeface="Arial"/>
                <a:cs typeface="Arial"/>
              </a:rPr>
              <a:t>Modelo</a:t>
            </a:r>
          </a:p>
        </p:txBody>
      </p:sp>
      <p:sp>
        <p:nvSpPr>
          <p:cNvPr id="10" name="">
            <a:extLst xmlns:a="http://schemas.openxmlformats.org/drawingml/2006/main">
              <a:ext uri="{FF2B5EF4-FFF2-40B4-BE49-F238E27FC236}">
                <a16:creationId xmlns:a16="http://schemas.microsoft.com/office/drawing/2014/main" id="{737C9736-B483-4593-98F5-CEB12F6F9340}"/>
              </a:ext>
            </a:extLst>
          </p:cNvPr>
          <p:cNvSpPr>
            <a:spLocks xmlns:a="http://schemas.openxmlformats.org/drawingml/2006/main" noGrp="1"/>
          </p:cNvSpPr>
          <p:nvPr/>
        </p:nvSpPr>
        <p:spPr>
          <a:xfrm xmlns:a="http://schemas.openxmlformats.org/drawingml/2006/main">
            <a:off x="543560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6CFD4"/>
                </a:solidFill>
                <a:latin typeface="Arial"/>
                <a:ea typeface="Arial"/>
                <a:cs typeface="Arial"/>
              </a:defRPr>
            </a:pPr>
            <a:r>
              <a:rPr sz="1725" b="0">
                <a:solidFill>
                  <a:srgbClr val="D6CFD4"/>
                </a:solidFill>
                <a:latin typeface="Arial"/>
                <a:ea typeface="Arial"/>
                <a:cs typeface="Arial"/>
              </a:rPr>
              <a:t>Produz uma resposta a partir do contexto disponível.</a:t>
            </a:r>
          </a:p>
        </p:txBody>
      </p:sp>
      <p:sp>
        <p:nvSpPr>
          <p:cNvPr id="11" name="">
            <a:extLst xmlns:a="http://schemas.openxmlformats.org/drawingml/2006/main">
              <a:ext uri="{FF2B5EF4-FFF2-40B4-BE49-F238E27FC236}">
                <a16:creationId xmlns:a16="http://schemas.microsoft.com/office/drawing/2014/main" id="{F114B66D-C364-448E-AD44-F6DDA019A8A7}"/>
              </a:ext>
            </a:extLst>
          </p:cNvPr>
          <p:cNvSpPr>
            <a:spLocks xmlns:a="http://schemas.openxmlformats.org/drawingml/2006/main" noGrp="1"/>
          </p:cNvSpPr>
          <p:nvPr/>
        </p:nvSpPr>
        <p:spPr>
          <a:xfrm xmlns:a="http://schemas.openxmlformats.org/drawingml/2006/main">
            <a:off x="9880600"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8170CAC-FD8E-4576-BD14-0C1A8F295C0F}"/>
              </a:ext>
            </a:extLst>
          </p:cNvPr>
          <p:cNvSpPr>
            <a:spLocks xmlns:a="http://schemas.openxmlformats.org/drawingml/2006/main" noGrp="1"/>
          </p:cNvSpPr>
          <p:nvPr/>
        </p:nvSpPr>
        <p:spPr>
          <a:xfrm xmlns:a="http://schemas.openxmlformats.org/drawingml/2006/main">
            <a:off x="102044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E7B5D4"/>
                </a:solidFill>
                <a:latin typeface="Arial"/>
                <a:ea typeface="Arial"/>
                <a:cs typeface="Arial"/>
              </a:defRPr>
            </a:pPr>
            <a:r>
              <a:rPr sz="1650" b="0">
                <a:solidFill>
                  <a:srgbClr val="E7B5D4"/>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2CA224B4-ECB0-42DF-A989-5A2C9CBC3656}"/>
              </a:ext>
            </a:extLst>
          </p:cNvPr>
          <p:cNvSpPr>
            <a:spLocks xmlns:a="http://schemas.openxmlformats.org/drawingml/2006/main" noGrp="1"/>
          </p:cNvSpPr>
          <p:nvPr/>
        </p:nvSpPr>
        <p:spPr>
          <a:xfrm xmlns:a="http://schemas.openxmlformats.org/drawingml/2006/main">
            <a:off x="102044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6F3F5"/>
                </a:solidFill>
                <a:latin typeface="Arial"/>
                <a:ea typeface="Arial"/>
                <a:cs typeface="Arial"/>
              </a:defRPr>
            </a:pPr>
            <a:r>
              <a:rPr sz="1950" b="1">
                <a:solidFill>
                  <a:srgbClr val="F6F3F5"/>
                </a:solidFill>
                <a:latin typeface="Arial"/>
                <a:ea typeface="Arial"/>
                <a:cs typeface="Arial"/>
              </a:rPr>
              <a:t>Sua leitura</a:t>
            </a:r>
          </a:p>
        </p:txBody>
      </p:sp>
      <p:sp>
        <p:nvSpPr>
          <p:cNvPr id="14" name="">
            <a:extLst xmlns:a="http://schemas.openxmlformats.org/drawingml/2006/main">
              <a:ext uri="{FF2B5EF4-FFF2-40B4-BE49-F238E27FC236}">
                <a16:creationId xmlns:a16="http://schemas.microsoft.com/office/drawing/2014/main" id="{7E0DE456-75D0-4674-A7EB-D462D00EC8B5}"/>
              </a:ext>
            </a:extLst>
          </p:cNvPr>
          <p:cNvSpPr>
            <a:spLocks xmlns:a="http://schemas.openxmlformats.org/drawingml/2006/main" noGrp="1"/>
          </p:cNvSpPr>
          <p:nvPr/>
        </p:nvSpPr>
        <p:spPr>
          <a:xfrm xmlns:a="http://schemas.openxmlformats.org/drawingml/2006/main">
            <a:off x="102044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6CFD4"/>
                </a:solidFill>
                <a:latin typeface="Arial"/>
                <a:ea typeface="Arial"/>
                <a:cs typeface="Arial"/>
              </a:defRPr>
            </a:pPr>
            <a:r>
              <a:rPr sz="1725" b="0">
                <a:solidFill>
                  <a:srgbClr val="D6CFD4"/>
                </a:solidFill>
                <a:latin typeface="Arial"/>
                <a:ea typeface="Arial"/>
                <a:cs typeface="Arial"/>
              </a:rPr>
              <a:t>Você interpreta, confere e decide como usar.</a:t>
            </a:r>
          </a:p>
        </p:txBody>
      </p:sp>
      <p:sp>
        <p:nvSpPr>
          <p:cNvPr id="15" name="">
            <a:extLst xmlns:a="http://schemas.openxmlformats.org/drawingml/2006/main">
              <a:ext uri="{FF2B5EF4-FFF2-40B4-BE49-F238E27FC236}">
                <a16:creationId xmlns:a16="http://schemas.microsoft.com/office/drawing/2014/main" id="{D03ED9B1-69B5-43F1-8DCD-A8AF053E03D2}"/>
              </a:ext>
            </a:extLst>
          </p:cNvPr>
          <p:cNvSpPr>
            <a:spLocks xmlns:a="http://schemas.openxmlformats.org/drawingml/2006/main" noGrp="1"/>
          </p:cNvSpPr>
          <p:nvPr/>
        </p:nvSpPr>
        <p:spPr>
          <a:xfrm xmlns:a="http://schemas.openxmlformats.org/drawingml/2006/main">
            <a:off x="666750" y="7239000"/>
            <a:ext cx="1381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BFCEB8"/>
                </a:solidFill>
                <a:latin typeface="Arial"/>
                <a:ea typeface="Arial"/>
                <a:cs typeface="Arial"/>
              </a:defRPr>
            </a:pPr>
            <a:r>
              <a:rPr sz="1950" b="0">
                <a:solidFill>
                  <a:srgbClr val="BFCEB8"/>
                </a:solidFill>
                <a:latin typeface="Arial"/>
                <a:ea typeface="Arial"/>
                <a:cs typeface="Arial"/>
              </a:rPr>
              <a:t>Entender o que a ferramenta faz também significa reconhecer o que ela não fez.</a:t>
            </a:r>
          </a:p>
        </p:txBody>
      </p:sp>
      <p:sp>
        <p:nvSpPr>
          <p:cNvPr id="16" name="">
            <a:extLst xmlns:a="http://schemas.openxmlformats.org/drawingml/2006/main">
              <a:ext uri="{FF2B5EF4-FFF2-40B4-BE49-F238E27FC236}">
                <a16:creationId xmlns:a16="http://schemas.microsoft.com/office/drawing/2014/main" id="{2D8DEF2F-B8A4-4E61-9F12-9B3D0E335EF4}"/>
              </a:ext>
            </a:extLst>
          </p:cNvPr>
          <p:cNvSpPr>
            <a:spLocks xmlns:a="http://schemas.openxmlformats.org/drawingml/2006/main" noGrp="1"/>
          </p:cNvSpPr>
          <p:nvPr/>
        </p:nvSpPr>
        <p:spPr>
          <a:xfrm xmlns:a="http://schemas.openxmlformats.org/drawingml/2006/main">
            <a:off x="666750" y="8115300"/>
            <a:ext cx="1381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0ABB0"/>
                </a:solidFill>
                <a:latin typeface="Arial"/>
                <a:ea typeface="Arial"/>
                <a:cs typeface="Arial"/>
              </a:defRPr>
            </a:pPr>
            <a:r>
              <a:rPr sz="1275" b="0">
                <a:solidFill>
                  <a:srgbClr val="B0ABB0"/>
                </a:solidFill>
                <a:latin typeface="Arial"/>
                <a:ea typeface="Arial"/>
                <a:cs typeface="Arial"/>
              </a:rPr>
              <a:t>Emada Academy · Fundamentos · Aula 1 · 2/5</a:t>
            </a:r>
          </a:p>
        </p:txBody>
      </p:sp>
    </p:spTree>
    <p:extLst>
      <p:ext uri="{BB962C8B-B14F-4D97-AF65-F5344CB8AC3E}">
        <p14:creationId xmlns:p14="http://schemas.microsoft.com/office/powerpoint/2010/main" val="1622746791"/>
      </p:ext>
    </p:extLst>
  </p:cSld>
</p:sld>
</file>

<file path=ppt/slides/slide3.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8AD3342-BECB-4BAA-935D-9267A3EE34C3}"/>
              </a:ext>
            </a:extLst>
          </p:cNvPr>
          <p:cNvSpPr>
            <a:spLocks xmlns:a="http://schemas.openxmlformats.org/drawingml/2006/main" noGrp="1"/>
          </p:cNvSpPr>
          <p:nvPr/>
        </p:nvSpPr>
        <p:spPr>
          <a:xfrm xmlns:a="http://schemas.openxmlformats.org/drawingml/2006/main">
            <a:off x="666750" y="523875"/>
            <a:ext cx="1381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0">
                <a:solidFill>
                  <a:srgbClr val="F6F3F5"/>
                </a:solidFill>
                <a:latin typeface="Arial"/>
                <a:ea typeface="Arial"/>
                <a:cs typeface="Arial"/>
              </a:defRPr>
            </a:pPr>
            <a:r>
              <a:rPr sz="3450" b="0">
                <a:solidFill>
                  <a:srgbClr val="F6F3F5"/>
                </a:solidFill>
                <a:latin typeface="Arial"/>
                <a:ea typeface="Arial"/>
                <a:cs typeface="Arial"/>
              </a:rPr>
              <a:t>Uma resposta precisa de avaliação</a:t>
            </a:r>
          </a:p>
        </p:txBody>
      </p:sp>
      <p:sp>
        <p:nvSpPr>
          <p:cNvPr id="2" name="">
            <a:extLst xmlns:a="http://schemas.openxmlformats.org/drawingml/2006/main">
              <a:ext uri="{FF2B5EF4-FFF2-40B4-BE49-F238E27FC236}">
                <a16:creationId xmlns:a16="http://schemas.microsoft.com/office/drawing/2014/main" id="{84DF1274-44A5-4E8C-9E69-CF6BE227F5FE}"/>
              </a:ext>
            </a:extLst>
          </p:cNvPr>
          <p:cNvSpPr>
            <a:spLocks xmlns:a="http://schemas.openxmlformats.org/drawingml/2006/main" noGrp="1"/>
          </p:cNvSpPr>
          <p:nvPr/>
        </p:nvSpPr>
        <p:spPr>
          <a:xfrm xmlns:a="http://schemas.openxmlformats.org/drawingml/2006/main">
            <a:off x="666750" y="1762125"/>
            <a:ext cx="13620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D6CFD4"/>
                </a:solidFill>
                <a:latin typeface="Arial"/>
                <a:ea typeface="Arial"/>
                <a:cs typeface="Arial"/>
              </a:defRPr>
            </a:pPr>
            <a:r>
              <a:rPr sz="2025" b="0">
                <a:solidFill>
                  <a:srgbClr val="D6CFD4"/>
                </a:solidFill>
                <a:latin typeface="Arial"/>
                <a:ea typeface="Arial"/>
                <a:cs typeface="Arial"/>
              </a:rPr>
              <a:t>Uma resposta pode ser clara, simpática e errada. A aparência de certeza não é uma prova. Aprender a usar IA inclui aprender a interromper a leitura e perguntar: ‘Como eu sei que isso faz sentido?’</a:t>
            </a:r>
          </a:p>
        </p:txBody>
      </p:sp>
      <p:sp>
        <p:nvSpPr>
          <p:cNvPr id="3" name="">
            <a:extLst xmlns:a="http://schemas.openxmlformats.org/drawingml/2006/main">
              <a:ext uri="{FF2B5EF4-FFF2-40B4-BE49-F238E27FC236}">
                <a16:creationId xmlns:a16="http://schemas.microsoft.com/office/drawing/2014/main" id="{80AFD67D-08B1-4E68-8BD8-16295CBB357C}"/>
              </a:ext>
            </a:extLst>
          </p:cNvPr>
          <p:cNvSpPr>
            <a:spLocks xmlns:a="http://schemas.openxmlformats.org/drawingml/2006/main" noGrp="1"/>
          </p:cNvSpPr>
          <p:nvPr/>
        </p:nvSpPr>
        <p:spPr>
          <a:xfrm xmlns:a="http://schemas.openxmlformats.org/drawingml/2006/main">
            <a:off x="666750" y="3238500"/>
            <a:ext cx="1381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E7B5D4"/>
                </a:solidFill>
                <a:latin typeface="Arial"/>
                <a:ea typeface="Arial"/>
                <a:cs typeface="Arial"/>
              </a:defRPr>
            </a:pPr>
            <a:r>
              <a:rPr sz="2175" b="0">
                <a:solidFill>
                  <a:srgbClr val="E7B5D4"/>
                </a:solidFill>
                <a:latin typeface="Arial"/>
                <a:ea typeface="Arial"/>
                <a:cs typeface="Arial"/>
              </a:rPr>
              <a:t>Três perguntas antes de usar</a:t>
            </a:r>
          </a:p>
        </p:txBody>
      </p:sp>
      <p:sp>
        <p:nvSpPr>
          <p:cNvPr id="4" name="">
            <a:extLst xmlns:a="http://schemas.openxmlformats.org/drawingml/2006/main">
              <a:ext uri="{FF2B5EF4-FFF2-40B4-BE49-F238E27FC236}">
                <a16:creationId xmlns:a16="http://schemas.microsoft.com/office/drawing/2014/main" id="{01164C50-AA4D-4ABC-9602-558E384A660A}"/>
              </a:ext>
            </a:extLst>
          </p:cNvPr>
          <p:cNvSpPr>
            <a:spLocks xmlns:a="http://schemas.openxmlformats.org/drawingml/2006/main" noGrp="1"/>
          </p:cNvSpPr>
          <p:nvPr/>
        </p:nvSpPr>
        <p:spPr>
          <a:xfrm xmlns:a="http://schemas.openxmlformats.org/drawingml/2006/main">
            <a:off x="6667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E7B5D4"/>
                </a:solidFill>
                <a:latin typeface="Arial"/>
                <a:ea typeface="Arial"/>
                <a:cs typeface="Arial"/>
              </a:defRPr>
            </a:pPr>
            <a:r>
              <a:rPr sz="1650" b="0">
                <a:solidFill>
                  <a:srgbClr val="E7B5D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5B8E7BA9-9B58-4073-8D14-0FD3041E9782}"/>
              </a:ext>
            </a:extLst>
          </p:cNvPr>
          <p:cNvSpPr>
            <a:spLocks xmlns:a="http://schemas.openxmlformats.org/drawingml/2006/main" noGrp="1"/>
          </p:cNvSpPr>
          <p:nvPr/>
        </p:nvSpPr>
        <p:spPr>
          <a:xfrm xmlns:a="http://schemas.openxmlformats.org/drawingml/2006/main">
            <a:off x="6667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6F3F5"/>
                </a:solidFill>
                <a:latin typeface="Arial"/>
                <a:ea typeface="Arial"/>
                <a:cs typeface="Arial"/>
              </a:defRPr>
            </a:pPr>
            <a:r>
              <a:rPr sz="1950" b="1">
                <a:solidFill>
                  <a:srgbClr val="F6F3F5"/>
                </a:solidFill>
                <a:latin typeface="Arial"/>
                <a:ea typeface="Arial"/>
                <a:cs typeface="Arial"/>
              </a:rPr>
              <a:t>Está correto?</a:t>
            </a:r>
          </a:p>
        </p:txBody>
      </p:sp>
      <p:sp>
        <p:nvSpPr>
          <p:cNvPr id="6" name="">
            <a:extLst xmlns:a="http://schemas.openxmlformats.org/drawingml/2006/main">
              <a:ext uri="{FF2B5EF4-FFF2-40B4-BE49-F238E27FC236}">
                <a16:creationId xmlns:a16="http://schemas.microsoft.com/office/drawing/2014/main" id="{DC261D8E-4751-48CB-B34B-03174510BBF5}"/>
              </a:ext>
            </a:extLst>
          </p:cNvPr>
          <p:cNvSpPr>
            <a:spLocks xmlns:a="http://schemas.openxmlformats.org/drawingml/2006/main" noGrp="1"/>
          </p:cNvSpPr>
          <p:nvPr/>
        </p:nvSpPr>
        <p:spPr>
          <a:xfrm xmlns:a="http://schemas.openxmlformats.org/drawingml/2006/main">
            <a:off x="6667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6CFD4"/>
                </a:solidFill>
                <a:latin typeface="Arial"/>
                <a:ea typeface="Arial"/>
                <a:cs typeface="Arial"/>
              </a:defRPr>
            </a:pPr>
            <a:r>
              <a:rPr sz="1725" b="0">
                <a:solidFill>
                  <a:srgbClr val="D6CFD4"/>
                </a:solidFill>
                <a:latin typeface="Arial"/>
                <a:ea typeface="Arial"/>
                <a:cs typeface="Arial"/>
              </a:rPr>
              <a:t>Confira números, nomes e afirmações importantes.</a:t>
            </a:r>
          </a:p>
        </p:txBody>
      </p:sp>
      <p:sp>
        <p:nvSpPr>
          <p:cNvPr id="7" name="">
            <a:extLst xmlns:a="http://schemas.openxmlformats.org/drawingml/2006/main">
              <a:ext uri="{FF2B5EF4-FFF2-40B4-BE49-F238E27FC236}">
                <a16:creationId xmlns:a16="http://schemas.microsoft.com/office/drawing/2014/main" id="{27DF0DFB-0ABD-4D4F-A14F-78A96058A657}"/>
              </a:ext>
            </a:extLst>
          </p:cNvPr>
          <p:cNvSpPr>
            <a:spLocks xmlns:a="http://schemas.openxmlformats.org/drawingml/2006/main" noGrp="1"/>
          </p:cNvSpPr>
          <p:nvPr/>
        </p:nvSpPr>
        <p:spPr>
          <a:xfrm xmlns:a="http://schemas.openxmlformats.org/drawingml/2006/main">
            <a:off x="5111750"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4321E03-4353-495E-853A-470DC7A5B583}"/>
              </a:ext>
            </a:extLst>
          </p:cNvPr>
          <p:cNvSpPr>
            <a:spLocks xmlns:a="http://schemas.openxmlformats.org/drawingml/2006/main" noGrp="1"/>
          </p:cNvSpPr>
          <p:nvPr/>
        </p:nvSpPr>
        <p:spPr>
          <a:xfrm xmlns:a="http://schemas.openxmlformats.org/drawingml/2006/main">
            <a:off x="543560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E7B5D4"/>
                </a:solidFill>
                <a:latin typeface="Arial"/>
                <a:ea typeface="Arial"/>
                <a:cs typeface="Arial"/>
              </a:defRPr>
            </a:pPr>
            <a:r>
              <a:rPr sz="1650" b="0">
                <a:solidFill>
                  <a:srgbClr val="E7B5D4"/>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54061023-9FD8-4131-B544-8CF25793DA0F}"/>
              </a:ext>
            </a:extLst>
          </p:cNvPr>
          <p:cNvSpPr>
            <a:spLocks xmlns:a="http://schemas.openxmlformats.org/drawingml/2006/main" noGrp="1"/>
          </p:cNvSpPr>
          <p:nvPr/>
        </p:nvSpPr>
        <p:spPr>
          <a:xfrm xmlns:a="http://schemas.openxmlformats.org/drawingml/2006/main">
            <a:off x="543560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6F3F5"/>
                </a:solidFill>
                <a:latin typeface="Arial"/>
                <a:ea typeface="Arial"/>
                <a:cs typeface="Arial"/>
              </a:defRPr>
            </a:pPr>
            <a:r>
              <a:rPr sz="1950" b="1">
                <a:solidFill>
                  <a:srgbClr val="F6F3F5"/>
                </a:solidFill>
                <a:latin typeface="Arial"/>
                <a:ea typeface="Arial"/>
                <a:cs typeface="Arial"/>
              </a:rPr>
              <a:t>Serve para mim?</a:t>
            </a:r>
          </a:p>
        </p:txBody>
      </p:sp>
      <p:sp>
        <p:nvSpPr>
          <p:cNvPr id="10" name="">
            <a:extLst xmlns:a="http://schemas.openxmlformats.org/drawingml/2006/main">
              <a:ext uri="{FF2B5EF4-FFF2-40B4-BE49-F238E27FC236}">
                <a16:creationId xmlns:a16="http://schemas.microsoft.com/office/drawing/2014/main" id="{B18E0165-1E9E-4F5A-ACC4-5BAF5C68DEBF}"/>
              </a:ext>
            </a:extLst>
          </p:cNvPr>
          <p:cNvSpPr>
            <a:spLocks xmlns:a="http://schemas.openxmlformats.org/drawingml/2006/main" noGrp="1"/>
          </p:cNvSpPr>
          <p:nvPr/>
        </p:nvSpPr>
        <p:spPr>
          <a:xfrm xmlns:a="http://schemas.openxmlformats.org/drawingml/2006/main">
            <a:off x="543560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6CFD4"/>
                </a:solidFill>
                <a:latin typeface="Arial"/>
                <a:ea typeface="Arial"/>
                <a:cs typeface="Arial"/>
              </a:defRPr>
            </a:pPr>
            <a:r>
              <a:rPr sz="1725" b="0">
                <a:solidFill>
                  <a:srgbClr val="D6CFD4"/>
                </a:solidFill>
                <a:latin typeface="Arial"/>
                <a:ea typeface="Arial"/>
                <a:cs typeface="Arial"/>
              </a:rPr>
              <a:t>Compare com o objetivo e o tom desejado.</a:t>
            </a:r>
          </a:p>
        </p:txBody>
      </p:sp>
      <p:sp>
        <p:nvSpPr>
          <p:cNvPr id="11" name="">
            <a:extLst xmlns:a="http://schemas.openxmlformats.org/drawingml/2006/main">
              <a:ext uri="{FF2B5EF4-FFF2-40B4-BE49-F238E27FC236}">
                <a16:creationId xmlns:a16="http://schemas.microsoft.com/office/drawing/2014/main" id="{A4A7F9D5-57C8-45C5-8728-2EC67D22D2C8}"/>
              </a:ext>
            </a:extLst>
          </p:cNvPr>
          <p:cNvSpPr>
            <a:spLocks xmlns:a="http://schemas.openxmlformats.org/drawingml/2006/main" noGrp="1"/>
          </p:cNvSpPr>
          <p:nvPr/>
        </p:nvSpPr>
        <p:spPr>
          <a:xfrm xmlns:a="http://schemas.openxmlformats.org/drawingml/2006/main">
            <a:off x="9880600"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9F30E85-E424-436C-BCA8-479C77251C01}"/>
              </a:ext>
            </a:extLst>
          </p:cNvPr>
          <p:cNvSpPr>
            <a:spLocks xmlns:a="http://schemas.openxmlformats.org/drawingml/2006/main" noGrp="1"/>
          </p:cNvSpPr>
          <p:nvPr/>
        </p:nvSpPr>
        <p:spPr>
          <a:xfrm xmlns:a="http://schemas.openxmlformats.org/drawingml/2006/main">
            <a:off x="102044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E7B5D4"/>
                </a:solidFill>
                <a:latin typeface="Arial"/>
                <a:ea typeface="Arial"/>
                <a:cs typeface="Arial"/>
              </a:defRPr>
            </a:pPr>
            <a:r>
              <a:rPr sz="1650" b="0">
                <a:solidFill>
                  <a:srgbClr val="E7B5D4"/>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CD4CF166-3AEB-41A0-925C-BF4AE2D461FC}"/>
              </a:ext>
            </a:extLst>
          </p:cNvPr>
          <p:cNvSpPr>
            <a:spLocks xmlns:a="http://schemas.openxmlformats.org/drawingml/2006/main" noGrp="1"/>
          </p:cNvSpPr>
          <p:nvPr/>
        </p:nvSpPr>
        <p:spPr>
          <a:xfrm xmlns:a="http://schemas.openxmlformats.org/drawingml/2006/main">
            <a:off x="102044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6F3F5"/>
                </a:solidFill>
                <a:latin typeface="Arial"/>
                <a:ea typeface="Arial"/>
                <a:cs typeface="Arial"/>
              </a:defRPr>
            </a:pPr>
            <a:r>
              <a:rPr sz="1950" b="1">
                <a:solidFill>
                  <a:srgbClr val="F6F3F5"/>
                </a:solidFill>
                <a:latin typeface="Arial"/>
                <a:ea typeface="Arial"/>
                <a:cs typeface="Arial"/>
              </a:rPr>
              <a:t>Cabe na realidade?</a:t>
            </a:r>
          </a:p>
        </p:txBody>
      </p:sp>
      <p:sp>
        <p:nvSpPr>
          <p:cNvPr id="14" name="">
            <a:extLst xmlns:a="http://schemas.openxmlformats.org/drawingml/2006/main">
              <a:ext uri="{FF2B5EF4-FFF2-40B4-BE49-F238E27FC236}">
                <a16:creationId xmlns:a16="http://schemas.microsoft.com/office/drawing/2014/main" id="{AB11BA5C-BFFC-4699-AB7C-84BD649D4D03}"/>
              </a:ext>
            </a:extLst>
          </p:cNvPr>
          <p:cNvSpPr>
            <a:spLocks xmlns:a="http://schemas.openxmlformats.org/drawingml/2006/main" noGrp="1"/>
          </p:cNvSpPr>
          <p:nvPr/>
        </p:nvSpPr>
        <p:spPr>
          <a:xfrm xmlns:a="http://schemas.openxmlformats.org/drawingml/2006/main">
            <a:off x="102044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6CFD4"/>
                </a:solidFill>
                <a:latin typeface="Arial"/>
                <a:ea typeface="Arial"/>
                <a:cs typeface="Arial"/>
              </a:defRPr>
            </a:pPr>
            <a:r>
              <a:rPr sz="1725" b="0">
                <a:solidFill>
                  <a:srgbClr val="D6CFD4"/>
                </a:solidFill>
                <a:latin typeface="Arial"/>
                <a:ea typeface="Arial"/>
                <a:cs typeface="Arial"/>
              </a:rPr>
              <a:t>Revise tempo, recursos e condições de execução.</a:t>
            </a:r>
          </a:p>
        </p:txBody>
      </p:sp>
      <p:sp>
        <p:nvSpPr>
          <p:cNvPr id="15" name="">
            <a:extLst xmlns:a="http://schemas.openxmlformats.org/drawingml/2006/main">
              <a:ext uri="{FF2B5EF4-FFF2-40B4-BE49-F238E27FC236}">
                <a16:creationId xmlns:a16="http://schemas.microsoft.com/office/drawing/2014/main" id="{FC8C3809-8D4C-4A9A-81FD-CE8817AEE223}"/>
              </a:ext>
            </a:extLst>
          </p:cNvPr>
          <p:cNvSpPr>
            <a:spLocks xmlns:a="http://schemas.openxmlformats.org/drawingml/2006/main" noGrp="1"/>
          </p:cNvSpPr>
          <p:nvPr/>
        </p:nvSpPr>
        <p:spPr>
          <a:xfrm xmlns:a="http://schemas.openxmlformats.org/drawingml/2006/main">
            <a:off x="666750" y="7239000"/>
            <a:ext cx="1381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BFCEB8"/>
                </a:solidFill>
                <a:latin typeface="Arial"/>
                <a:ea typeface="Arial"/>
                <a:cs typeface="Arial"/>
              </a:defRPr>
            </a:pPr>
            <a:r>
              <a:rPr sz="1950" b="0">
                <a:solidFill>
                  <a:srgbClr val="BFCEB8"/>
                </a:solidFill>
                <a:latin typeface="Arial"/>
                <a:ea typeface="Arial"/>
                <a:cs typeface="Arial"/>
              </a:rPr>
              <a:t>Seu julgamento faz parte do processo — não é um detalhe depois da resposta.</a:t>
            </a:r>
          </a:p>
        </p:txBody>
      </p:sp>
      <p:sp>
        <p:nvSpPr>
          <p:cNvPr id="16" name="">
            <a:extLst xmlns:a="http://schemas.openxmlformats.org/drawingml/2006/main">
              <a:ext uri="{FF2B5EF4-FFF2-40B4-BE49-F238E27FC236}">
                <a16:creationId xmlns:a16="http://schemas.microsoft.com/office/drawing/2014/main" id="{425E2DBD-0CDB-43B5-9310-8978263E775D}"/>
              </a:ext>
            </a:extLst>
          </p:cNvPr>
          <p:cNvSpPr>
            <a:spLocks xmlns:a="http://schemas.openxmlformats.org/drawingml/2006/main" noGrp="1"/>
          </p:cNvSpPr>
          <p:nvPr/>
        </p:nvSpPr>
        <p:spPr>
          <a:xfrm xmlns:a="http://schemas.openxmlformats.org/drawingml/2006/main">
            <a:off x="666750" y="8115300"/>
            <a:ext cx="1381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0ABB0"/>
                </a:solidFill>
                <a:latin typeface="Arial"/>
                <a:ea typeface="Arial"/>
                <a:cs typeface="Arial"/>
              </a:defRPr>
            </a:pPr>
            <a:r>
              <a:rPr sz="1275" b="0">
                <a:solidFill>
                  <a:srgbClr val="B0ABB0"/>
                </a:solidFill>
                <a:latin typeface="Arial"/>
                <a:ea typeface="Arial"/>
                <a:cs typeface="Arial"/>
              </a:rPr>
              <a:t>Emada Academy · Fundamentos · Aula 1 · 3/5</a:t>
            </a:r>
          </a:p>
        </p:txBody>
      </p:sp>
    </p:spTree>
    <p:extLst>
      <p:ext uri="{BB962C8B-B14F-4D97-AF65-F5344CB8AC3E}">
        <p14:creationId xmlns:p14="http://schemas.microsoft.com/office/powerpoint/2010/main" val="1578429377"/>
      </p:ext>
    </p:extLst>
  </p:cSld>
</p:sld>
</file>

<file path=ppt/slides/slide4.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FFA8677-BDF1-4FAB-BB5D-4B1A06642C40}"/>
              </a:ext>
            </a:extLst>
          </p:cNvPr>
          <p:cNvSpPr>
            <a:spLocks xmlns:a="http://schemas.openxmlformats.org/drawingml/2006/main" noGrp="1"/>
          </p:cNvSpPr>
          <p:nvPr/>
        </p:nvSpPr>
        <p:spPr>
          <a:xfrm xmlns:a="http://schemas.openxmlformats.org/drawingml/2006/main">
            <a:off x="666750" y="523875"/>
            <a:ext cx="1381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0">
                <a:solidFill>
                  <a:srgbClr val="F6F3F5"/>
                </a:solidFill>
                <a:latin typeface="Arial"/>
                <a:ea typeface="Arial"/>
                <a:cs typeface="Arial"/>
              </a:defRPr>
            </a:pPr>
            <a:r>
              <a:rPr sz="3450" b="0">
                <a:solidFill>
                  <a:srgbClr val="F6F3F5"/>
                </a:solidFill>
                <a:latin typeface="Arial"/>
                <a:ea typeface="Arial"/>
                <a:cs typeface="Arial"/>
              </a:rPr>
              <a:t>Uma primeira conversa</a:t>
            </a:r>
          </a:p>
        </p:txBody>
      </p:sp>
      <p:sp>
        <p:nvSpPr>
          <p:cNvPr id="2" name="">
            <a:extLst xmlns:a="http://schemas.openxmlformats.org/drawingml/2006/main">
              <a:ext uri="{FF2B5EF4-FFF2-40B4-BE49-F238E27FC236}">
                <a16:creationId xmlns:a16="http://schemas.microsoft.com/office/drawing/2014/main" id="{548D8058-FC03-485E-99A2-876819501D52}"/>
              </a:ext>
            </a:extLst>
          </p:cNvPr>
          <p:cNvSpPr>
            <a:spLocks xmlns:a="http://schemas.openxmlformats.org/drawingml/2006/main" noGrp="1"/>
          </p:cNvSpPr>
          <p:nvPr/>
        </p:nvSpPr>
        <p:spPr>
          <a:xfrm xmlns:a="http://schemas.openxmlformats.org/drawingml/2006/main">
            <a:off x="666750" y="1762125"/>
            <a:ext cx="13620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D6CFD4"/>
                </a:solidFill>
                <a:latin typeface="Arial"/>
                <a:ea typeface="Arial"/>
                <a:cs typeface="Arial"/>
              </a:defRPr>
            </a:pPr>
            <a:r>
              <a:rPr sz="2025" b="0">
                <a:solidFill>
                  <a:srgbClr val="D6CFD4"/>
                </a:solidFill>
                <a:latin typeface="Arial"/>
                <a:ea typeface="Arial"/>
                <a:cs typeface="Arial"/>
              </a:rPr>
              <a:t>Conversar com IA não exige uma linguagem secreta. Comece dizendo o que quer fazer, acrescente uma condição importante e convide o sistema a perguntar sobre o que falta. Depois, responda com o que realmente ajuda na tarefa.</a:t>
            </a:r>
          </a:p>
        </p:txBody>
      </p:sp>
      <p:sp>
        <p:nvSpPr>
          <p:cNvPr id="3" name="">
            <a:extLst xmlns:a="http://schemas.openxmlformats.org/drawingml/2006/main">
              <a:ext uri="{FF2B5EF4-FFF2-40B4-BE49-F238E27FC236}">
                <a16:creationId xmlns:a16="http://schemas.microsoft.com/office/drawing/2014/main" id="{D066A3CF-8358-4591-8952-0652F80A75DF}"/>
              </a:ext>
            </a:extLst>
          </p:cNvPr>
          <p:cNvSpPr>
            <a:spLocks xmlns:a="http://schemas.openxmlformats.org/drawingml/2006/main" noGrp="1"/>
          </p:cNvSpPr>
          <p:nvPr/>
        </p:nvSpPr>
        <p:spPr>
          <a:xfrm xmlns:a="http://schemas.openxmlformats.org/drawingml/2006/main">
            <a:off x="666750" y="3238500"/>
            <a:ext cx="1381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E7B5D4"/>
                </a:solidFill>
                <a:latin typeface="Arial"/>
                <a:ea typeface="Arial"/>
                <a:cs typeface="Arial"/>
              </a:defRPr>
            </a:pPr>
            <a:r>
              <a:rPr sz="2175" b="0">
                <a:solidFill>
                  <a:srgbClr val="E7B5D4"/>
                </a:solidFill>
                <a:latin typeface="Arial"/>
                <a:ea typeface="Arial"/>
                <a:cs typeface="Arial"/>
              </a:rPr>
              <a:t>Uma conversa em quatro movimentos</a:t>
            </a:r>
          </a:p>
        </p:txBody>
      </p:sp>
      <p:sp>
        <p:nvSpPr>
          <p:cNvPr id="4" name="">
            <a:extLst xmlns:a="http://schemas.openxmlformats.org/drawingml/2006/main">
              <a:ext uri="{FF2B5EF4-FFF2-40B4-BE49-F238E27FC236}">
                <a16:creationId xmlns:a16="http://schemas.microsoft.com/office/drawing/2014/main" id="{93972F5A-5075-45BB-A248-3DE4B2DD5370}"/>
              </a:ext>
            </a:extLst>
          </p:cNvPr>
          <p:cNvSpPr>
            <a:spLocks xmlns:a="http://schemas.openxmlformats.org/drawingml/2006/main" noGrp="1"/>
          </p:cNvSpPr>
          <p:nvPr/>
        </p:nvSpPr>
        <p:spPr>
          <a:xfrm xmlns:a="http://schemas.openxmlformats.org/drawingml/2006/main">
            <a:off x="666750" y="4143375"/>
            <a:ext cx="3176588"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E7B5D4"/>
                </a:solidFill>
                <a:latin typeface="Arial"/>
                <a:ea typeface="Arial"/>
                <a:cs typeface="Arial"/>
              </a:defRPr>
            </a:pPr>
            <a:r>
              <a:rPr sz="1650" b="0">
                <a:solidFill>
                  <a:srgbClr val="E7B5D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9278BF94-5EB2-40A2-8194-729773B0EAAE}"/>
              </a:ext>
            </a:extLst>
          </p:cNvPr>
          <p:cNvSpPr>
            <a:spLocks xmlns:a="http://schemas.openxmlformats.org/drawingml/2006/main" noGrp="1"/>
          </p:cNvSpPr>
          <p:nvPr/>
        </p:nvSpPr>
        <p:spPr>
          <a:xfrm xmlns:a="http://schemas.openxmlformats.org/drawingml/2006/main">
            <a:off x="666750" y="4667250"/>
            <a:ext cx="3176588"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6F3F5"/>
                </a:solidFill>
                <a:latin typeface="Arial"/>
                <a:ea typeface="Arial"/>
                <a:cs typeface="Arial"/>
              </a:defRPr>
            </a:pPr>
            <a:r>
              <a:rPr sz="1950" b="1">
                <a:solidFill>
                  <a:srgbClr val="F6F3F5"/>
                </a:solidFill>
                <a:latin typeface="Arial"/>
                <a:ea typeface="Arial"/>
                <a:cs typeface="Arial"/>
              </a:rPr>
              <a:t>Pedir</a:t>
            </a:r>
          </a:p>
        </p:txBody>
      </p:sp>
      <p:sp>
        <p:nvSpPr>
          <p:cNvPr id="6" name="">
            <a:extLst xmlns:a="http://schemas.openxmlformats.org/drawingml/2006/main">
              <a:ext uri="{FF2B5EF4-FFF2-40B4-BE49-F238E27FC236}">
                <a16:creationId xmlns:a16="http://schemas.microsoft.com/office/drawing/2014/main" id="{760CC838-D223-43E9-8A87-833FE6C73544}"/>
              </a:ext>
            </a:extLst>
          </p:cNvPr>
          <p:cNvSpPr>
            <a:spLocks xmlns:a="http://schemas.openxmlformats.org/drawingml/2006/main" noGrp="1"/>
          </p:cNvSpPr>
          <p:nvPr/>
        </p:nvSpPr>
        <p:spPr>
          <a:xfrm xmlns:a="http://schemas.openxmlformats.org/drawingml/2006/main">
            <a:off x="666750" y="5619750"/>
            <a:ext cx="3176588"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6CFD4"/>
                </a:solidFill>
                <a:latin typeface="Arial"/>
                <a:ea typeface="Arial"/>
                <a:cs typeface="Arial"/>
              </a:defRPr>
            </a:pPr>
            <a:r>
              <a:rPr sz="1725" b="0">
                <a:solidFill>
                  <a:srgbClr val="D6CFD4"/>
                </a:solidFill>
                <a:latin typeface="Arial"/>
                <a:ea typeface="Arial"/>
                <a:cs typeface="Arial"/>
              </a:rPr>
              <a:t>Diga o resultado que procura.</a:t>
            </a:r>
          </a:p>
        </p:txBody>
      </p:sp>
      <p:sp>
        <p:nvSpPr>
          <p:cNvPr id="7" name="">
            <a:extLst xmlns:a="http://schemas.openxmlformats.org/drawingml/2006/main">
              <a:ext uri="{FF2B5EF4-FFF2-40B4-BE49-F238E27FC236}">
                <a16:creationId xmlns:a16="http://schemas.microsoft.com/office/drawing/2014/main" id="{51CC0957-A0A9-42A7-94F9-4D5D150DACF0}"/>
              </a:ext>
            </a:extLst>
          </p:cNvPr>
          <p:cNvSpPr>
            <a:spLocks xmlns:a="http://schemas.openxmlformats.org/drawingml/2006/main" noGrp="1"/>
          </p:cNvSpPr>
          <p:nvPr/>
        </p:nvSpPr>
        <p:spPr>
          <a:xfrm xmlns:a="http://schemas.openxmlformats.org/drawingml/2006/main">
            <a:off x="3919538"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5B30347-630E-4550-A214-26E61E37ABE2}"/>
              </a:ext>
            </a:extLst>
          </p:cNvPr>
          <p:cNvSpPr>
            <a:spLocks xmlns:a="http://schemas.openxmlformats.org/drawingml/2006/main" noGrp="1"/>
          </p:cNvSpPr>
          <p:nvPr/>
        </p:nvSpPr>
        <p:spPr>
          <a:xfrm xmlns:a="http://schemas.openxmlformats.org/drawingml/2006/main">
            <a:off x="4243388" y="4143375"/>
            <a:ext cx="3176588"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E7B5D4"/>
                </a:solidFill>
                <a:latin typeface="Arial"/>
                <a:ea typeface="Arial"/>
                <a:cs typeface="Arial"/>
              </a:defRPr>
            </a:pPr>
            <a:r>
              <a:rPr sz="1650" b="0">
                <a:solidFill>
                  <a:srgbClr val="E7B5D4"/>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EEF5D49E-281B-4EE2-B7C5-E1C99956A40B}"/>
              </a:ext>
            </a:extLst>
          </p:cNvPr>
          <p:cNvSpPr>
            <a:spLocks xmlns:a="http://schemas.openxmlformats.org/drawingml/2006/main" noGrp="1"/>
          </p:cNvSpPr>
          <p:nvPr/>
        </p:nvSpPr>
        <p:spPr>
          <a:xfrm xmlns:a="http://schemas.openxmlformats.org/drawingml/2006/main">
            <a:off x="4243388" y="4667250"/>
            <a:ext cx="3176588"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6F3F5"/>
                </a:solidFill>
                <a:latin typeface="Arial"/>
                <a:ea typeface="Arial"/>
                <a:cs typeface="Arial"/>
              </a:defRPr>
            </a:pPr>
            <a:r>
              <a:rPr sz="1950" b="1">
                <a:solidFill>
                  <a:srgbClr val="F6F3F5"/>
                </a:solidFill>
                <a:latin typeface="Arial"/>
                <a:ea typeface="Arial"/>
                <a:cs typeface="Arial"/>
              </a:rPr>
              <a:t>Esclarecer</a:t>
            </a:r>
          </a:p>
        </p:txBody>
      </p:sp>
      <p:sp>
        <p:nvSpPr>
          <p:cNvPr id="10" name="">
            <a:extLst xmlns:a="http://schemas.openxmlformats.org/drawingml/2006/main">
              <a:ext uri="{FF2B5EF4-FFF2-40B4-BE49-F238E27FC236}">
                <a16:creationId xmlns:a16="http://schemas.microsoft.com/office/drawing/2014/main" id="{D14DFF1D-90A2-4FCE-A29E-19A7403D9A7D}"/>
              </a:ext>
            </a:extLst>
          </p:cNvPr>
          <p:cNvSpPr>
            <a:spLocks xmlns:a="http://schemas.openxmlformats.org/drawingml/2006/main" noGrp="1"/>
          </p:cNvSpPr>
          <p:nvPr/>
        </p:nvSpPr>
        <p:spPr>
          <a:xfrm xmlns:a="http://schemas.openxmlformats.org/drawingml/2006/main">
            <a:off x="4243388" y="5619750"/>
            <a:ext cx="3176588"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6CFD4"/>
                </a:solidFill>
                <a:latin typeface="Arial"/>
                <a:ea typeface="Arial"/>
                <a:cs typeface="Arial"/>
              </a:defRPr>
            </a:pPr>
            <a:r>
              <a:rPr sz="1725" b="0">
                <a:solidFill>
                  <a:srgbClr val="D6CFD4"/>
                </a:solidFill>
                <a:latin typeface="Arial"/>
                <a:ea typeface="Arial"/>
                <a:cs typeface="Arial"/>
              </a:rPr>
              <a:t>Responda ao que falta saber.</a:t>
            </a:r>
          </a:p>
        </p:txBody>
      </p:sp>
      <p:sp>
        <p:nvSpPr>
          <p:cNvPr id="11" name="">
            <a:extLst xmlns:a="http://schemas.openxmlformats.org/drawingml/2006/main">
              <a:ext uri="{FF2B5EF4-FFF2-40B4-BE49-F238E27FC236}">
                <a16:creationId xmlns:a16="http://schemas.microsoft.com/office/drawing/2014/main" id="{F0787240-3B4E-483B-B86B-265CF4666868}"/>
              </a:ext>
            </a:extLst>
          </p:cNvPr>
          <p:cNvSpPr>
            <a:spLocks xmlns:a="http://schemas.openxmlformats.org/drawingml/2006/main" noGrp="1"/>
          </p:cNvSpPr>
          <p:nvPr/>
        </p:nvSpPr>
        <p:spPr>
          <a:xfrm xmlns:a="http://schemas.openxmlformats.org/drawingml/2006/main">
            <a:off x="7496175"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190DD30-5FD8-4491-8DE9-CF858E72F6C0}"/>
              </a:ext>
            </a:extLst>
          </p:cNvPr>
          <p:cNvSpPr>
            <a:spLocks xmlns:a="http://schemas.openxmlformats.org/drawingml/2006/main" noGrp="1"/>
          </p:cNvSpPr>
          <p:nvPr/>
        </p:nvSpPr>
        <p:spPr>
          <a:xfrm xmlns:a="http://schemas.openxmlformats.org/drawingml/2006/main">
            <a:off x="7820025" y="4143375"/>
            <a:ext cx="3176588"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E7B5D4"/>
                </a:solidFill>
                <a:latin typeface="Arial"/>
                <a:ea typeface="Arial"/>
                <a:cs typeface="Arial"/>
              </a:defRPr>
            </a:pPr>
            <a:r>
              <a:rPr sz="1650" b="0">
                <a:solidFill>
                  <a:srgbClr val="E7B5D4"/>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79EF77EB-3B05-47A0-B76B-E070A8BC32C9}"/>
              </a:ext>
            </a:extLst>
          </p:cNvPr>
          <p:cNvSpPr>
            <a:spLocks xmlns:a="http://schemas.openxmlformats.org/drawingml/2006/main" noGrp="1"/>
          </p:cNvSpPr>
          <p:nvPr/>
        </p:nvSpPr>
        <p:spPr>
          <a:xfrm xmlns:a="http://schemas.openxmlformats.org/drawingml/2006/main">
            <a:off x="7820025" y="4667250"/>
            <a:ext cx="3176588"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6F3F5"/>
                </a:solidFill>
                <a:latin typeface="Arial"/>
                <a:ea typeface="Arial"/>
                <a:cs typeface="Arial"/>
              </a:defRPr>
            </a:pPr>
            <a:r>
              <a:rPr sz="1950" b="1">
                <a:solidFill>
                  <a:srgbClr val="F6F3F5"/>
                </a:solidFill>
                <a:latin typeface="Arial"/>
                <a:ea typeface="Arial"/>
                <a:cs typeface="Arial"/>
              </a:rPr>
              <a:t>Examinar</a:t>
            </a:r>
          </a:p>
        </p:txBody>
      </p:sp>
      <p:sp>
        <p:nvSpPr>
          <p:cNvPr id="14" name="">
            <a:extLst xmlns:a="http://schemas.openxmlformats.org/drawingml/2006/main">
              <a:ext uri="{FF2B5EF4-FFF2-40B4-BE49-F238E27FC236}">
                <a16:creationId xmlns:a16="http://schemas.microsoft.com/office/drawing/2014/main" id="{F5CE2334-FEAE-47CE-8198-BD49C72A1447}"/>
              </a:ext>
            </a:extLst>
          </p:cNvPr>
          <p:cNvSpPr>
            <a:spLocks xmlns:a="http://schemas.openxmlformats.org/drawingml/2006/main" noGrp="1"/>
          </p:cNvSpPr>
          <p:nvPr/>
        </p:nvSpPr>
        <p:spPr>
          <a:xfrm xmlns:a="http://schemas.openxmlformats.org/drawingml/2006/main">
            <a:off x="7820025" y="5619750"/>
            <a:ext cx="3176588"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6CFD4"/>
                </a:solidFill>
                <a:latin typeface="Arial"/>
                <a:ea typeface="Arial"/>
                <a:cs typeface="Arial"/>
              </a:defRPr>
            </a:pPr>
            <a:r>
              <a:rPr sz="1725" b="0">
                <a:solidFill>
                  <a:srgbClr val="D6CFD4"/>
                </a:solidFill>
                <a:latin typeface="Arial"/>
                <a:ea typeface="Arial"/>
                <a:cs typeface="Arial"/>
              </a:rPr>
              <a:t>Veja o que encaixa e o que não encaixa.</a:t>
            </a:r>
          </a:p>
        </p:txBody>
      </p:sp>
      <p:sp>
        <p:nvSpPr>
          <p:cNvPr id="15" name="">
            <a:extLst xmlns:a="http://schemas.openxmlformats.org/drawingml/2006/main">
              <a:ext uri="{FF2B5EF4-FFF2-40B4-BE49-F238E27FC236}">
                <a16:creationId xmlns:a16="http://schemas.microsoft.com/office/drawing/2014/main" id="{3DB99872-160D-40BE-9325-431F0EEA24B1}"/>
              </a:ext>
            </a:extLst>
          </p:cNvPr>
          <p:cNvSpPr>
            <a:spLocks xmlns:a="http://schemas.openxmlformats.org/drawingml/2006/main" noGrp="1"/>
          </p:cNvSpPr>
          <p:nvPr/>
        </p:nvSpPr>
        <p:spPr>
          <a:xfrm xmlns:a="http://schemas.openxmlformats.org/drawingml/2006/main">
            <a:off x="11072813"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F9E21E5-C877-42A9-AB86-E3C4C5558D6D}"/>
              </a:ext>
            </a:extLst>
          </p:cNvPr>
          <p:cNvSpPr>
            <a:spLocks xmlns:a="http://schemas.openxmlformats.org/drawingml/2006/main" noGrp="1"/>
          </p:cNvSpPr>
          <p:nvPr/>
        </p:nvSpPr>
        <p:spPr>
          <a:xfrm xmlns:a="http://schemas.openxmlformats.org/drawingml/2006/main">
            <a:off x="11396663" y="4143375"/>
            <a:ext cx="3176588"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E7B5D4"/>
                </a:solidFill>
                <a:latin typeface="Arial"/>
                <a:ea typeface="Arial"/>
                <a:cs typeface="Arial"/>
              </a:defRPr>
            </a:pPr>
            <a:r>
              <a:rPr sz="1650" b="0">
                <a:solidFill>
                  <a:srgbClr val="E7B5D4"/>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05012906-B958-4012-B73D-2BBA97C5C162}"/>
              </a:ext>
            </a:extLst>
          </p:cNvPr>
          <p:cNvSpPr>
            <a:spLocks xmlns:a="http://schemas.openxmlformats.org/drawingml/2006/main" noGrp="1"/>
          </p:cNvSpPr>
          <p:nvPr/>
        </p:nvSpPr>
        <p:spPr>
          <a:xfrm xmlns:a="http://schemas.openxmlformats.org/drawingml/2006/main">
            <a:off x="11396663" y="4667250"/>
            <a:ext cx="3176588"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6F3F5"/>
                </a:solidFill>
                <a:latin typeface="Arial"/>
                <a:ea typeface="Arial"/>
                <a:cs typeface="Arial"/>
              </a:defRPr>
            </a:pPr>
            <a:r>
              <a:rPr sz="1950" b="1">
                <a:solidFill>
                  <a:srgbClr val="F6F3F5"/>
                </a:solidFill>
                <a:latin typeface="Arial"/>
                <a:ea typeface="Arial"/>
                <a:cs typeface="Arial"/>
              </a:rPr>
              <a:t>Ajustar</a:t>
            </a:r>
          </a:p>
        </p:txBody>
      </p:sp>
      <p:sp>
        <p:nvSpPr>
          <p:cNvPr id="18" name="">
            <a:extLst xmlns:a="http://schemas.openxmlformats.org/drawingml/2006/main">
              <a:ext uri="{FF2B5EF4-FFF2-40B4-BE49-F238E27FC236}">
                <a16:creationId xmlns:a16="http://schemas.microsoft.com/office/drawing/2014/main" id="{832AC00B-282F-4BBD-9878-4CEAAC95B8CB}"/>
              </a:ext>
            </a:extLst>
          </p:cNvPr>
          <p:cNvSpPr>
            <a:spLocks xmlns:a="http://schemas.openxmlformats.org/drawingml/2006/main" noGrp="1"/>
          </p:cNvSpPr>
          <p:nvPr/>
        </p:nvSpPr>
        <p:spPr>
          <a:xfrm xmlns:a="http://schemas.openxmlformats.org/drawingml/2006/main">
            <a:off x="11396663" y="5619750"/>
            <a:ext cx="3176588"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6CFD4"/>
                </a:solidFill>
                <a:latin typeface="Arial"/>
                <a:ea typeface="Arial"/>
                <a:cs typeface="Arial"/>
              </a:defRPr>
            </a:pPr>
            <a:r>
              <a:rPr sz="1725" b="0">
                <a:solidFill>
                  <a:srgbClr val="D6CFD4"/>
                </a:solidFill>
                <a:latin typeface="Arial"/>
                <a:ea typeface="Arial"/>
                <a:cs typeface="Arial"/>
              </a:rPr>
              <a:t>Dê uma orientação específica para a próxima versão.</a:t>
            </a:r>
          </a:p>
        </p:txBody>
      </p:sp>
      <p:sp>
        <p:nvSpPr>
          <p:cNvPr id="19" name="">
            <a:extLst xmlns:a="http://schemas.openxmlformats.org/drawingml/2006/main">
              <a:ext uri="{FF2B5EF4-FFF2-40B4-BE49-F238E27FC236}">
                <a16:creationId xmlns:a16="http://schemas.microsoft.com/office/drawing/2014/main" id="{A1962B67-C935-44EA-AE65-1B11EEA6FA1A}"/>
              </a:ext>
            </a:extLst>
          </p:cNvPr>
          <p:cNvSpPr>
            <a:spLocks xmlns:a="http://schemas.openxmlformats.org/drawingml/2006/main" noGrp="1"/>
          </p:cNvSpPr>
          <p:nvPr/>
        </p:nvSpPr>
        <p:spPr>
          <a:xfrm xmlns:a="http://schemas.openxmlformats.org/drawingml/2006/main">
            <a:off x="666750" y="7239000"/>
            <a:ext cx="1381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BFCEB8"/>
                </a:solidFill>
                <a:latin typeface="Arial"/>
                <a:ea typeface="Arial"/>
                <a:cs typeface="Arial"/>
              </a:defRPr>
            </a:pPr>
            <a:r>
              <a:rPr sz="1950" b="0">
                <a:solidFill>
                  <a:srgbClr val="BFCEB8"/>
                </a:solidFill>
                <a:latin typeface="Arial"/>
                <a:ea typeface="Arial"/>
                <a:cs typeface="Arial"/>
              </a:rPr>
              <a:t>Você pode começar com poucas palavras e construir clareza durante a conversa.</a:t>
            </a:r>
          </a:p>
        </p:txBody>
      </p:sp>
      <p:sp>
        <p:nvSpPr>
          <p:cNvPr id="20" name="">
            <a:extLst xmlns:a="http://schemas.openxmlformats.org/drawingml/2006/main">
              <a:ext uri="{FF2B5EF4-FFF2-40B4-BE49-F238E27FC236}">
                <a16:creationId xmlns:a16="http://schemas.microsoft.com/office/drawing/2014/main" id="{25208FA4-8E2E-48BE-9A13-00D7FAEF6F53}"/>
              </a:ext>
            </a:extLst>
          </p:cNvPr>
          <p:cNvSpPr>
            <a:spLocks xmlns:a="http://schemas.openxmlformats.org/drawingml/2006/main" noGrp="1"/>
          </p:cNvSpPr>
          <p:nvPr/>
        </p:nvSpPr>
        <p:spPr>
          <a:xfrm xmlns:a="http://schemas.openxmlformats.org/drawingml/2006/main">
            <a:off x="666750" y="8115300"/>
            <a:ext cx="1381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0ABB0"/>
                </a:solidFill>
                <a:latin typeface="Arial"/>
                <a:ea typeface="Arial"/>
                <a:cs typeface="Arial"/>
              </a:defRPr>
            </a:pPr>
            <a:r>
              <a:rPr sz="1275" b="0">
                <a:solidFill>
                  <a:srgbClr val="B0ABB0"/>
                </a:solidFill>
                <a:latin typeface="Arial"/>
                <a:ea typeface="Arial"/>
                <a:cs typeface="Arial"/>
              </a:rPr>
              <a:t>Emada Academy · Fundamentos · Aula 1 · 4/5</a:t>
            </a:r>
          </a:p>
        </p:txBody>
      </p:sp>
    </p:spTree>
    <p:extLst>
      <p:ext uri="{BB962C8B-B14F-4D97-AF65-F5344CB8AC3E}">
        <p14:creationId xmlns:p14="http://schemas.microsoft.com/office/powerpoint/2010/main" val="1409877204"/>
      </p:ext>
    </p:extLst>
  </p:cSld>
</p:sld>
</file>

<file path=ppt/slides/slide5.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5A13B14-ACA9-4280-A65A-FD9F1941158F}"/>
              </a:ext>
            </a:extLst>
          </p:cNvPr>
          <p:cNvSpPr>
            <a:spLocks xmlns:a="http://schemas.openxmlformats.org/drawingml/2006/main" noGrp="1"/>
          </p:cNvSpPr>
          <p:nvPr/>
        </p:nvSpPr>
        <p:spPr>
          <a:xfrm xmlns:a="http://schemas.openxmlformats.org/drawingml/2006/main">
            <a:off x="666750" y="523875"/>
            <a:ext cx="1381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0">
                <a:solidFill>
                  <a:srgbClr val="F6F3F5"/>
                </a:solidFill>
                <a:latin typeface="Arial"/>
                <a:ea typeface="Arial"/>
                <a:cs typeface="Arial"/>
              </a:defRPr>
            </a:pPr>
            <a:r>
              <a:rPr sz="3450" b="0">
                <a:solidFill>
                  <a:srgbClr val="F6F3F5"/>
                </a:solidFill>
                <a:latin typeface="Arial"/>
                <a:ea typeface="Arial"/>
                <a:cs typeface="Arial"/>
              </a:rPr>
              <a:t>Sua pergunta de partida</a:t>
            </a:r>
          </a:p>
        </p:txBody>
      </p:sp>
      <p:sp>
        <p:nvSpPr>
          <p:cNvPr id="2" name="">
            <a:extLst xmlns:a="http://schemas.openxmlformats.org/drawingml/2006/main">
              <a:ext uri="{FF2B5EF4-FFF2-40B4-BE49-F238E27FC236}">
                <a16:creationId xmlns:a16="http://schemas.microsoft.com/office/drawing/2014/main" id="{7BC69E2D-A234-4141-B3F9-ED44174C287C}"/>
              </a:ext>
            </a:extLst>
          </p:cNvPr>
          <p:cNvSpPr>
            <a:spLocks xmlns:a="http://schemas.openxmlformats.org/drawingml/2006/main" noGrp="1"/>
          </p:cNvSpPr>
          <p:nvPr/>
        </p:nvSpPr>
        <p:spPr>
          <a:xfrm xmlns:a="http://schemas.openxmlformats.org/drawingml/2006/main">
            <a:off x="666750" y="1762125"/>
            <a:ext cx="13620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D6CFD4"/>
                </a:solidFill>
                <a:latin typeface="Arial"/>
                <a:ea typeface="Arial"/>
                <a:cs typeface="Arial"/>
              </a:defRPr>
            </a:pPr>
            <a:r>
              <a:rPr sz="2025" b="0">
                <a:solidFill>
                  <a:srgbClr val="D6CFD4"/>
                </a:solidFill>
                <a:latin typeface="Arial"/>
                <a:ea typeface="Arial"/>
                <a:cs typeface="Arial"/>
              </a:rPr>
              <a:t>Antes de seguir, transforme sua curiosidade em uma pergunta que possa acompanhar você nas próximas aulas. Ela não precisa ser definitiva. Precisa apenas apontar para algo pequeno o bastante para experimentar agora.</a:t>
            </a:r>
          </a:p>
        </p:txBody>
      </p:sp>
      <p:sp>
        <p:nvSpPr>
          <p:cNvPr id="3" name="">
            <a:extLst xmlns:a="http://schemas.openxmlformats.org/drawingml/2006/main">
              <a:ext uri="{FF2B5EF4-FFF2-40B4-BE49-F238E27FC236}">
                <a16:creationId xmlns:a16="http://schemas.microsoft.com/office/drawing/2014/main" id="{EAB1B34D-2AA3-445A-9B64-ED2EB1457731}"/>
              </a:ext>
            </a:extLst>
          </p:cNvPr>
          <p:cNvSpPr>
            <a:spLocks xmlns:a="http://schemas.openxmlformats.org/drawingml/2006/main" noGrp="1"/>
          </p:cNvSpPr>
          <p:nvPr/>
        </p:nvSpPr>
        <p:spPr>
          <a:xfrm xmlns:a="http://schemas.openxmlformats.org/drawingml/2006/main">
            <a:off x="666750" y="3238500"/>
            <a:ext cx="1381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E7B5D4"/>
                </a:solidFill>
                <a:latin typeface="Arial"/>
                <a:ea typeface="Arial"/>
                <a:cs typeface="Arial"/>
              </a:defRPr>
            </a:pPr>
            <a:r>
              <a:rPr sz="2175" b="0">
                <a:solidFill>
                  <a:srgbClr val="E7B5D4"/>
                </a:solidFill>
                <a:latin typeface="Arial"/>
                <a:ea typeface="Arial"/>
                <a:cs typeface="Arial"/>
              </a:rPr>
              <a:t>Da vontade à pergunta</a:t>
            </a:r>
          </a:p>
        </p:txBody>
      </p:sp>
      <p:sp>
        <p:nvSpPr>
          <p:cNvPr id="4" name="">
            <a:extLst xmlns:a="http://schemas.openxmlformats.org/drawingml/2006/main">
              <a:ext uri="{FF2B5EF4-FFF2-40B4-BE49-F238E27FC236}">
                <a16:creationId xmlns:a16="http://schemas.microsoft.com/office/drawing/2014/main" id="{575E778D-D9D7-4D6F-A7F2-1745D9D51C41}"/>
              </a:ext>
            </a:extLst>
          </p:cNvPr>
          <p:cNvSpPr>
            <a:spLocks xmlns:a="http://schemas.openxmlformats.org/drawingml/2006/main" noGrp="1"/>
          </p:cNvSpPr>
          <p:nvPr/>
        </p:nvSpPr>
        <p:spPr>
          <a:xfrm xmlns:a="http://schemas.openxmlformats.org/drawingml/2006/main">
            <a:off x="6667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E7B5D4"/>
                </a:solidFill>
                <a:latin typeface="Arial"/>
                <a:ea typeface="Arial"/>
                <a:cs typeface="Arial"/>
              </a:defRPr>
            </a:pPr>
            <a:r>
              <a:rPr sz="1650" b="0">
                <a:solidFill>
                  <a:srgbClr val="E7B5D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E46D7AB6-1126-4761-B771-76411B1856D5}"/>
              </a:ext>
            </a:extLst>
          </p:cNvPr>
          <p:cNvSpPr>
            <a:spLocks xmlns:a="http://schemas.openxmlformats.org/drawingml/2006/main" noGrp="1"/>
          </p:cNvSpPr>
          <p:nvPr/>
        </p:nvSpPr>
        <p:spPr>
          <a:xfrm xmlns:a="http://schemas.openxmlformats.org/drawingml/2006/main">
            <a:off x="6667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6F3F5"/>
                </a:solidFill>
                <a:latin typeface="Arial"/>
                <a:ea typeface="Arial"/>
                <a:cs typeface="Arial"/>
              </a:defRPr>
            </a:pPr>
            <a:r>
              <a:rPr sz="1950" b="1">
                <a:solidFill>
                  <a:srgbClr val="F6F3F5"/>
                </a:solidFill>
                <a:latin typeface="Arial"/>
                <a:ea typeface="Arial"/>
                <a:cs typeface="Arial"/>
              </a:rPr>
              <a:t>Vontade</a:t>
            </a:r>
          </a:p>
        </p:txBody>
      </p:sp>
      <p:sp>
        <p:nvSpPr>
          <p:cNvPr id="6" name="">
            <a:extLst xmlns:a="http://schemas.openxmlformats.org/drawingml/2006/main">
              <a:ext uri="{FF2B5EF4-FFF2-40B4-BE49-F238E27FC236}">
                <a16:creationId xmlns:a16="http://schemas.microsoft.com/office/drawing/2014/main" id="{1E10AAD8-C0DC-44A5-AD26-D973583A9C58}"/>
              </a:ext>
            </a:extLst>
          </p:cNvPr>
          <p:cNvSpPr>
            <a:spLocks xmlns:a="http://schemas.openxmlformats.org/drawingml/2006/main" noGrp="1"/>
          </p:cNvSpPr>
          <p:nvPr/>
        </p:nvSpPr>
        <p:spPr>
          <a:xfrm xmlns:a="http://schemas.openxmlformats.org/drawingml/2006/main">
            <a:off x="6667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6CFD4"/>
                </a:solidFill>
                <a:latin typeface="Arial"/>
                <a:ea typeface="Arial"/>
                <a:cs typeface="Arial"/>
              </a:defRPr>
            </a:pPr>
            <a:r>
              <a:rPr sz="1725" b="0">
                <a:solidFill>
                  <a:srgbClr val="D6CFD4"/>
                </a:solidFill>
                <a:latin typeface="Arial"/>
                <a:ea typeface="Arial"/>
                <a:cs typeface="Arial"/>
              </a:rPr>
              <a:t>Quero melhorar meus vídeos.</a:t>
            </a:r>
          </a:p>
        </p:txBody>
      </p:sp>
      <p:sp>
        <p:nvSpPr>
          <p:cNvPr id="7" name="">
            <a:extLst xmlns:a="http://schemas.openxmlformats.org/drawingml/2006/main">
              <a:ext uri="{FF2B5EF4-FFF2-40B4-BE49-F238E27FC236}">
                <a16:creationId xmlns:a16="http://schemas.microsoft.com/office/drawing/2014/main" id="{689494D3-8004-4963-A735-4016F64BD66E}"/>
              </a:ext>
            </a:extLst>
          </p:cNvPr>
          <p:cNvSpPr>
            <a:spLocks xmlns:a="http://schemas.openxmlformats.org/drawingml/2006/main" noGrp="1"/>
          </p:cNvSpPr>
          <p:nvPr/>
        </p:nvSpPr>
        <p:spPr>
          <a:xfrm xmlns:a="http://schemas.openxmlformats.org/drawingml/2006/main">
            <a:off x="5111750"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7913DE4-4CD2-4A5D-8FA5-EF334EF1B1DB}"/>
              </a:ext>
            </a:extLst>
          </p:cNvPr>
          <p:cNvSpPr>
            <a:spLocks xmlns:a="http://schemas.openxmlformats.org/drawingml/2006/main" noGrp="1"/>
          </p:cNvSpPr>
          <p:nvPr/>
        </p:nvSpPr>
        <p:spPr>
          <a:xfrm xmlns:a="http://schemas.openxmlformats.org/drawingml/2006/main">
            <a:off x="543560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E7B5D4"/>
                </a:solidFill>
                <a:latin typeface="Arial"/>
                <a:ea typeface="Arial"/>
                <a:cs typeface="Arial"/>
              </a:defRPr>
            </a:pPr>
            <a:r>
              <a:rPr sz="1650" b="0">
                <a:solidFill>
                  <a:srgbClr val="E7B5D4"/>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B897A1A1-EF88-4D44-BBAB-21291F385151}"/>
              </a:ext>
            </a:extLst>
          </p:cNvPr>
          <p:cNvSpPr>
            <a:spLocks xmlns:a="http://schemas.openxmlformats.org/drawingml/2006/main" noGrp="1"/>
          </p:cNvSpPr>
          <p:nvPr/>
        </p:nvSpPr>
        <p:spPr>
          <a:xfrm xmlns:a="http://schemas.openxmlformats.org/drawingml/2006/main">
            <a:off x="543560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6F3F5"/>
                </a:solidFill>
                <a:latin typeface="Arial"/>
                <a:ea typeface="Arial"/>
                <a:cs typeface="Arial"/>
              </a:defRPr>
            </a:pPr>
            <a:r>
              <a:rPr sz="1950" b="1">
                <a:solidFill>
                  <a:srgbClr val="F6F3F5"/>
                </a:solidFill>
                <a:latin typeface="Arial"/>
                <a:ea typeface="Arial"/>
                <a:cs typeface="Arial"/>
              </a:rPr>
              <a:t>Recorte</a:t>
            </a:r>
          </a:p>
        </p:txBody>
      </p:sp>
      <p:sp>
        <p:nvSpPr>
          <p:cNvPr id="10" name="">
            <a:extLst xmlns:a="http://schemas.openxmlformats.org/drawingml/2006/main">
              <a:ext uri="{FF2B5EF4-FFF2-40B4-BE49-F238E27FC236}">
                <a16:creationId xmlns:a16="http://schemas.microsoft.com/office/drawing/2014/main" id="{CB1CD442-24D1-4B77-9336-059C99F13F51}"/>
              </a:ext>
            </a:extLst>
          </p:cNvPr>
          <p:cNvSpPr>
            <a:spLocks xmlns:a="http://schemas.openxmlformats.org/drawingml/2006/main" noGrp="1"/>
          </p:cNvSpPr>
          <p:nvPr/>
        </p:nvSpPr>
        <p:spPr>
          <a:xfrm xmlns:a="http://schemas.openxmlformats.org/drawingml/2006/main">
            <a:off x="543560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6CFD4"/>
                </a:solidFill>
                <a:latin typeface="Arial"/>
                <a:ea typeface="Arial"/>
                <a:cs typeface="Arial"/>
              </a:defRPr>
            </a:pPr>
            <a:r>
              <a:rPr sz="1725" b="0">
                <a:solidFill>
                  <a:srgbClr val="D6CFD4"/>
                </a:solidFill>
                <a:latin typeface="Arial"/>
                <a:ea typeface="Arial"/>
                <a:cs typeface="Arial"/>
              </a:rPr>
              <a:t>Preciso de três aberturas para um roteiro.</a:t>
            </a:r>
          </a:p>
        </p:txBody>
      </p:sp>
      <p:sp>
        <p:nvSpPr>
          <p:cNvPr id="11" name="">
            <a:extLst xmlns:a="http://schemas.openxmlformats.org/drawingml/2006/main">
              <a:ext uri="{FF2B5EF4-FFF2-40B4-BE49-F238E27FC236}">
                <a16:creationId xmlns:a16="http://schemas.microsoft.com/office/drawing/2014/main" id="{A0E26EFC-8189-4F5D-8ED3-AC6D83948E2D}"/>
              </a:ext>
            </a:extLst>
          </p:cNvPr>
          <p:cNvSpPr>
            <a:spLocks xmlns:a="http://schemas.openxmlformats.org/drawingml/2006/main" noGrp="1"/>
          </p:cNvSpPr>
          <p:nvPr/>
        </p:nvSpPr>
        <p:spPr>
          <a:xfrm xmlns:a="http://schemas.openxmlformats.org/drawingml/2006/main">
            <a:off x="9880600"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3DD1D88-BBCC-4ECD-A960-7AC067E69426}"/>
              </a:ext>
            </a:extLst>
          </p:cNvPr>
          <p:cNvSpPr>
            <a:spLocks xmlns:a="http://schemas.openxmlformats.org/drawingml/2006/main" noGrp="1"/>
          </p:cNvSpPr>
          <p:nvPr/>
        </p:nvSpPr>
        <p:spPr>
          <a:xfrm xmlns:a="http://schemas.openxmlformats.org/drawingml/2006/main">
            <a:off x="102044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E7B5D4"/>
                </a:solidFill>
                <a:latin typeface="Arial"/>
                <a:ea typeface="Arial"/>
                <a:cs typeface="Arial"/>
              </a:defRPr>
            </a:pPr>
            <a:r>
              <a:rPr sz="1650" b="0">
                <a:solidFill>
                  <a:srgbClr val="E7B5D4"/>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C78F1348-B5F3-4903-BD3E-15CBF2830234}"/>
              </a:ext>
            </a:extLst>
          </p:cNvPr>
          <p:cNvSpPr>
            <a:spLocks xmlns:a="http://schemas.openxmlformats.org/drawingml/2006/main" noGrp="1"/>
          </p:cNvSpPr>
          <p:nvPr/>
        </p:nvSpPr>
        <p:spPr>
          <a:xfrm xmlns:a="http://schemas.openxmlformats.org/drawingml/2006/main">
            <a:off x="102044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6F3F5"/>
                </a:solidFill>
                <a:latin typeface="Arial"/>
                <a:ea typeface="Arial"/>
                <a:cs typeface="Arial"/>
              </a:defRPr>
            </a:pPr>
            <a:r>
              <a:rPr sz="1950" b="1">
                <a:solidFill>
                  <a:srgbClr val="F6F3F5"/>
                </a:solidFill>
                <a:latin typeface="Arial"/>
                <a:ea typeface="Arial"/>
                <a:cs typeface="Arial"/>
              </a:rPr>
              <a:t>Critério</a:t>
            </a:r>
          </a:p>
        </p:txBody>
      </p:sp>
      <p:sp>
        <p:nvSpPr>
          <p:cNvPr id="14" name="">
            <a:extLst xmlns:a="http://schemas.openxmlformats.org/drawingml/2006/main">
              <a:ext uri="{FF2B5EF4-FFF2-40B4-BE49-F238E27FC236}">
                <a16:creationId xmlns:a16="http://schemas.microsoft.com/office/drawing/2014/main" id="{E672BB53-F29A-4E1D-9D66-85BEF87E5738}"/>
              </a:ext>
            </a:extLst>
          </p:cNvPr>
          <p:cNvSpPr>
            <a:spLocks xmlns:a="http://schemas.openxmlformats.org/drawingml/2006/main" noGrp="1"/>
          </p:cNvSpPr>
          <p:nvPr/>
        </p:nvSpPr>
        <p:spPr>
          <a:xfrm xmlns:a="http://schemas.openxmlformats.org/drawingml/2006/main">
            <a:off x="102044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D6CFD4"/>
                </a:solidFill>
                <a:latin typeface="Arial"/>
                <a:ea typeface="Arial"/>
                <a:cs typeface="Arial"/>
              </a:defRPr>
            </a:pPr>
            <a:r>
              <a:rPr sz="1725" b="0">
                <a:solidFill>
                  <a:srgbClr val="D6CFD4"/>
                </a:solidFill>
                <a:latin typeface="Arial"/>
                <a:ea typeface="Arial"/>
                <a:cs typeface="Arial"/>
              </a:rPr>
              <a:t>Vou conferir clareza e fidelidade ao tema.</a:t>
            </a:r>
          </a:p>
        </p:txBody>
      </p:sp>
      <p:sp>
        <p:nvSpPr>
          <p:cNvPr id="15" name="">
            <a:extLst xmlns:a="http://schemas.openxmlformats.org/drawingml/2006/main">
              <a:ext uri="{FF2B5EF4-FFF2-40B4-BE49-F238E27FC236}">
                <a16:creationId xmlns:a16="http://schemas.microsoft.com/office/drawing/2014/main" id="{EABC5A17-6021-446E-99CC-3D61E36EB5C0}"/>
              </a:ext>
            </a:extLst>
          </p:cNvPr>
          <p:cNvSpPr>
            <a:spLocks xmlns:a="http://schemas.openxmlformats.org/drawingml/2006/main" noGrp="1"/>
          </p:cNvSpPr>
          <p:nvPr/>
        </p:nvSpPr>
        <p:spPr>
          <a:xfrm xmlns:a="http://schemas.openxmlformats.org/drawingml/2006/main">
            <a:off x="666750" y="7239000"/>
            <a:ext cx="1381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BFCEB8"/>
                </a:solidFill>
                <a:latin typeface="Arial"/>
                <a:ea typeface="Arial"/>
                <a:cs typeface="Arial"/>
              </a:defRPr>
            </a:pPr>
            <a:r>
              <a:rPr sz="1950" b="0">
                <a:solidFill>
                  <a:srgbClr val="BFCEB8"/>
                </a:solidFill>
                <a:latin typeface="Arial"/>
                <a:ea typeface="Arial"/>
                <a:cs typeface="Arial"/>
              </a:rPr>
              <a:t>Sua primeira pergunta é um ponto de partida, não um compromisso para sempre.</a:t>
            </a:r>
          </a:p>
        </p:txBody>
      </p:sp>
      <p:sp>
        <p:nvSpPr>
          <p:cNvPr id="16" name="">
            <a:extLst xmlns:a="http://schemas.openxmlformats.org/drawingml/2006/main">
              <a:ext uri="{FF2B5EF4-FFF2-40B4-BE49-F238E27FC236}">
                <a16:creationId xmlns:a16="http://schemas.microsoft.com/office/drawing/2014/main" id="{DDB088D7-A423-46AA-9A01-99A818DD4A28}"/>
              </a:ext>
            </a:extLst>
          </p:cNvPr>
          <p:cNvSpPr>
            <a:spLocks xmlns:a="http://schemas.openxmlformats.org/drawingml/2006/main" noGrp="1"/>
          </p:cNvSpPr>
          <p:nvPr/>
        </p:nvSpPr>
        <p:spPr>
          <a:xfrm xmlns:a="http://schemas.openxmlformats.org/drawingml/2006/main">
            <a:off x="666750" y="8115300"/>
            <a:ext cx="1381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0ABB0"/>
                </a:solidFill>
                <a:latin typeface="Arial"/>
                <a:ea typeface="Arial"/>
                <a:cs typeface="Arial"/>
              </a:defRPr>
            </a:pPr>
            <a:r>
              <a:rPr sz="1275" b="0">
                <a:solidFill>
                  <a:srgbClr val="B0ABB0"/>
                </a:solidFill>
                <a:latin typeface="Arial"/>
                <a:ea typeface="Arial"/>
                <a:cs typeface="Arial"/>
              </a:rPr>
              <a:t>Emada Academy · Fundamentos · Aula 1 · 5/5</a:t>
            </a:r>
          </a:p>
        </p:txBody>
      </p:sp>
    </p:spTree>
    <p:extLst>
      <p:ext uri="{BB962C8B-B14F-4D97-AF65-F5344CB8AC3E}">
        <p14:creationId xmlns:p14="http://schemas.microsoft.com/office/powerpoint/2010/main" val="4909053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2026-09-14T20:54:59.7580000Z</dcterms:created>
  <dcterms:modified xsi:type="dcterms:W3CDTF">2026-09-14T20:54:59.7590000Z</dcterms:modified>
</coreProperties>
</file>