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2b24274c5747ec" /><Relationship Type="http://schemas.openxmlformats.org/officeDocument/2006/relationships/extended-properties" Target="/docProps/app.xml" Id="R3b3dc666f9174ec1" /><Relationship Type="http://schemas.openxmlformats.org/officeDocument/2006/relationships/officeDocument" Target="/ppt/presentation.xml" Id="R692f778c8c3c4ec7" /></Relationships>
</file>

<file path=ppt/presentation.xml><?xml version="1.0" encoding="utf-8"?>
<p:presentation xmlns:p="http://schemas.openxmlformats.org/presentationml/2006/main">
  <p:sldMasterIdLst>
    <p:sldMasterId xmlns:r="http://schemas.openxmlformats.org/officeDocument/2006/relationships" id="2147483648" r:id="Rfd94779d53cb420f"/>
  </p:sldMasterIdLst>
  <p:notesMasterIdLst>
    <p:notesMasterId xmlns:r="http://schemas.openxmlformats.org/officeDocument/2006/relationships" r:id="Rf450971cc3eb4993"/>
  </p:notesMasterIdLst>
  <p:sldIdLst>
    <p:sldId xmlns:r="http://schemas.openxmlformats.org/officeDocument/2006/relationships" id="256" r:id="R1d7994d20ace4cca"/>
    <p:sldId xmlns:r="http://schemas.openxmlformats.org/officeDocument/2006/relationships" id="257" r:id="R105972c58dde4fd8"/>
    <p:sldId xmlns:r="http://schemas.openxmlformats.org/officeDocument/2006/relationships" id="258" r:id="R4ad0949067234395"/>
    <p:sldId xmlns:r="http://schemas.openxmlformats.org/officeDocument/2006/relationships" id="259" r:id="R62491f6a4fc54830"/>
    <p:sldId xmlns:r="http://schemas.openxmlformats.org/officeDocument/2006/relationships" id="260" r:id="Re51d5873c021401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07839eb8d84c42" /><Relationship Type="http://schemas.openxmlformats.org/officeDocument/2006/relationships/slideMaster" Target="/ppt/slideMasters/slideMaster1.xml" Id="Rfd94779d53cb420f" /><Relationship Type="http://schemas.openxmlformats.org/officeDocument/2006/relationships/notesMaster" Target="/ppt/notesMasters/notesMaster1.xml" Id="Rf450971cc3eb4993" /><Relationship Type="http://schemas.openxmlformats.org/officeDocument/2006/relationships/presProps" Target="/ppt/presProps.xml" Id="R67fa708d0de94f55" /><Relationship Type="http://schemas.openxmlformats.org/officeDocument/2006/relationships/tableStyles" Target="/ppt/tableStyles.xml" Id="R7b2e1ca9ca134eba" /><Relationship Type="http://schemas.openxmlformats.org/officeDocument/2006/relationships/slide" Target="/ppt/slides/slide1.xml" Id="R1d7994d20ace4cca" /><Relationship Type="http://schemas.openxmlformats.org/officeDocument/2006/relationships/slide" Target="/ppt/slides/slide2.xml" Id="R105972c58dde4fd8" /><Relationship Type="http://schemas.openxmlformats.org/officeDocument/2006/relationships/slide" Target="/ppt/slides/slide3.xml" Id="R4ad0949067234395" /><Relationship Type="http://schemas.openxmlformats.org/officeDocument/2006/relationships/slide" Target="/ppt/slides/slide4.xml" Id="R62491f6a4fc54830" /><Relationship Type="http://schemas.openxmlformats.org/officeDocument/2006/relationships/slide" Target="/ppt/slides/slide5.xml" Id="Re51d5873c02140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06f2d2fcf842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c09c0fdbb84287" /><Relationship Type="http://schemas.openxmlformats.org/officeDocument/2006/relationships/notesMaster" Target="/ppt/notesMasters/notesMaster1.xml" Id="R5a44e3eeef5e45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c9e76388a7416f" /><Relationship Type="http://schemas.openxmlformats.org/officeDocument/2006/relationships/notesMaster" Target="/ppt/notesMasters/notesMaster1.xml" Id="Re12ffbeee2834f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4040c752644c03" /><Relationship Type="http://schemas.openxmlformats.org/officeDocument/2006/relationships/notesMaster" Target="/ppt/notesMasters/notesMaster1.xml" Id="R59a29f5df87d47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bc04a5038d4734" /><Relationship Type="http://schemas.openxmlformats.org/officeDocument/2006/relationships/notesMaster" Target="/ppt/notesMasters/notesMaster1.xml" Id="Rdb0627577c4243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fbe2d8d3ee4b28" /><Relationship Type="http://schemas.openxmlformats.org/officeDocument/2006/relationships/notesMaster" Target="/ppt/notesMasters/notesMaster1.xml" Id="R455222e811b742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Você não precisa procurar a aplicação mais impressionante de IA. Procure a pergunta que faria diferença no seu dia. Curiosidade fica mais fácil de sustentar quando nasce de uma situação que você reconhece.</a:t>
            </a:r>
          </a:p>
          <a:p xmlns:a="http://schemas.openxmlformats.org/drawingml/2006/main">
            <a:r>
              <a:t/>
            </a:r>
          </a:p>
          <a:p xmlns:a="http://schemas.openxmlformats.org/drawingml/2006/main">
            <a:r>
              <a:t>Observe o que costuma adiar, repetir ou fazer com esforço desnecessário. Pode ser começar um texto, escolher entre alternativas ou transformar notas soltas em uma sequência. Essas dificuldades não garantem que a IA será útil, mas oferecem hipóteses concretas para testar.</a:t>
            </a:r>
          </a:p>
          <a:p xmlns:a="http://schemas.openxmlformats.org/drawingml/2006/main">
            <a:r>
              <a:t/>
            </a:r>
          </a:p>
          <a:p xmlns:a="http://schemas.openxmlformats.org/drawingml/2006/main">
            <a:r>
              <a:t>Não confunda possibilidade com obrigação. Às vezes, uma lista no papel resolve melhor. Às vezes, conversar com uma pessoa é o que falta. O objetivo é ampliar seu repertório de escolhas, não colocar uma ferramenta entre você e tudo o que faz.</a:t>
            </a:r>
          </a:p>
          <a:p xmlns:a="http://schemas.openxmlformats.org/drawingml/2006/main">
            <a:r>
              <a:t/>
            </a:r>
          </a:p>
          <a:p xmlns:a="http://schemas.openxmlformats.org/drawingml/2006/main">
            <a:r>
              <a:t>Escolha uma porta de entrada. Não é necessário preencher todas para encontrar uma boa experiência.</a:t>
            </a:r>
          </a:p>
          <a:p xmlns:a="http://schemas.openxmlformats.org/drawingml/2006/main">
            <a:r>
              <a:t/>
            </a:r>
          </a:p>
          <a:p xmlns:a="http://schemas.openxmlformats.org/drawingml/2006/main">
            <a:r>
              <a:t>EXEMPLO FICTÍCIO: O incômodo como pista</a:t>
            </a:r>
          </a:p>
          <a:p xmlns:a="http://schemas.openxmlformats.org/drawingml/2006/main">
            <a:r>
              <a:t/>
            </a:r>
          </a:p>
          <a:p xmlns:a="http://schemas.openxmlformats.org/drawingml/2006/main">
            <a:r>
              <a:t>Bruno demora para começar convites porque tenta deixá-los perfeitos na primeira frase.</a:t>
            </a:r>
          </a:p>
          <a:p xmlns:a="http://schemas.openxmlformats.org/drawingml/2006/main">
            <a:r>
              <a:t/>
            </a:r>
          </a:p>
          <a:p xmlns:a="http://schemas.openxmlformats.org/drawingml/2006/main">
            <a:r>
              <a:t>Ele testa pedir três aberturas curtas e adapta uma ao próprio jeito de falar.</a:t>
            </a:r>
          </a:p>
          <a:p xmlns:a="http://schemas.openxmlformats.org/drawingml/2006/main">
            <a:r>
              <a:t/>
            </a:r>
          </a:p>
          <a:p xmlns:a="http://schemas.openxmlformats.org/drawingml/2006/main">
            <a:r>
              <a:t>O ganho que interessa não é receber um texto pronto para aceitar. É sair da página em branco. Bruno avalia se conseguiu começar e quanto precisou reescrever.</a:t>
            </a:r>
          </a:p>
          <a:p xmlns:a="http://schemas.openxmlformats.org/drawingml/2006/main">
            <a:r>
              <a:t/>
            </a:r>
          </a:p>
          <a:p xmlns:a="http://schemas.openxmlformats.org/drawingml/2006/main">
            <a:r>
              <a:t>REFLEXÃO: Qual pequeno incômodo você já resolveu tantas vezes que nem percebe mais?</a:t>
            </a:r>
          </a:p>
          <a:p xmlns:a="http://schemas.openxmlformats.org/drawingml/2006/main">
            <a:r>
              <a:t/>
            </a:r>
          </a:p>
          <a:p xmlns:a="http://schemas.openxmlformats.org/drawingml/2006/main">
            <a:r>
              <a:t>Talvez seja resumir recados, escolher um título ou explicar a mesma instrução. Descreva a tarefa antes de pensar no pedido. Essa descrição já ajuda a enxergar uma entrada e uma saída possíveis.</a:t>
            </a:r>
          </a:p>
          <a:p xmlns:a="http://schemas.openxmlformats.org/drawingml/2006/main">
            <a:r>
              <a:t/>
            </a:r>
          </a:p>
          <a:p xmlns:a="http://schemas.openxmlformats.org/drawingml/2006/main">
            <a:r>
              <a:t>IDEIA PRINCIPAL: Uma boa pergunta nasce da atenção à sua vida, não da comparação com a dos outros.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‘Quero usar IA’ ainda não diz qual problema será resolvido. Comece pela situação, pelo resultado desejado e por uma condição real. Só depois pergunte se a ferramenta pode participar de alguma parte desse trabalho.</a:t>
            </a:r>
          </a:p>
          <a:p xmlns:a="http://schemas.openxmlformats.org/drawingml/2006/main">
            <a:r>
              <a:t/>
            </a:r>
          </a:p>
          <a:p xmlns:a="http://schemas.openxmlformats.org/drawingml/2006/main">
            <a:r>
              <a:t>Considere organizar um passeio. O objetivo não é gerar o maior roteiro possível; é encontrar uma opção que caiba na disponibilidade do grupo. Uma ajuda possível seria listar critérios ou organizar preferências. Confirmar preços, horários e acessibilidade exige consultar informações atuais fora deste chat.</a:t>
            </a:r>
          </a:p>
          <a:p xmlns:a="http://schemas.openxmlformats.org/drawingml/2006/main">
            <a:r>
              <a:t/>
            </a:r>
          </a:p>
          <a:p xmlns:a="http://schemas.openxmlformats.org/drawingml/2006/main">
            <a:r>
              <a:t>Essa separação protege você de esperar a coisa errada da ferramenta. Também permite comparar com uma alternativa simples: se já sabe exatamente o que fazer e só precisa marcar um horário, abrir um calendário pode ser suficiente. O teste deve responder a uma necessidade, não criar trabalho novo.</a:t>
            </a:r>
          </a:p>
          <a:p xmlns:a="http://schemas.openxmlformats.org/drawingml/2006/main">
            <a:r>
              <a:t/>
            </a:r>
          </a:p>
          <a:p xmlns:a="http://schemas.openxmlformats.org/drawingml/2006/main">
            <a:r>
              <a:t>Informações atuais e decisões do grupo continuam fora dessa delegação.</a:t>
            </a:r>
          </a:p>
          <a:p xmlns:a="http://schemas.openxmlformats.org/drawingml/2006/main">
            <a:r>
              <a:t/>
            </a:r>
          </a:p>
          <a:p xmlns:a="http://schemas.openxmlformats.org/drawingml/2006/main">
            <a:r>
              <a:t>EXEMPLO FICTÍCIO: Separando organizar de confirmar</a:t>
            </a:r>
          </a:p>
          <a:p xmlns:a="http://schemas.openxmlformats.org/drawingml/2006/main">
            <a:r>
              <a:t/>
            </a:r>
          </a:p>
          <a:p xmlns:a="http://schemas.openxmlformats.org/drawingml/2006/main">
            <a:r>
              <a:t>O grupo quer um passeio barato e com pouca caminhada.</a:t>
            </a:r>
          </a:p>
          <a:p xmlns:a="http://schemas.openxmlformats.org/drawingml/2006/main">
            <a:r>
              <a:t/>
            </a:r>
          </a:p>
          <a:p xmlns:a="http://schemas.openxmlformats.org/drawingml/2006/main">
            <a:r>
              <a:t>‘Crie uma lista de perguntas para escolher uma atividade. Considere duração, deslocamento, custo e necessidade de lugares para sentar.’</a:t>
            </a:r>
          </a:p>
          <a:p xmlns:a="http://schemas.openxmlformats.org/drawingml/2006/main">
            <a:r>
              <a:t/>
            </a:r>
          </a:p>
          <a:p xmlns:a="http://schemas.openxmlformats.org/drawingml/2006/main">
            <a:r>
              <a:t>A lista pode apoiar a conversa do grupo sem apresentar como fatos preços ou condições de um local. Depois, alguém verifica as informações reais antes de decidir.</a:t>
            </a:r>
          </a:p>
          <a:p xmlns:a="http://schemas.openxmlformats.org/drawingml/2006/main">
            <a:r>
              <a:t/>
            </a:r>
          </a:p>
          <a:p xmlns:a="http://schemas.openxmlformats.org/drawingml/2006/main">
            <a:r>
              <a:t>REFLEXÃO: Em ‘planejar uma viagem inteira’, qual pedaço você conseguiria testar em dez minutos?</a:t>
            </a:r>
          </a:p>
          <a:p xmlns:a="http://schemas.openxmlformats.org/drawingml/2006/main">
            <a:r>
              <a:t/>
            </a:r>
          </a:p>
          <a:p xmlns:a="http://schemas.openxmlformats.org/drawingml/2006/main">
            <a:r>
              <a:t>Uma possibilidade é organizar preferências em uma lista de critérios. Outra é revisar uma lista de itens para levar. Reservas e informações atuais não precisam entrar nesse primeiro teste.</a:t>
            </a:r>
          </a:p>
          <a:p xmlns:a="http://schemas.openxmlformats.org/drawingml/2006/main">
            <a:r>
              <a:t/>
            </a:r>
          </a:p>
          <a:p xmlns:a="http://schemas.openxmlformats.org/drawingml/2006/main">
            <a:r>
              <a:t>IDEIA PRINCIPAL: Defina o trabalho antes de escolher quem — ou o que — vai ajudar.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 exemplo não precisa ser copiado ao pé da letra. Você pode aproveitar a estrutura que está por trás dele. Organizar uma viagem e planejar uma tarde em família têm algo em comum: conciliar preferências com limites.</a:t>
            </a:r>
          </a:p>
          <a:p xmlns:a="http://schemas.openxmlformats.org/drawingml/2006/main">
            <a:r>
              <a:t/>
            </a:r>
          </a:p>
          <a:p xmlns:a="http://schemas.openxmlformats.org/drawingml/2006/main">
            <a:r>
              <a:t>Quando vir uma aplicação interessante, pergunte qual transformação aconteceu. Notas viraram um resumo? Uma ideia virou alternativas? Um texto ficou adequado a outro público? Essa transformação costuma ser mais transferível do que as palavras exatas do pedido.</a:t>
            </a:r>
          </a:p>
          <a:p xmlns:a="http://schemas.openxmlformats.org/drawingml/2006/main">
            <a:r>
              <a:t/>
            </a:r>
          </a:p>
          <a:p xmlns:a="http://schemas.openxmlformats.org/drawingml/2006/main">
            <a:r>
              <a:t>Depois, substitua contexto, escala e critério. Um plano de sete dias pode virar uma atividade de duas horas. Um texto profissional pode virar um convite informal. A adaptação é sua: você conhece as diferenças que tornam o exemplo relevante para sua situação.</a:t>
            </a:r>
          </a:p>
          <a:p xmlns:a="http://schemas.openxmlformats.org/drawingml/2006/main">
            <a:r>
              <a:t/>
            </a:r>
          </a:p>
          <a:p xmlns:a="http://schemas.openxmlformats.org/drawingml/2006/main">
            <a:r>
              <a:t>A semelhança está no tipo de tarefa. Os detalhes precisam mudar com o contexto.</a:t>
            </a:r>
          </a:p>
          <a:p xmlns:a="http://schemas.openxmlformats.org/drawingml/2006/main">
            <a:r>
              <a:t/>
            </a:r>
          </a:p>
          <a:p xmlns:a="http://schemas.openxmlformats.org/drawingml/2006/main">
            <a:r>
              <a:t>EXEMPLO FICTÍCIO: Da apresentação ao convite</a:t>
            </a:r>
          </a:p>
          <a:p xmlns:a="http://schemas.openxmlformats.org/drawingml/2006/main">
            <a:r>
              <a:t/>
            </a:r>
          </a:p>
          <a:p xmlns:a="http://schemas.openxmlformats.org/drawingml/2006/main">
            <a:r>
              <a:t>Você viu alguém pedir três maneiras de abrir uma apresentação.</a:t>
            </a:r>
          </a:p>
          <a:p xmlns:a="http://schemas.openxmlformats.org/drawingml/2006/main">
            <a:r>
              <a:t/>
            </a:r>
          </a:p>
          <a:p xmlns:a="http://schemas.openxmlformats.org/drawingml/2006/main">
            <a:r>
              <a:t>‘Escreva três aberturas de até duas frases para um convite de piquenique fictício: uma direta, uma divertida e uma acolhedora.’</a:t>
            </a:r>
          </a:p>
          <a:p xmlns:a="http://schemas.openxmlformats.org/drawingml/2006/main">
            <a:r>
              <a:t/>
            </a:r>
          </a:p>
          <a:p xmlns:a="http://schemas.openxmlformats.org/drawingml/2006/main">
            <a:r>
              <a:t>A estrutura ‘três alternativas com variações’ foi preservada. Público, formato e tom mudaram. Você pode combinar trechos, rejeitar todos ou escrever uma quarta opção a partir deles.</a:t>
            </a:r>
          </a:p>
          <a:p xmlns:a="http://schemas.openxmlformats.org/drawingml/2006/main">
            <a:r>
              <a:t/>
            </a:r>
          </a:p>
          <a:p xmlns:a="http://schemas.openxmlformats.org/drawingml/2006/main">
            <a:r>
              <a:t>REFLEXÃO: Como adaptar ‘resumir uma reunião’ para uma atividade pessoal?</a:t>
            </a:r>
          </a:p>
          <a:p xmlns:a="http://schemas.openxmlformats.org/drawingml/2006/main">
            <a:r>
              <a:t/>
            </a:r>
          </a:p>
          <a:p xmlns:a="http://schemas.openxmlformats.org/drawingml/2006/main">
            <a:r>
              <a:t>Você pode resumir suas próprias notas de estudo ou organizar recados de um evento fictício. Em ambos os casos, forneça o material e confira se o resumo preservou o que importa, sem acrescentar compromissos inexistentes.</a:t>
            </a:r>
          </a:p>
          <a:p xmlns:a="http://schemas.openxmlformats.org/drawingml/2006/main">
            <a:r>
              <a:t/>
            </a:r>
          </a:p>
          <a:p xmlns:a="http://schemas.openxmlformats.org/drawingml/2006/main">
            <a:r>
              <a:t>IDEIA PRINCIPAL: Quando você entende a estrutura de um exemplo, ganha mais do que um pedido para copiar.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Uma folha dividida em três áreas pode revelar mais oportunidades do que uma lista de ferramentas: coisas que você faz, coisas que quer entender e coisas que tem vontade de criar. Procure situações específicas em cada área.</a:t>
            </a:r>
          </a:p>
          <a:p xmlns:a="http://schemas.openxmlformats.org/drawingml/2006/main">
            <a:r>
              <a:t/>
            </a:r>
          </a:p>
          <a:p xmlns:a="http://schemas.openxmlformats.org/drawingml/2006/main">
            <a:r>
              <a:t>Na rotina, pense em transformar material que já existe: organizar anotações, reescrever um aviso ou extrair perguntas de um texto. Na curiosidade, busque explicações que possa conferir. Na criação, experimente variações de títulos, ideias para uma história ou um pequeno plano para um hobby.</a:t>
            </a:r>
          </a:p>
          <a:p xmlns:a="http://schemas.openxmlformats.org/drawingml/2006/main">
            <a:r>
              <a:t/>
            </a:r>
          </a:p>
          <a:p xmlns:a="http://schemas.openxmlformats.org/drawingml/2006/main">
            <a:r>
              <a:t>Faça uma lista sem decidir imediatamente se cada ideia é boa. Em seguida, marque as que usam informações não sensíveis e permitem avaliar o resultado. Se uma ideia envolve consequências importantes ou dados privados, recorte uma parte fictícia e de baixo risco para aprender.</a:t>
            </a:r>
          </a:p>
          <a:p xmlns:a="http://schemas.openxmlformats.org/drawingml/2006/main">
            <a:r>
              <a:t/>
            </a:r>
          </a:p>
          <a:p xmlns:a="http://schemas.openxmlformats.org/drawingml/2006/main">
            <a:r>
              <a:t>As setas indicam mudanças no material. Para cada uma, pergunte o que você precisaria fornecer e conferir.</a:t>
            </a:r>
          </a:p>
          <a:p xmlns:a="http://schemas.openxmlformats.org/drawingml/2006/main">
            <a:r>
              <a:t/>
            </a:r>
          </a:p>
          <a:p xmlns:a="http://schemas.openxmlformats.org/drawingml/2006/main">
            <a:r>
              <a:t>EXEMPLO FICTÍCIO: O que entra e o que fica de fora</a:t>
            </a:r>
          </a:p>
          <a:p xmlns:a="http://schemas.openxmlformats.org/drawingml/2006/main">
            <a:r>
              <a:t/>
            </a:r>
          </a:p>
          <a:p xmlns:a="http://schemas.openxmlformats.org/drawingml/2006/main">
            <a:r>
              <a:t>Uma pessoa quer organizar mensagens de clientes, mas elas contêm nomes e dados privados.</a:t>
            </a:r>
          </a:p>
          <a:p xmlns:a="http://schemas.openxmlformats.org/drawingml/2006/main">
            <a:r>
              <a:t/>
            </a:r>
          </a:p>
          <a:p xmlns:a="http://schemas.openxmlformats.org/drawingml/2006/main">
            <a:r>
              <a:t>Para aprender, inventa cinco mensagens com situações parecidas, sem reproduzir dados reais.</a:t>
            </a:r>
          </a:p>
          <a:p xmlns:a="http://schemas.openxmlformats.org/drawingml/2006/main">
            <a:r>
              <a:t/>
            </a:r>
          </a:p>
          <a:p xmlns:a="http://schemas.openxmlformats.org/drawingml/2006/main">
            <a:r>
              <a:t>Assim ela consegue testar uma classificação por assunto. O exercício não autoriza depois o uso de dados reais: isso exigiria avaliar regras, permissões e proteções apropriadas ao contexto.</a:t>
            </a:r>
          </a:p>
          <a:p xmlns:a="http://schemas.openxmlformats.org/drawingml/2006/main">
            <a:r>
              <a:t/>
            </a:r>
          </a:p>
          <a:p xmlns:a="http://schemas.openxmlformats.org/drawingml/2006/main">
            <a:r>
              <a:t>REFLEXÃO: Escolha uma possibilidade. Qual é a entrada e qual é a saída?</a:t>
            </a:r>
          </a:p>
          <a:p xmlns:a="http://schemas.openxmlformats.org/drawingml/2006/main">
            <a:r>
              <a:t/>
            </a:r>
          </a:p>
          <a:p xmlns:a="http://schemas.openxmlformats.org/drawingml/2006/main">
            <a:r>
              <a:t>Exemplo: entrada = seis notas fictícias sobre um encontro; saída = uma lista de tarefas, sem inventar responsáveis. Se estiver difícil nomear a saída, reduza ou esclareça a tarefa antes de conversar.</a:t>
            </a:r>
          </a:p>
          <a:p xmlns:a="http://schemas.openxmlformats.org/drawingml/2006/main">
            <a:r>
              <a:t/>
            </a:r>
          </a:p>
          <a:p xmlns:a="http://schemas.openxmlformats.org/drawingml/2006/main">
            <a:r>
              <a:t>IDEIA PRINCIPAL: Olhe para transformações pequenas: de confuso para organizado, de vago para concreto.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Agora você vai abrir o leque e depois fechá-lo. Liste dez possibilidades de ajuda; se travar, escreva três e acrescente as demais aos poucos. A lista é um exercício de observação, não uma competição de criatividade.</a:t>
            </a:r>
          </a:p>
          <a:p xmlns:a="http://schemas.openxmlformats.org/drawingml/2006/main">
            <a:r>
              <a:t/>
            </a:r>
          </a:p>
          <a:p xmlns:a="http://schemas.openxmlformats.org/drawingml/2006/main">
            <a:r>
              <a:t>Escolha usando três perguntas: isso me interessa? Cabe em um teste curto? Consigo avaliar a resposta sem depender da palavra da própria IA? Prefira uma ideia que passe pelas três. A mais ambiciosa pode ficar guardada para quando você tiver mais repertório.</a:t>
            </a:r>
          </a:p>
          <a:p xmlns:a="http://schemas.openxmlformats.org/drawingml/2006/main">
            <a:r>
              <a:t/>
            </a:r>
          </a:p>
          <a:p xmlns:a="http://schemas.openxmlformats.org/drawingml/2006/main">
            <a:r>
              <a:t>Transforme a escolhida em um pequeno acordo consigo: ‘Vou testar X, usando Y, e olhar para Z’. Esse compromisso delimita o experimento. Não é preciso provar que a ferramenta funciona para tudo. Você quer descobrir se ela ajuda naquela situação, do jeito que foi testada.</a:t>
            </a:r>
          </a:p>
          <a:p xmlns:a="http://schemas.openxmlformats.org/drawingml/2006/main">
            <a:r>
              <a:t/>
            </a:r>
          </a:p>
          <a:p xmlns:a="http://schemas.openxmlformats.org/drawingml/2006/main">
            <a:r>
              <a:t>As ideias que ficaram de fora não foram perdidas. Elas formam seu banco de próximos testes.</a:t>
            </a:r>
          </a:p>
          <a:p xmlns:a="http://schemas.openxmlformats.org/drawingml/2006/main">
            <a:r>
              <a:t/>
            </a:r>
          </a:p>
          <a:p xmlns:a="http://schemas.openxmlformats.org/drawingml/2006/main">
            <a:r>
              <a:t>EXEMPLO FICTÍCIO: Comparando duas candidatas</a:t>
            </a:r>
          </a:p>
          <a:p xmlns:a="http://schemas.openxmlformats.org/drawingml/2006/main">
            <a:r>
              <a:t/>
            </a:r>
          </a:p>
          <a:p xmlns:a="http://schemas.openxmlformats.org/drawingml/2006/main">
            <a:r>
              <a:t>‘Reinventar minha carreira’ disputa espaço com ‘reescrever um convite em tom acolhedor’.</a:t>
            </a:r>
          </a:p>
          <a:p xmlns:a="http://schemas.openxmlformats.org/drawingml/2006/main">
            <a:r>
              <a:t/>
            </a:r>
          </a:p>
          <a:p xmlns:a="http://schemas.openxmlformats.org/drawingml/2006/main">
            <a:r>
              <a:t>Para esta prática, a pessoa escolhe o convite: duas frases, sem formalidade excessiva e sem inventar detalhes do evento.</a:t>
            </a:r>
          </a:p>
          <a:p xmlns:a="http://schemas.openxmlformats.org/drawingml/2006/main">
            <a:r>
              <a:t/>
            </a:r>
          </a:p>
          <a:p xmlns:a="http://schemas.openxmlformats.org/drawingml/2006/main">
            <a:r>
              <a:t>O tema maior não é menos importante; só exige outro tipo de cuidado e um recorte diferente. O convite oferece um ciclo curto de pedir, comparar e revisar.</a:t>
            </a:r>
          </a:p>
          <a:p xmlns:a="http://schemas.openxmlformats.org/drawingml/2006/main">
            <a:r>
              <a:t/>
            </a:r>
          </a:p>
          <a:p xmlns:a="http://schemas.openxmlformats.org/drawingml/2006/main">
            <a:r>
              <a:t>PEDIDO PARA ADAPTAR: Quero criar três versões curtas de um convite para um clube de leitura fictício. O encontro será sábado às 16h. Use um tom acolhedor, no máximo duas frases por versão e não invente local ou outras informações.</a:t>
            </a:r>
          </a:p>
          <a:p xmlns:a="http://schemas.openxmlformats.org/drawingml/2006/main">
            <a:r>
              <a:t/>
            </a:r>
          </a:p>
          <a:p xmlns:a="http://schemas.openxmlformats.org/drawingml/2006/main">
            <a:r>
              <a:t>REFLEXÃO: Complete: ‘Vou testar… e vou reconhecer uma boa resposta quando…’</a:t>
            </a:r>
          </a:p>
          <a:p xmlns:a="http://schemas.openxmlformats.org/drawingml/2006/main">
            <a:r>
              <a:t/>
            </a:r>
          </a:p>
          <a:p xmlns:a="http://schemas.openxmlformats.org/drawingml/2006/main">
            <a:r>
              <a:t>Uma opção: ‘Vou testar três títulos para meu clube de leitura e reconhecer uma boa resposta quando o título for curto, compreensível e combinar com o grupo.’ Você acabou de criar um critério verificável.</a:t>
            </a:r>
          </a:p>
          <a:p xmlns:a="http://schemas.openxmlformats.org/drawingml/2006/main">
            <a:r>
              <a:t/>
            </a:r>
          </a:p>
          <a:p xmlns:a="http://schemas.openxmlformats.org/drawingml/2006/main">
            <a:r>
              <a:t>IDEIA PRINCIPAL: Escolher uma possibilidade é dar à sua curiosidade a chance de encontrar a realidade.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d63688d09c4e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aa3d2dd0d74319" /><Relationship Type="http://schemas.openxmlformats.org/officeDocument/2006/relationships/slideLayout" Target="/ppt/slideLayouts/slideLayout1.xml" Id="R013cb020c5c848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3cb020c5c848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ffb10adc564193" /><Relationship Type="http://schemas.openxmlformats.org/officeDocument/2006/relationships/notesSlide" Target="/ppt/notesSlides/notesSlide1.xml" Id="Ra1f4a56e31de49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8a210af2a844d6" /><Relationship Type="http://schemas.openxmlformats.org/officeDocument/2006/relationships/notesSlide" Target="/ppt/notesSlides/notesSlide2.xml" Id="R8e975d5b791e44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bc197544ae48f9" /><Relationship Type="http://schemas.openxmlformats.org/officeDocument/2006/relationships/notesSlide" Target="/ppt/notesSlides/notesSlide3.xml" Id="R0c0854d4706b4b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6970c178244e44" /><Relationship Type="http://schemas.openxmlformats.org/officeDocument/2006/relationships/notesSlide" Target="/ppt/notesSlides/notesSlide4.xml" Id="R07a694b6695349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2c5cc10d354d47" /><Relationship Type="http://schemas.openxmlformats.org/officeDocument/2006/relationships/notesSlide" Target="/ppt/notesSlides/notesSlide5.xml" Id="Ra1b16682a4cb4515"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896670-5203-4EAC-B441-C741B81B3849}"/>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Qual é a sua pergunta?</a:t>
            </a:r>
          </a:p>
        </p:txBody>
      </p:sp>
      <p:sp>
        <p:nvSpPr>
          <p:cNvPr id="2" name="">
            <a:extLst xmlns:a="http://schemas.openxmlformats.org/drawingml/2006/main">
              <a:ext uri="{FF2B5EF4-FFF2-40B4-BE49-F238E27FC236}">
                <a16:creationId xmlns:a16="http://schemas.microsoft.com/office/drawing/2014/main" id="{DD8C5024-CE7E-43BE-90E1-AF3E923651EF}"/>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Você não precisa procurar a aplicação mais impressionante de IA. Procure a pergunta que faria diferença no seu dia. Curiosidade fica mais fácil de sustentar quando nasce de uma situação que você reconhece.</a:t>
            </a:r>
          </a:p>
        </p:txBody>
      </p:sp>
      <p:sp>
        <p:nvSpPr>
          <p:cNvPr id="3" name="">
            <a:extLst xmlns:a="http://schemas.openxmlformats.org/drawingml/2006/main">
              <a:ext uri="{FF2B5EF4-FFF2-40B4-BE49-F238E27FC236}">
                <a16:creationId xmlns:a16="http://schemas.microsoft.com/office/drawing/2014/main" id="{18184DA9-000D-4019-B6CD-228638E2C96A}"/>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Três lugares para encontrar perguntas</a:t>
            </a:r>
          </a:p>
        </p:txBody>
      </p:sp>
      <p:sp>
        <p:nvSpPr>
          <p:cNvPr id="4" name="">
            <a:extLst xmlns:a="http://schemas.openxmlformats.org/drawingml/2006/main">
              <a:ext uri="{FF2B5EF4-FFF2-40B4-BE49-F238E27FC236}">
                <a16:creationId xmlns:a16="http://schemas.microsoft.com/office/drawing/2014/main" id="{DC333FDE-09E4-4F09-94CE-1491675D20AD}"/>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8FED9E8-EE4C-4260-A921-EA2E7B5559B4}"/>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Atrito</a:t>
            </a:r>
          </a:p>
        </p:txBody>
      </p:sp>
      <p:sp>
        <p:nvSpPr>
          <p:cNvPr id="6" name="">
            <a:extLst xmlns:a="http://schemas.openxmlformats.org/drawingml/2006/main">
              <a:ext uri="{FF2B5EF4-FFF2-40B4-BE49-F238E27FC236}">
                <a16:creationId xmlns:a16="http://schemas.microsoft.com/office/drawing/2014/main" id="{9CEC331A-11CF-4707-9D71-D42984E9B655}"/>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 que sempre me faz travar ou adiar?</a:t>
            </a:r>
          </a:p>
        </p:txBody>
      </p:sp>
      <p:sp>
        <p:nvSpPr>
          <p:cNvPr id="7" name="">
            <a:extLst xmlns:a="http://schemas.openxmlformats.org/drawingml/2006/main">
              <a:ext uri="{FF2B5EF4-FFF2-40B4-BE49-F238E27FC236}">
                <a16:creationId xmlns:a16="http://schemas.microsoft.com/office/drawing/2014/main" id="{D3CB1FE3-7D73-42BE-968D-55E2A0AE253C}"/>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B029B59-992A-49B3-AE19-30AED57365CE}"/>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Curiosidade</a:t>
            </a:r>
          </a:p>
        </p:txBody>
      </p:sp>
      <p:sp>
        <p:nvSpPr>
          <p:cNvPr id="9" name="">
            <a:extLst xmlns:a="http://schemas.openxmlformats.org/drawingml/2006/main">
              <a:ext uri="{FF2B5EF4-FFF2-40B4-BE49-F238E27FC236}">
                <a16:creationId xmlns:a16="http://schemas.microsoft.com/office/drawing/2014/main" id="{D14B06B7-E202-4D56-883E-45DD9F4159B6}"/>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 que eu gostaria de entender melhor?</a:t>
            </a:r>
          </a:p>
        </p:txBody>
      </p:sp>
      <p:sp>
        <p:nvSpPr>
          <p:cNvPr id="10" name="">
            <a:extLst xmlns:a="http://schemas.openxmlformats.org/drawingml/2006/main">
              <a:ext uri="{FF2B5EF4-FFF2-40B4-BE49-F238E27FC236}">
                <a16:creationId xmlns:a16="http://schemas.microsoft.com/office/drawing/2014/main" id="{1387968D-48B7-487D-A10D-62E03CD25788}"/>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653A0E4-ED0F-487B-A72D-166ADBC43C00}"/>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Criação</a:t>
            </a:r>
          </a:p>
        </p:txBody>
      </p:sp>
      <p:sp>
        <p:nvSpPr>
          <p:cNvPr id="12" name="">
            <a:extLst xmlns:a="http://schemas.openxmlformats.org/drawingml/2006/main">
              <a:ext uri="{FF2B5EF4-FFF2-40B4-BE49-F238E27FC236}">
                <a16:creationId xmlns:a16="http://schemas.microsoft.com/office/drawing/2014/main" id="{4910CFB4-6633-4CDA-8DFA-03BD22FA7873}"/>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 que tenho vontade de tirar do papel?</a:t>
            </a:r>
          </a:p>
        </p:txBody>
      </p:sp>
      <p:sp>
        <p:nvSpPr>
          <p:cNvPr id="13" name="">
            <a:extLst xmlns:a="http://schemas.openxmlformats.org/drawingml/2006/main">
              <a:ext uri="{FF2B5EF4-FFF2-40B4-BE49-F238E27FC236}">
                <a16:creationId xmlns:a16="http://schemas.microsoft.com/office/drawing/2014/main" id="{6EDAE357-1F84-410C-B18C-B5E5B65EF732}"/>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Uma boa pergunta nasce da atenção à sua vida, não da comparação com a dos outros.</a:t>
            </a:r>
          </a:p>
        </p:txBody>
      </p:sp>
      <p:sp>
        <p:nvSpPr>
          <p:cNvPr id="14" name="">
            <a:extLst xmlns:a="http://schemas.openxmlformats.org/drawingml/2006/main">
              <a:ext uri="{FF2B5EF4-FFF2-40B4-BE49-F238E27FC236}">
                <a16:creationId xmlns:a16="http://schemas.microsoft.com/office/drawing/2014/main" id="{E2FB385D-3515-4ABA-BE89-3613C8C0D8B0}"/>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2 · 1/5</a:t>
            </a:r>
          </a:p>
        </p:txBody>
      </p:sp>
    </p:spTree>
    <p:extLst>
      <p:ext uri="{BB962C8B-B14F-4D97-AF65-F5344CB8AC3E}">
        <p14:creationId xmlns:p14="http://schemas.microsoft.com/office/powerpoint/2010/main" val="1373665584"/>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5D23A6F-E3A3-4493-8AEE-D93FE752957C}"/>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Uma situação antes da ferramenta</a:t>
            </a:r>
          </a:p>
        </p:txBody>
      </p:sp>
      <p:sp>
        <p:nvSpPr>
          <p:cNvPr id="2" name="">
            <a:extLst xmlns:a="http://schemas.openxmlformats.org/drawingml/2006/main">
              <a:ext uri="{FF2B5EF4-FFF2-40B4-BE49-F238E27FC236}">
                <a16:creationId xmlns:a16="http://schemas.microsoft.com/office/drawing/2014/main" id="{EC4BD0E3-FA28-4613-A3CF-1460FA882729}"/>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‘Quero usar IA’ ainda não diz qual problema será resolvido. Comece pela situação, pelo resultado desejado e por uma condição real. Só depois pergunte se a ferramenta pode participar de alguma parte desse trabalho.</a:t>
            </a:r>
          </a:p>
        </p:txBody>
      </p:sp>
      <p:sp>
        <p:nvSpPr>
          <p:cNvPr id="3" name="">
            <a:extLst xmlns:a="http://schemas.openxmlformats.org/drawingml/2006/main">
              <a:ext uri="{FF2B5EF4-FFF2-40B4-BE49-F238E27FC236}">
                <a16:creationId xmlns:a16="http://schemas.microsoft.com/office/drawing/2014/main" id="{4609388A-3335-4C6A-943E-17F65A8B982C}"/>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Antes de abrir o chat</a:t>
            </a:r>
          </a:p>
        </p:txBody>
      </p:sp>
      <p:sp>
        <p:nvSpPr>
          <p:cNvPr id="4" name="">
            <a:extLst xmlns:a="http://schemas.openxmlformats.org/drawingml/2006/main">
              <a:ext uri="{FF2B5EF4-FFF2-40B4-BE49-F238E27FC236}">
                <a16:creationId xmlns:a16="http://schemas.microsoft.com/office/drawing/2014/main" id="{71361856-64C0-47DD-A9AE-5C21EB15A2DE}"/>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47B1076-ADDE-4D58-93B2-382A94ACEE2A}"/>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Situação</a:t>
            </a:r>
          </a:p>
        </p:txBody>
      </p:sp>
      <p:sp>
        <p:nvSpPr>
          <p:cNvPr id="6" name="">
            <a:extLst xmlns:a="http://schemas.openxmlformats.org/drawingml/2006/main">
              <a:ext uri="{FF2B5EF4-FFF2-40B4-BE49-F238E27FC236}">
                <a16:creationId xmlns:a16="http://schemas.microsoft.com/office/drawing/2014/main" id="{BC813C29-9CC7-4362-A9D7-38F7C62DCDE5}"/>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Quatro pessoas querem se encontrar no sábado.</a:t>
            </a:r>
          </a:p>
        </p:txBody>
      </p:sp>
      <p:sp>
        <p:nvSpPr>
          <p:cNvPr id="7" name="">
            <a:extLst xmlns:a="http://schemas.openxmlformats.org/drawingml/2006/main">
              <a:ext uri="{FF2B5EF4-FFF2-40B4-BE49-F238E27FC236}">
                <a16:creationId xmlns:a16="http://schemas.microsoft.com/office/drawing/2014/main" id="{DB300432-1435-4262-964D-49E96C7A8072}"/>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BFFC90-56D6-4768-AF7E-79B343DD5BF8}"/>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1557E0D-5F34-48F1-9847-33A79B4E3ED5}"/>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Resultado</a:t>
            </a:r>
          </a:p>
        </p:txBody>
      </p:sp>
      <p:sp>
        <p:nvSpPr>
          <p:cNvPr id="10" name="">
            <a:extLst xmlns:a="http://schemas.openxmlformats.org/drawingml/2006/main">
              <a:ext uri="{FF2B5EF4-FFF2-40B4-BE49-F238E27FC236}">
                <a16:creationId xmlns:a16="http://schemas.microsoft.com/office/drawing/2014/main" id="{05DAFBB7-60BC-4428-8C4D-B4B527E6FDDF}"/>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Escolher uma atividade de duas horas.</a:t>
            </a:r>
          </a:p>
        </p:txBody>
      </p:sp>
      <p:sp>
        <p:nvSpPr>
          <p:cNvPr id="11" name="">
            <a:extLst xmlns:a="http://schemas.openxmlformats.org/drawingml/2006/main">
              <a:ext uri="{FF2B5EF4-FFF2-40B4-BE49-F238E27FC236}">
                <a16:creationId xmlns:a16="http://schemas.microsoft.com/office/drawing/2014/main" id="{D3D49A5F-3880-46CE-9D66-31750FAE7399}"/>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4FC1F9-E06F-417B-BE2A-39902BEC91B3}"/>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54155AC0-0E98-455D-A9DE-0DD0B1255DAD}"/>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Papel da IA</a:t>
            </a:r>
          </a:p>
        </p:txBody>
      </p:sp>
      <p:sp>
        <p:nvSpPr>
          <p:cNvPr id="14" name="">
            <a:extLst xmlns:a="http://schemas.openxmlformats.org/drawingml/2006/main">
              <a:ext uri="{FF2B5EF4-FFF2-40B4-BE49-F238E27FC236}">
                <a16:creationId xmlns:a16="http://schemas.microsoft.com/office/drawing/2014/main" id="{96C7D243-7A22-4436-905D-B42ACA2D6DF6}"/>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Organizar preferências e sugerir critérios de escolha.</a:t>
            </a:r>
          </a:p>
        </p:txBody>
      </p:sp>
      <p:sp>
        <p:nvSpPr>
          <p:cNvPr id="15" name="">
            <a:extLst xmlns:a="http://schemas.openxmlformats.org/drawingml/2006/main">
              <a:ext uri="{FF2B5EF4-FFF2-40B4-BE49-F238E27FC236}">
                <a16:creationId xmlns:a16="http://schemas.microsoft.com/office/drawing/2014/main" id="{0D80C67A-3A3F-4B67-8137-6E967EA776F9}"/>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Defina o trabalho antes de escolher quem — ou o que — vai ajudar.</a:t>
            </a:r>
          </a:p>
        </p:txBody>
      </p:sp>
      <p:sp>
        <p:nvSpPr>
          <p:cNvPr id="16" name="">
            <a:extLst xmlns:a="http://schemas.openxmlformats.org/drawingml/2006/main">
              <a:ext uri="{FF2B5EF4-FFF2-40B4-BE49-F238E27FC236}">
                <a16:creationId xmlns:a16="http://schemas.microsoft.com/office/drawing/2014/main" id="{B4678252-6B5C-48AF-8583-F482034E9301}"/>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2 · 2/5</a:t>
            </a:r>
          </a:p>
        </p:txBody>
      </p:sp>
    </p:spTree>
    <p:extLst>
      <p:ext uri="{BB962C8B-B14F-4D97-AF65-F5344CB8AC3E}">
        <p14:creationId xmlns:p14="http://schemas.microsoft.com/office/powerpoint/2010/main" val="165718666"/>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801477-E283-45FC-A861-439B3FDF735D}"/>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Um exemplo pode despertar outro</a:t>
            </a:r>
          </a:p>
        </p:txBody>
      </p:sp>
      <p:sp>
        <p:nvSpPr>
          <p:cNvPr id="2" name="">
            <a:extLst xmlns:a="http://schemas.openxmlformats.org/drawingml/2006/main">
              <a:ext uri="{FF2B5EF4-FFF2-40B4-BE49-F238E27FC236}">
                <a16:creationId xmlns:a16="http://schemas.microsoft.com/office/drawing/2014/main" id="{8413629C-4896-481B-952B-34ECE7E51EB1}"/>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Um exemplo não precisa ser copiado ao pé da letra. Você pode aproveitar a estrutura que está por trás dele. Organizar uma viagem e planejar uma tarde em família têm algo em comum: conciliar preferências com limites.</a:t>
            </a:r>
          </a:p>
        </p:txBody>
      </p:sp>
      <p:sp>
        <p:nvSpPr>
          <p:cNvPr id="3" name="">
            <a:extLst xmlns:a="http://schemas.openxmlformats.org/drawingml/2006/main">
              <a:ext uri="{FF2B5EF4-FFF2-40B4-BE49-F238E27FC236}">
                <a16:creationId xmlns:a16="http://schemas.microsoft.com/office/drawing/2014/main" id="{10E2F15F-CC3D-40EC-8253-689D11FD2613}"/>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Transfira a estrutura, não a receita</a:t>
            </a:r>
          </a:p>
        </p:txBody>
      </p:sp>
      <p:sp>
        <p:nvSpPr>
          <p:cNvPr id="4" name="">
            <a:extLst xmlns:a="http://schemas.openxmlformats.org/drawingml/2006/main">
              <a:ext uri="{FF2B5EF4-FFF2-40B4-BE49-F238E27FC236}">
                <a16:creationId xmlns:a16="http://schemas.microsoft.com/office/drawing/2014/main" id="{B22D215F-C1E5-4230-9D20-45B4A2AF8F8A}"/>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5CBA444-1DF8-45D5-B158-3F4803FE65B7}"/>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Observe</a:t>
            </a:r>
          </a:p>
        </p:txBody>
      </p:sp>
      <p:sp>
        <p:nvSpPr>
          <p:cNvPr id="6" name="">
            <a:extLst xmlns:a="http://schemas.openxmlformats.org/drawingml/2006/main">
              <a:ext uri="{FF2B5EF4-FFF2-40B4-BE49-F238E27FC236}">
                <a16:creationId xmlns:a16="http://schemas.microsoft.com/office/drawing/2014/main" id="{0B76BC1F-7969-47BB-84F7-338437392DDB}"/>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 exemplo transforma restrições em opções.</a:t>
            </a:r>
          </a:p>
        </p:txBody>
      </p:sp>
      <p:sp>
        <p:nvSpPr>
          <p:cNvPr id="7" name="">
            <a:extLst xmlns:a="http://schemas.openxmlformats.org/drawingml/2006/main">
              <a:ext uri="{FF2B5EF4-FFF2-40B4-BE49-F238E27FC236}">
                <a16:creationId xmlns:a16="http://schemas.microsoft.com/office/drawing/2014/main" id="{D8E3B5C6-E920-45DB-86BF-C2D581843167}"/>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1AAD02-FCC9-4F7E-9E73-9DC3A0428FEB}"/>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F0BB06E-35BB-4668-A119-B803D5FAFC65}"/>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Adapte</a:t>
            </a:r>
          </a:p>
        </p:txBody>
      </p:sp>
      <p:sp>
        <p:nvSpPr>
          <p:cNvPr id="10" name="">
            <a:extLst xmlns:a="http://schemas.openxmlformats.org/drawingml/2006/main">
              <a:ext uri="{FF2B5EF4-FFF2-40B4-BE49-F238E27FC236}">
                <a16:creationId xmlns:a16="http://schemas.microsoft.com/office/drawing/2014/main" id="{F0DD37D1-CDEA-4DCE-B773-1A8C260CF214}"/>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Troque viagem por uma tarde de brincadeiras.</a:t>
            </a:r>
          </a:p>
        </p:txBody>
      </p:sp>
      <p:sp>
        <p:nvSpPr>
          <p:cNvPr id="11" name="">
            <a:extLst xmlns:a="http://schemas.openxmlformats.org/drawingml/2006/main">
              <a:ext uri="{FF2B5EF4-FFF2-40B4-BE49-F238E27FC236}">
                <a16:creationId xmlns:a16="http://schemas.microsoft.com/office/drawing/2014/main" id="{6D5EE27E-8E69-47BF-BB2E-0F0489BE5A77}"/>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58DB6D-CC5E-46AA-982E-63242B688526}"/>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068F57A-2137-4BEA-A756-7B1D04A32A86}"/>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Confira</a:t>
            </a:r>
          </a:p>
        </p:txBody>
      </p:sp>
      <p:sp>
        <p:nvSpPr>
          <p:cNvPr id="14" name="">
            <a:extLst xmlns:a="http://schemas.openxmlformats.org/drawingml/2006/main">
              <a:ext uri="{FF2B5EF4-FFF2-40B4-BE49-F238E27FC236}">
                <a16:creationId xmlns:a16="http://schemas.microsoft.com/office/drawing/2014/main" id="{669C3F73-6755-435C-9333-8C53FEE0A753}"/>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As opções cabem no espaço e nos materiais disponíveis?</a:t>
            </a:r>
          </a:p>
        </p:txBody>
      </p:sp>
      <p:sp>
        <p:nvSpPr>
          <p:cNvPr id="15" name="">
            <a:extLst xmlns:a="http://schemas.openxmlformats.org/drawingml/2006/main">
              <a:ext uri="{FF2B5EF4-FFF2-40B4-BE49-F238E27FC236}">
                <a16:creationId xmlns:a16="http://schemas.microsoft.com/office/drawing/2014/main" id="{41BD2CBA-2516-4C70-9A19-433A213A7FB4}"/>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Quando você entende a estrutura de um exemplo, ganha mais do que um pedido para copiar.</a:t>
            </a:r>
          </a:p>
        </p:txBody>
      </p:sp>
      <p:sp>
        <p:nvSpPr>
          <p:cNvPr id="16" name="">
            <a:extLst xmlns:a="http://schemas.openxmlformats.org/drawingml/2006/main">
              <a:ext uri="{FF2B5EF4-FFF2-40B4-BE49-F238E27FC236}">
                <a16:creationId xmlns:a16="http://schemas.microsoft.com/office/drawing/2014/main" id="{5A9520A8-D5D0-4B12-A8B4-96E48052160A}"/>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2 · 3/5</a:t>
            </a:r>
          </a:p>
        </p:txBody>
      </p:sp>
    </p:spTree>
    <p:extLst>
      <p:ext uri="{BB962C8B-B14F-4D97-AF65-F5344CB8AC3E}">
        <p14:creationId xmlns:p14="http://schemas.microsoft.com/office/powerpoint/2010/main" val="1257908261"/>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95B874C-1C02-441F-AE5E-25FCA2A6A2A6}"/>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Onde procurar possibilidades</a:t>
            </a:r>
          </a:p>
        </p:txBody>
      </p:sp>
      <p:sp>
        <p:nvSpPr>
          <p:cNvPr id="2" name="">
            <a:extLst xmlns:a="http://schemas.openxmlformats.org/drawingml/2006/main">
              <a:ext uri="{FF2B5EF4-FFF2-40B4-BE49-F238E27FC236}">
                <a16:creationId xmlns:a16="http://schemas.microsoft.com/office/drawing/2014/main" id="{B685B09B-C3CB-46D2-8C5B-5A5B22EA9E24}"/>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Uma folha dividida em três áreas pode revelar mais oportunidades do que uma lista de ferramentas: coisas que você faz, coisas que quer entender e coisas que tem vontade de criar. Procure situações específicas em cada área.</a:t>
            </a:r>
          </a:p>
        </p:txBody>
      </p:sp>
      <p:sp>
        <p:nvSpPr>
          <p:cNvPr id="3" name="">
            <a:extLst xmlns:a="http://schemas.openxmlformats.org/drawingml/2006/main">
              <a:ext uri="{FF2B5EF4-FFF2-40B4-BE49-F238E27FC236}">
                <a16:creationId xmlns:a16="http://schemas.microsoft.com/office/drawing/2014/main" id="{8F833ECE-CFC3-4A21-A0B2-8097DBA2263C}"/>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Um inventário de possibilidades</a:t>
            </a:r>
          </a:p>
        </p:txBody>
      </p:sp>
      <p:sp>
        <p:nvSpPr>
          <p:cNvPr id="4" name="">
            <a:extLst xmlns:a="http://schemas.openxmlformats.org/drawingml/2006/main">
              <a:ext uri="{FF2B5EF4-FFF2-40B4-BE49-F238E27FC236}">
                <a16:creationId xmlns:a16="http://schemas.microsoft.com/office/drawing/2014/main" id="{86E09079-7930-4B93-A619-5A2B3B46ECEA}"/>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A734B67-3C53-43B2-B43D-9C7010CF9C4B}"/>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Transformar</a:t>
            </a:r>
          </a:p>
        </p:txBody>
      </p:sp>
      <p:sp>
        <p:nvSpPr>
          <p:cNvPr id="6" name="">
            <a:extLst xmlns:a="http://schemas.openxmlformats.org/drawingml/2006/main">
              <a:ext uri="{FF2B5EF4-FFF2-40B4-BE49-F238E27FC236}">
                <a16:creationId xmlns:a16="http://schemas.microsoft.com/office/drawing/2014/main" id="{21B9DED7-2E26-4CAD-8B49-10C65D44D3B4}"/>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Notas de um encontro → lista organizada.</a:t>
            </a:r>
          </a:p>
        </p:txBody>
      </p:sp>
      <p:sp>
        <p:nvSpPr>
          <p:cNvPr id="7" name="">
            <a:extLst xmlns:a="http://schemas.openxmlformats.org/drawingml/2006/main">
              <a:ext uri="{FF2B5EF4-FFF2-40B4-BE49-F238E27FC236}">
                <a16:creationId xmlns:a16="http://schemas.microsoft.com/office/drawing/2014/main" id="{4770EB84-B91E-419E-83C4-5509F170EB8F}"/>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0262F29-3FB4-4B49-BC40-5F71BE27792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Entender</a:t>
            </a:r>
          </a:p>
        </p:txBody>
      </p:sp>
      <p:sp>
        <p:nvSpPr>
          <p:cNvPr id="9" name="">
            <a:extLst xmlns:a="http://schemas.openxmlformats.org/drawingml/2006/main">
              <a:ext uri="{FF2B5EF4-FFF2-40B4-BE49-F238E27FC236}">
                <a16:creationId xmlns:a16="http://schemas.microsoft.com/office/drawing/2014/main" id="{FA0BB8D8-B45A-476C-874B-D7003B34D91E}"/>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Um parágrafo difícil → explicação e exemplo.</a:t>
            </a:r>
          </a:p>
        </p:txBody>
      </p:sp>
      <p:sp>
        <p:nvSpPr>
          <p:cNvPr id="10" name="">
            <a:extLst xmlns:a="http://schemas.openxmlformats.org/drawingml/2006/main">
              <a:ext uri="{FF2B5EF4-FFF2-40B4-BE49-F238E27FC236}">
                <a16:creationId xmlns:a16="http://schemas.microsoft.com/office/drawing/2014/main" id="{176A474F-8ACB-46E0-A1FE-40619FD40EA6}"/>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707B0CD-E271-4FCE-A9CB-84F03D53465D}"/>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Criar</a:t>
            </a:r>
          </a:p>
        </p:txBody>
      </p:sp>
      <p:sp>
        <p:nvSpPr>
          <p:cNvPr id="12" name="">
            <a:extLst xmlns:a="http://schemas.openxmlformats.org/drawingml/2006/main">
              <a:ext uri="{FF2B5EF4-FFF2-40B4-BE49-F238E27FC236}">
                <a16:creationId xmlns:a16="http://schemas.microsoft.com/office/drawing/2014/main" id="{4C94CC81-CFF4-4598-88D9-C710F40AB396}"/>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Uma intenção → três primeiros rascunhos.</a:t>
            </a:r>
          </a:p>
        </p:txBody>
      </p:sp>
      <p:sp>
        <p:nvSpPr>
          <p:cNvPr id="13" name="">
            <a:extLst xmlns:a="http://schemas.openxmlformats.org/drawingml/2006/main">
              <a:ext uri="{FF2B5EF4-FFF2-40B4-BE49-F238E27FC236}">
                <a16:creationId xmlns:a16="http://schemas.microsoft.com/office/drawing/2014/main" id="{7A220BD0-8F6B-4E10-B488-D242F5E690D5}"/>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Olhe para transformações pequenas: de confuso para organizado, de vago para concreto.</a:t>
            </a:r>
          </a:p>
        </p:txBody>
      </p:sp>
      <p:sp>
        <p:nvSpPr>
          <p:cNvPr id="14" name="">
            <a:extLst xmlns:a="http://schemas.openxmlformats.org/drawingml/2006/main">
              <a:ext uri="{FF2B5EF4-FFF2-40B4-BE49-F238E27FC236}">
                <a16:creationId xmlns:a16="http://schemas.microsoft.com/office/drawing/2014/main" id="{51BCA996-9D1B-4E19-B6A8-D576CD11F147}"/>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2 · 4/5</a:t>
            </a:r>
          </a:p>
        </p:txBody>
      </p:sp>
    </p:spTree>
    <p:extLst>
      <p:ext uri="{BB962C8B-B14F-4D97-AF65-F5344CB8AC3E}">
        <p14:creationId xmlns:p14="http://schemas.microsoft.com/office/powerpoint/2010/main" val="1827510111"/>
      </p:ext>
    </p:extLst>
  </p:cSld>
</p:sld>
</file>

<file path=ppt/slides/slide5.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3F21352-5656-4712-81B9-B389FDD4F4EB}"/>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Dez possibilidades, uma escolha</a:t>
            </a:r>
          </a:p>
        </p:txBody>
      </p:sp>
      <p:sp>
        <p:nvSpPr>
          <p:cNvPr id="2" name="">
            <a:extLst xmlns:a="http://schemas.openxmlformats.org/drawingml/2006/main">
              <a:ext uri="{FF2B5EF4-FFF2-40B4-BE49-F238E27FC236}">
                <a16:creationId xmlns:a16="http://schemas.microsoft.com/office/drawing/2014/main" id="{BBF8784C-48A0-4BC1-9FF8-0095B4F80075}"/>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Agora você vai abrir o leque e depois fechá-lo. Liste dez possibilidades de ajuda; se travar, escreva três e acrescente as demais aos poucos. A lista é um exercício de observação, não uma competição de criatividade.</a:t>
            </a:r>
          </a:p>
        </p:txBody>
      </p:sp>
      <p:sp>
        <p:nvSpPr>
          <p:cNvPr id="3" name="">
            <a:extLst xmlns:a="http://schemas.openxmlformats.org/drawingml/2006/main">
              <a:ext uri="{FF2B5EF4-FFF2-40B4-BE49-F238E27FC236}">
                <a16:creationId xmlns:a16="http://schemas.microsoft.com/office/drawing/2014/main" id="{9461669B-56DB-44AD-8BDC-5C13789D2B38}"/>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O funil do primeiro teste</a:t>
            </a:r>
          </a:p>
        </p:txBody>
      </p:sp>
      <p:sp>
        <p:nvSpPr>
          <p:cNvPr id="4" name="">
            <a:extLst xmlns:a="http://schemas.openxmlformats.org/drawingml/2006/main">
              <a:ext uri="{FF2B5EF4-FFF2-40B4-BE49-F238E27FC236}">
                <a16:creationId xmlns:a16="http://schemas.microsoft.com/office/drawing/2014/main" id="{20790F3D-C1E1-4FA9-AD51-A17956201942}"/>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70FA3B7-3548-4C59-8E24-DE47C13B6C2D}"/>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10 possibilidades</a:t>
            </a:r>
          </a:p>
        </p:txBody>
      </p:sp>
      <p:sp>
        <p:nvSpPr>
          <p:cNvPr id="6" name="">
            <a:extLst xmlns:a="http://schemas.openxmlformats.org/drawingml/2006/main">
              <a:ext uri="{FF2B5EF4-FFF2-40B4-BE49-F238E27FC236}">
                <a16:creationId xmlns:a16="http://schemas.microsoft.com/office/drawing/2014/main" id="{23F4E2DE-D9D7-4D2F-95EA-CCD0C3F4D4C3}"/>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Escreva sem exigir uma ideia brilhante.</a:t>
            </a:r>
          </a:p>
        </p:txBody>
      </p:sp>
      <p:sp>
        <p:nvSpPr>
          <p:cNvPr id="7" name="">
            <a:extLst xmlns:a="http://schemas.openxmlformats.org/drawingml/2006/main">
              <a:ext uri="{FF2B5EF4-FFF2-40B4-BE49-F238E27FC236}">
                <a16:creationId xmlns:a16="http://schemas.microsoft.com/office/drawing/2014/main" id="{F87D47C3-C736-4C1D-A3F4-0F9C0070C50F}"/>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7C0B28-607C-4306-B196-38C0E5944365}"/>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16A2D06-5006-462D-B83A-0FA55E8A58DB}"/>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3 candidatas</a:t>
            </a:r>
          </a:p>
        </p:txBody>
      </p:sp>
      <p:sp>
        <p:nvSpPr>
          <p:cNvPr id="10" name="">
            <a:extLst xmlns:a="http://schemas.openxmlformats.org/drawingml/2006/main">
              <a:ext uri="{FF2B5EF4-FFF2-40B4-BE49-F238E27FC236}">
                <a16:creationId xmlns:a16="http://schemas.microsoft.com/office/drawing/2014/main" id="{E67256C0-A5E2-4E7D-94F8-972FB65B90BB}"/>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Separe as pequenas, interessantes e de baixo risco.</a:t>
            </a:r>
          </a:p>
        </p:txBody>
      </p:sp>
      <p:sp>
        <p:nvSpPr>
          <p:cNvPr id="11" name="">
            <a:extLst xmlns:a="http://schemas.openxmlformats.org/drawingml/2006/main">
              <a:ext uri="{FF2B5EF4-FFF2-40B4-BE49-F238E27FC236}">
                <a16:creationId xmlns:a16="http://schemas.microsoft.com/office/drawing/2014/main" id="{6F688379-8154-43A1-9E9D-C580507B485E}"/>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451151-AAA3-4EDC-8AF3-F46971677212}"/>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E1802B3C-A2C7-4D89-8E4F-4061F336C909}"/>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1 experimento</a:t>
            </a:r>
          </a:p>
        </p:txBody>
      </p:sp>
      <p:sp>
        <p:nvSpPr>
          <p:cNvPr id="14" name="">
            <a:extLst xmlns:a="http://schemas.openxmlformats.org/drawingml/2006/main">
              <a:ext uri="{FF2B5EF4-FFF2-40B4-BE49-F238E27FC236}">
                <a16:creationId xmlns:a16="http://schemas.microsoft.com/office/drawing/2014/main" id="{35EFC95F-5780-4B14-967E-61324E84B9E1}"/>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Escolha uma saída e um critério de avaliação.</a:t>
            </a:r>
          </a:p>
        </p:txBody>
      </p:sp>
      <p:sp>
        <p:nvSpPr>
          <p:cNvPr id="15" name="">
            <a:extLst xmlns:a="http://schemas.openxmlformats.org/drawingml/2006/main">
              <a:ext uri="{FF2B5EF4-FFF2-40B4-BE49-F238E27FC236}">
                <a16:creationId xmlns:a16="http://schemas.microsoft.com/office/drawing/2014/main" id="{F7046734-1E02-4E83-AA99-4CE3B81527C6}"/>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Escolher uma possibilidade é dar à sua curiosidade a chance de encontrar a realidade.</a:t>
            </a:r>
          </a:p>
        </p:txBody>
      </p:sp>
      <p:sp>
        <p:nvSpPr>
          <p:cNvPr id="16" name="">
            <a:extLst xmlns:a="http://schemas.openxmlformats.org/drawingml/2006/main">
              <a:ext uri="{FF2B5EF4-FFF2-40B4-BE49-F238E27FC236}">
                <a16:creationId xmlns:a16="http://schemas.microsoft.com/office/drawing/2014/main" id="{24F09F81-0E09-4EB0-9581-B421BC0F8601}"/>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2 · 5/5</a:t>
            </a:r>
          </a:p>
        </p:txBody>
      </p:sp>
    </p:spTree>
    <p:extLst>
      <p:ext uri="{BB962C8B-B14F-4D97-AF65-F5344CB8AC3E}">
        <p14:creationId xmlns:p14="http://schemas.microsoft.com/office/powerpoint/2010/main" val="1105749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2026-09-14T19:34:01.3050000Z</dcterms:created>
  <dcterms:modified xsi:type="dcterms:W3CDTF">2026-09-14T19:34:01.3050000Z</dcterms:modified>
</coreProperties>
</file>