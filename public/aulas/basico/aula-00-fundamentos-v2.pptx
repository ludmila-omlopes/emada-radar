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0350337eb54915" /><Relationship Type="http://schemas.openxmlformats.org/officeDocument/2006/relationships/extended-properties" Target="/docProps/app.xml" Id="R77f32fccc4564d74" /><Relationship Type="http://schemas.openxmlformats.org/officeDocument/2006/relationships/officeDocument" Target="/ppt/presentation.xml" Id="R4925826fcb7c4e08" /></Relationships>
</file>

<file path=ppt/presentation.xml><?xml version="1.0" encoding="utf-8"?>
<p:presentation xmlns:p="http://schemas.openxmlformats.org/presentationml/2006/main">
  <p:sldMasterIdLst>
    <p:sldMasterId xmlns:r="http://schemas.openxmlformats.org/officeDocument/2006/relationships" id="2147483648" r:id="R21074bd517b04523"/>
  </p:sldMasterIdLst>
  <p:notesMasterIdLst>
    <p:notesMasterId xmlns:r="http://schemas.openxmlformats.org/officeDocument/2006/relationships" r:id="R01e2b993c2204d84"/>
  </p:notesMasterIdLst>
  <p:sldIdLst>
    <p:sldId xmlns:r="http://schemas.openxmlformats.org/officeDocument/2006/relationships" id="256" r:id="Rf1c31c13b9054c84"/>
    <p:sldId xmlns:r="http://schemas.openxmlformats.org/officeDocument/2006/relationships" id="257" r:id="R4c9bb3a7a2ab4bc4"/>
    <p:sldId xmlns:r="http://schemas.openxmlformats.org/officeDocument/2006/relationships" id="258" r:id="R43cf19eea9064213"/>
    <p:sldId xmlns:r="http://schemas.openxmlformats.org/officeDocument/2006/relationships" id="259" r:id="R786e88dd72f14ca8"/>
    <p:sldId xmlns:r="http://schemas.openxmlformats.org/officeDocument/2006/relationships" id="260" r:id="Ra83b2a4533554067"/>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27778ae0a4438e" /><Relationship Type="http://schemas.openxmlformats.org/officeDocument/2006/relationships/slideMaster" Target="/ppt/slideMasters/slideMaster1.xml" Id="R21074bd517b04523" /><Relationship Type="http://schemas.openxmlformats.org/officeDocument/2006/relationships/notesMaster" Target="/ppt/notesMasters/notesMaster1.xml" Id="R01e2b993c2204d84" /><Relationship Type="http://schemas.openxmlformats.org/officeDocument/2006/relationships/presProps" Target="/ppt/presProps.xml" Id="Rca08f13a898c4875" /><Relationship Type="http://schemas.openxmlformats.org/officeDocument/2006/relationships/tableStyles" Target="/ppt/tableStyles.xml" Id="Rb2b70f41aa8a45fd" /><Relationship Type="http://schemas.openxmlformats.org/officeDocument/2006/relationships/slide" Target="/ppt/slides/slide1.xml" Id="Rf1c31c13b9054c84" /><Relationship Type="http://schemas.openxmlformats.org/officeDocument/2006/relationships/slide" Target="/ppt/slides/slide2.xml" Id="R4c9bb3a7a2ab4bc4" /><Relationship Type="http://schemas.openxmlformats.org/officeDocument/2006/relationships/slide" Target="/ppt/slides/slide3.xml" Id="R43cf19eea9064213" /><Relationship Type="http://schemas.openxmlformats.org/officeDocument/2006/relationships/slide" Target="/ppt/slides/slide4.xml" Id="R786e88dd72f14ca8" /><Relationship Type="http://schemas.openxmlformats.org/officeDocument/2006/relationships/slide" Target="/ppt/slides/slide5.xml" Id="Ra83b2a45335540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22ac58b53245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168cd1cf4b4dc0" /><Relationship Type="http://schemas.openxmlformats.org/officeDocument/2006/relationships/notesMaster" Target="/ppt/notesMasters/notesMaster1.xml" Id="Re0d2d5d59efb4ea9"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4d921f53764a44" /><Relationship Type="http://schemas.openxmlformats.org/officeDocument/2006/relationships/notesMaster" Target="/ppt/notesMasters/notesMaster1.xml" Id="R01096e5d29154d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c1832c4150624f25" /><Relationship Type="http://schemas.openxmlformats.org/officeDocument/2006/relationships/notesMaster" Target="/ppt/notesMasters/notesMaster1.xml" Id="Rbaee4f4e548541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c162ed0a94400b" /><Relationship Type="http://schemas.openxmlformats.org/officeDocument/2006/relationships/notesMaster" Target="/ppt/notesMasters/notesMaster1.xml" Id="R8ec4e369c7e34b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fc41dbb7054b24" /><Relationship Type="http://schemas.openxmlformats.org/officeDocument/2006/relationships/notesMaster" Target="/ppt/notesMasters/notesMaster1.xml" Id="R15326ababf6e49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Você não precisa chegar aqui com uma grande ideia. Uma pequena dificuldade do seu dia já é um começo: tirar um plano do papel, entender um assunto ou encontrar palavras para uma mensagem.</a:t>
            </a:r>
          </a:p>
          <a:p xmlns:a="http://schemas.openxmlformats.org/drawingml/2006/main">
            <a:r>
              <a:t/>
            </a:r>
          </a:p>
          <a:p xmlns:a="http://schemas.openxmlformats.org/drawingml/2006/main">
            <a:r>
              <a:t>Talvez você conheça a IA pelas respostas impressionantes que aparecem nas redes. Aqui, a medida de sucesso é outra: algo ficou mais claro ou mais viável para você? Um rascunho de convite que finalmente soa natural pode ensinar mais do que uma demonstração sofisticada sem relação com sua vida.</a:t>
            </a:r>
          </a:p>
          <a:p xmlns:a="http://schemas.openxmlformats.org/drawingml/2006/main">
            <a:r>
              <a:t/>
            </a:r>
          </a:p>
          <a:p xmlns:a="http://schemas.openxmlformats.org/drawingml/2006/main">
            <a:r>
              <a:t>Ao longo deste módulo, você vai escolher uma pergunta, construir um pequeno projeto e aprender a julgar o resultado. Não precisa acertar o pedido de primeira. Sua experiência com a própria rotina já oferece algo essencial: pistas sobre o que uma boa resposta precisa respeitar.</a:t>
            </a:r>
          </a:p>
          <a:p xmlns:a="http://schemas.openxmlformats.org/drawingml/2006/main">
            <a:r>
              <a:t/>
            </a:r>
          </a:p>
          <a:p xmlns:a="http://schemas.openxmlformats.org/drawingml/2006/main">
            <a:r>
              <a:t>O resultado do teste pode ser uma solução, uma pergunta melhor ou a descoberta de um limite.</a:t>
            </a:r>
          </a:p>
          <a:p xmlns:a="http://schemas.openxmlformats.org/drawingml/2006/main">
            <a:r>
              <a:t/>
            </a:r>
          </a:p>
          <a:p xmlns:a="http://schemas.openxmlformats.org/drawingml/2006/main">
            <a:r>
              <a:t>EXEMPLO FICTÍCIO: Um começo do tamanho da vida real</a:t>
            </a:r>
          </a:p>
          <a:p xmlns:a="http://schemas.openxmlformats.org/drawingml/2006/main">
            <a:r>
              <a:t/>
            </a:r>
          </a:p>
          <a:p xmlns:a="http://schemas.openxmlformats.org/drawingml/2006/main">
            <a:r>
              <a:t>Lia quer retomar a leitura, mas nunca termina a lista enorme de livros que planeja.</a:t>
            </a:r>
          </a:p>
          <a:p xmlns:a="http://schemas.openxmlformats.org/drawingml/2006/main">
            <a:r>
              <a:t/>
            </a:r>
          </a:p>
          <a:p xmlns:a="http://schemas.openxmlformats.org/drawingml/2006/main">
            <a:r>
              <a:t>Ela começa por: ‘Ajude a pensar em três maneiras de reservar dez minutos para ler, sem mudar meu horário de trabalho.’</a:t>
            </a:r>
          </a:p>
          <a:p xmlns:a="http://schemas.openxmlformats.org/drawingml/2006/main">
            <a:r>
              <a:t/>
            </a:r>
          </a:p>
          <a:p xmlns:a="http://schemas.openxmlformats.org/drawingml/2006/main">
            <a:r>
              <a:t>A IA não precisa organizar a vida inteira de Lia. Basta oferecer alternativas que ela consiga confrontar com sua rotina. Isso já é um experimento completo.</a:t>
            </a:r>
          </a:p>
          <a:p xmlns:a="http://schemas.openxmlformats.org/drawingml/2006/main">
            <a:r>
              <a:t/>
            </a:r>
          </a:p>
          <a:p xmlns:a="http://schemas.openxmlformats.org/drawingml/2006/main">
            <a:r>
              <a:t>REFLEXÃO: Se você pudesse destravar uma única coisa pequena nesta semana, qual seria?</a:t>
            </a:r>
          </a:p>
          <a:p xmlns:a="http://schemas.openxmlformats.org/drawingml/2006/main">
            <a:r>
              <a:t/>
            </a:r>
          </a:p>
          <a:p xmlns:a="http://schemas.openxmlformats.org/drawingml/2006/main">
            <a:r>
              <a:t>Uma resposta possível é ‘escrever a primeira mensagem para reunir meus amigos’. Repare: existe uma ação concreta e você consegue reconhecer se a mensagem soa como você. Guarde a sua ideia para a prática.</a:t>
            </a:r>
          </a:p>
          <a:p xmlns:a="http://schemas.openxmlformats.org/drawingml/2006/main">
            <a:r>
              <a:t/>
            </a:r>
          </a:p>
          <a:p xmlns:a="http://schemas.openxmlformats.org/drawingml/2006/main">
            <a:r>
              <a:t>IDEIA PRINCIPAL: A sua curiosidade já é matéria-prima. Comece por algo que importa para você.</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Inteligência artificial é um campo amplo. Neste curso, nosso ponto de partida é a IA generativa de texto: um sistema capaz de produzir respostas a partir das instruções e informações que recebe.</a:t>
            </a:r>
          </a:p>
          <a:p xmlns:a="http://schemas.openxmlformats.org/drawingml/2006/main">
            <a:r>
              <a:t/>
            </a:r>
          </a:p>
          <a:p xmlns:a="http://schemas.openxmlformats.org/drawingml/2006/main">
            <a:r>
              <a:t>Um modelo de linguagem aprende padrões durante o treinamento e gera texto em pequenas unidades, chamadas tokens. Tokens podem ser palavras, partes de palavras ou sinais; não existe uma equivalência fixa de um token para uma palavra. ‘Prompt’ é apenas o nome do pedido ou das instruções que você envia.</a:t>
            </a:r>
          </a:p>
          <a:p xmlns:a="http://schemas.openxmlformats.org/drawingml/2006/main">
            <a:r>
              <a:t/>
            </a:r>
          </a:p>
          <a:p xmlns:a="http://schemas.openxmlformats.org/drawingml/2006/main">
            <a:r>
              <a:t>Separe três coisas: o modelo gera a resposta; o aplicativo oferece a interface; ferramentas adicionais podem dar acesso a pesquisa ou arquivos. Uma capacidade não vem automaticamente com a outra. O chat de prática desta Academy trabalha com texto: ele não pesquisa a internet nem realiza ações em outros aplicativos.</a:t>
            </a:r>
          </a:p>
          <a:p xmlns:a="http://schemas.openxmlformats.org/drawingml/2006/main">
            <a:r>
              <a:t/>
            </a:r>
          </a:p>
          <a:p xmlns:a="http://schemas.openxmlformats.org/drawingml/2006/main">
            <a:r>
              <a:t>Modelo e aplicativo não são sinônimos. Este desenho simplifica uma conversa de texto, não descreve uma pesquisa na web.</a:t>
            </a:r>
          </a:p>
          <a:p xmlns:a="http://schemas.openxmlformats.org/drawingml/2006/main">
            <a:r>
              <a:t/>
            </a:r>
          </a:p>
          <a:p xmlns:a="http://schemas.openxmlformats.org/drawingml/2006/main">
            <a:r>
              <a:t>EXEMPLO FICTÍCIO: Gerar não é consultar</a:t>
            </a:r>
          </a:p>
          <a:p xmlns:a="http://schemas.openxmlformats.org/drawingml/2006/main">
            <a:r>
              <a:t/>
            </a:r>
          </a:p>
          <a:p xmlns:a="http://schemas.openxmlformats.org/drawingml/2006/main">
            <a:r>
              <a:t>Você pergunta: ‘Que horas o museu abre amanhã?’</a:t>
            </a:r>
          </a:p>
          <a:p xmlns:a="http://schemas.openxmlformats.org/drawingml/2006/main">
            <a:r>
              <a:t/>
            </a:r>
          </a:p>
          <a:p xmlns:a="http://schemas.openxmlformats.org/drawingml/2006/main">
            <a:r>
              <a:t>O chat pode produzir um horário plausível mesmo sem consultar o museu.</a:t>
            </a:r>
          </a:p>
          <a:p xmlns:a="http://schemas.openxmlformats.org/drawingml/2006/main">
            <a:r>
              <a:t/>
            </a:r>
          </a:p>
          <a:p xmlns:a="http://schemas.openxmlformats.org/drawingml/2006/main">
            <a:r>
              <a:t>Para saber o horário real, confira o canal oficial. Já para criar uma lista do que verificar antes da visita, o chat pode ajudar sem precisar conhecer o horário atual.</a:t>
            </a:r>
          </a:p>
          <a:p xmlns:a="http://schemas.openxmlformats.org/drawingml/2006/main">
            <a:r>
              <a:t/>
            </a:r>
          </a:p>
          <a:p xmlns:a="http://schemas.openxmlformats.org/drawingml/2006/main">
            <a:r>
              <a:t>REFLEXÃO: Se a resposta trouxer um link, isso prova que a IA consultou aquela página?</a:t>
            </a:r>
          </a:p>
          <a:p xmlns:a="http://schemas.openxmlformats.org/drawingml/2006/main">
            <a:r>
              <a:t/>
            </a:r>
          </a:p>
          <a:p xmlns:a="http://schemas.openxmlformats.org/drawingml/2006/main">
            <a:r>
              <a:t>Não. Um endereço escrito na resposta não comprova acesso à página e pode até estar incorreto. Neste chat, não há pesquisa na web; abra a fonte por conta própria e confira se ela sustenta a informação.</a:t>
            </a:r>
          </a:p>
          <a:p xmlns:a="http://schemas.openxmlformats.org/drawingml/2006/main">
            <a:r>
              <a:t/>
            </a:r>
          </a:p>
          <a:p xmlns:a="http://schemas.openxmlformats.org/drawingml/2006/main">
            <a:r>
              <a:t>IDEIA PRINCIPAL: Entender o que a ferramenta faz também significa reconhecer o que ela não fez.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Uma resposta pode ser clara, simpática e errada. A aparência de certeza não é uma prova. Aprender a usar IA inclui aprender a interromper a leitura e perguntar: ‘Como eu sei que isso faz sentido?’</a:t>
            </a:r>
          </a:p>
          <a:p xmlns:a="http://schemas.openxmlformats.org/drawingml/2006/main">
            <a:r>
              <a:t/>
            </a:r>
          </a:p>
          <a:p xmlns:a="http://schemas.openxmlformats.org/drawingml/2006/main">
            <a:r>
              <a:t>Há pelo menos três avaliações diferentes. Correção: os fatos e cálculos estão certos? Adequação: a proposta serve ao seu objetivo? Viabilidade: dá para executar com seu tempo e seus recursos? Um roteiro pode ser bonito e incluir um lugar fechado; uma mensagem pode ser correta e soar formal demais.</a:t>
            </a:r>
          </a:p>
          <a:p xmlns:a="http://schemas.openxmlformats.org/drawingml/2006/main">
            <a:r>
              <a:t/>
            </a:r>
          </a:p>
          <a:p xmlns:a="http://schemas.openxmlformats.org/drawingml/2006/main">
            <a:r>
              <a:t>Também avalie o que você compartilha. Nos exercícios, use situações inventadas ou informações públicas. Não envie senhas, documentos pessoais ou detalhes confidenciais. Para aprender, um nome fictício e uma descrição simplificada costumam bastar. Quanto maior a consequência de um erro, mais cuidado e verificação independente são necessários.</a:t>
            </a:r>
          </a:p>
          <a:p xmlns:a="http://schemas.openxmlformats.org/drawingml/2006/main">
            <a:r>
              <a:t/>
            </a:r>
          </a:p>
          <a:p xmlns:a="http://schemas.openxmlformats.org/drawingml/2006/main">
            <a:r>
              <a:t>Passar em uma pergunta não significa passar nas outras. Use as três como filtros, não como uma pontuação automática.</a:t>
            </a:r>
          </a:p>
          <a:p xmlns:a="http://schemas.openxmlformats.org/drawingml/2006/main">
            <a:r>
              <a:t/>
            </a:r>
          </a:p>
          <a:p xmlns:a="http://schemas.openxmlformats.org/drawingml/2006/main">
            <a:r>
              <a:t>EXEMPLO FICTÍCIO: Bonito no papel, impossível na terça</a:t>
            </a:r>
          </a:p>
          <a:p xmlns:a="http://schemas.openxmlformats.org/drawingml/2006/main">
            <a:r>
              <a:t/>
            </a:r>
          </a:p>
          <a:p xmlns:a="http://schemas.openxmlformats.org/drawingml/2006/main">
            <a:r>
              <a:t>Um plano inclui fazer compras, cozinhar por uma hora e organizar a casa. Você só tem meia hora disponível.</a:t>
            </a:r>
          </a:p>
          <a:p xmlns:a="http://schemas.openxmlformats.org/drawingml/2006/main">
            <a:r>
              <a:t/>
            </a:r>
          </a:p>
          <a:p xmlns:a="http://schemas.openxmlformats.org/drawingml/2006/main">
            <a:r>
              <a:t>‘O plano ultrapassa meu tempo. Reduza para uma única tarefa de até 30 minutos.’</a:t>
            </a:r>
          </a:p>
          <a:p xmlns:a="http://schemas.openxmlformats.org/drawingml/2006/main">
            <a:r>
              <a:t/>
            </a:r>
          </a:p>
          <a:p xmlns:a="http://schemas.openxmlformats.org/drawingml/2006/main">
            <a:r>
              <a:t>O problema não era a organização do texto. Era uma condição ignorada. Depois da revisão, some os tempos de novo: pedir uma correção não garante que ela foi cumprida.</a:t>
            </a:r>
          </a:p>
          <a:p xmlns:a="http://schemas.openxmlformats.org/drawingml/2006/main">
            <a:r>
              <a:t/>
            </a:r>
          </a:p>
          <a:p xmlns:a="http://schemas.openxmlformats.org/drawingml/2006/main">
            <a:r>
              <a:t>REFLEXÃO: A IA disse que revisou a própria resposta. Posso pular a conferência?</a:t>
            </a:r>
          </a:p>
          <a:p xmlns:a="http://schemas.openxmlformats.org/drawingml/2006/main">
            <a:r>
              <a:t/>
            </a:r>
          </a:p>
          <a:p xmlns:a="http://schemas.openxmlformats.org/drawingml/2006/main">
            <a:r>
              <a:t>Não. A autorrevisão pode apontar problemas, mas não é uma validação independente. Refaça uma conta com calculadora ou confira um fato na fonte correspondente antes de depender dele.</a:t>
            </a:r>
          </a:p>
          <a:p xmlns:a="http://schemas.openxmlformats.org/drawingml/2006/main">
            <a:r>
              <a:t/>
            </a:r>
          </a:p>
          <a:p xmlns:a="http://schemas.openxmlformats.org/drawingml/2006/main">
            <a:r>
              <a:t>IDEIA PRINCIPAL: Seu julgamento faz parte do processo — não é um detalhe depois da resposta.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Conversar com IA não exige uma linguagem secreta. Comece dizendo o que quer fazer, acrescente uma condição importante e convide o sistema a perguntar sobre o que falta. Depois, responda com o que realmente ajuda na tarefa.</a:t>
            </a:r>
          </a:p>
          <a:p xmlns:a="http://schemas.openxmlformats.org/drawingml/2006/main">
            <a:r>
              <a:t/>
            </a:r>
          </a:p>
          <a:p xmlns:a="http://schemas.openxmlformats.org/drawingml/2006/main">
            <a:r>
              <a:t>Um pedido muito aberto deixa mais espaço para suposições. ‘Organize minha semana’ não revela seus horários, prioridades ou limites. Você não precisa escrever uma biografia: ‘Quero reservar duas noites para um hobby e já tenho compromissos na terça’ é um contexto mais útil e mais fácil de revisar.</a:t>
            </a:r>
          </a:p>
          <a:p xmlns:a="http://schemas.openxmlformats.org/drawingml/2006/main">
            <a:r>
              <a:t/>
            </a:r>
          </a:p>
          <a:p xmlns:a="http://schemas.openxmlformats.org/drawingml/2006/main">
            <a:r>
              <a:t>A conversa pode avançar em pequenas trocas. Se o modelo fizer muitas perguntas de uma vez, peça apenas a mais importante. Se propuser uma solução cedo demais, diga o que ainda falta saber. Você pode conduzir o ritmo sem encontrar uma fórmula perfeita antes de começar.</a:t>
            </a:r>
          </a:p>
          <a:p xmlns:a="http://schemas.openxmlformats.org/drawingml/2006/main">
            <a:r>
              <a:t/>
            </a:r>
          </a:p>
          <a:p xmlns:a="http://schemas.openxmlformats.org/drawingml/2006/main">
            <a:r>
              <a:t>O ciclo pode se repetir, mas você também pode encerrar quando já tiver algo útil ou quando o teste não estiver ajudando.</a:t>
            </a:r>
          </a:p>
          <a:p xmlns:a="http://schemas.openxmlformats.org/drawingml/2006/main">
            <a:r>
              <a:t/>
            </a:r>
          </a:p>
          <a:p xmlns:a="http://schemas.openxmlformats.org/drawingml/2006/main">
            <a:r>
              <a:t>EXEMPLO FICTÍCIO: A pergunta que muda o plano</a:t>
            </a:r>
          </a:p>
          <a:p xmlns:a="http://schemas.openxmlformats.org/drawingml/2006/main">
            <a:r>
              <a:t/>
            </a:r>
          </a:p>
          <a:p xmlns:a="http://schemas.openxmlformats.org/drawingml/2006/main">
            <a:r>
              <a:t>Você pede ajuda para organizar a semana. A IA pergunta quais horários já estão ocupados.</a:t>
            </a:r>
          </a:p>
          <a:p xmlns:a="http://schemas.openxmlformats.org/drawingml/2006/main">
            <a:r>
              <a:t/>
            </a:r>
          </a:p>
          <a:p xmlns:a="http://schemas.openxmlformats.org/drawingml/2006/main">
            <a:r>
              <a:t>‘Neste exemplo, trabalho até as 18h e tenho um curso na terça. Quero uma noite livre e duas sessões de desenho de 20 minutos.’</a:t>
            </a:r>
          </a:p>
          <a:p xmlns:a="http://schemas.openxmlformats.org/drawingml/2006/main">
            <a:r>
              <a:t/>
            </a:r>
          </a:p>
          <a:p xmlns:a="http://schemas.openxmlformats.org/drawingml/2006/main">
            <a:r>
              <a:t>Agora existem condições para avaliar o plano. Uma boa continuação seria conferir se a noite livre permaneceu livre, em vez de aprovar só porque a agenda ficou bonita.</a:t>
            </a:r>
          </a:p>
          <a:p xmlns:a="http://schemas.openxmlformats.org/drawingml/2006/main">
            <a:r>
              <a:t/>
            </a:r>
          </a:p>
          <a:p xmlns:a="http://schemas.openxmlformats.org/drawingml/2006/main">
            <a:r>
              <a:t>PEDIDO PARA ADAPTAR: Quero organizar melhor uma semana fictícia e reservar duas sessões de 20 minutos para um hobby. Antes de sugerir um plano, faça uma pergunta sobre a informação mais importante que está faltando.</a:t>
            </a:r>
          </a:p>
          <a:p xmlns:a="http://schemas.openxmlformats.org/drawingml/2006/main">
            <a:r>
              <a:t/>
            </a:r>
          </a:p>
          <a:p xmlns:a="http://schemas.openxmlformats.org/drawingml/2006/main">
            <a:r>
              <a:t>REFLEXÃO: A primeira resposta não combina com sua rotina. Você precisa abrir outra conversa?</a:t>
            </a:r>
          </a:p>
          <a:p xmlns:a="http://schemas.openxmlformats.org/drawingml/2006/main">
            <a:r>
              <a:t/>
            </a:r>
          </a:p>
          <a:p xmlns:a="http://schemas.openxmlformats.org/drawingml/2006/main">
            <a:r>
              <a:t>Nem sempre. Na mesma conversa, indique o desencontro: ‘Você ocupou minha noite livre. Mantenha a quinta sem atividades.’ Reapresente a condição importante e confira a nova versão.</a:t>
            </a:r>
          </a:p>
          <a:p xmlns:a="http://schemas.openxmlformats.org/drawingml/2006/main">
            <a:r>
              <a:t/>
            </a:r>
          </a:p>
          <a:p xmlns:a="http://schemas.openxmlformats.org/drawingml/2006/main">
            <a:r>
              <a:t>IDEIA PRINCIPAL: Você pode começar com poucas palavras e construir clareza durante a conversa.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Antes de seguir, transforme sua curiosidade em uma pergunta que possa acompanhar você nas próximas aulas. Ela não precisa ser definitiva. Precisa apenas apontar para algo pequeno o bastante para experimentar agora.</a:t>
            </a:r>
          </a:p>
          <a:p xmlns:a="http://schemas.openxmlformats.org/drawingml/2006/main">
            <a:r>
              <a:t/>
            </a:r>
          </a:p>
          <a:p xmlns:a="http://schemas.openxmlformats.org/drawingml/2006/main">
            <a:r>
              <a:t>Complete ‘Eu gostaria de ter ajuda para…’ com uma ação: escrever, comparar, resumir, planejar ou entender. Em seguida, reduza o tamanho da entrega. ‘Aprender fotografia’ é uma direção; ‘entender a diferença entre duas configurações da câmera com um exemplo’ é um primeiro teste.</a:t>
            </a:r>
          </a:p>
          <a:p xmlns:a="http://schemas.openxmlformats.org/drawingml/2006/main">
            <a:r>
              <a:t/>
            </a:r>
          </a:p>
          <a:p xmlns:a="http://schemas.openxmlformats.org/drawingml/2006/main">
            <a:r>
              <a:t>Acrescente uma forma de reconhecer utilidade. Talvez você queira uma explicação que consiga recontar com suas palavras, três opções que caibam no seu tempo ou uma mensagem sem uma expressão que você jamais usaria. Esse critério torna sua próxima conversa mais intencional.</a:t>
            </a:r>
          </a:p>
          <a:p xmlns:a="http://schemas.openxmlformats.org/drawingml/2006/main">
            <a:r>
              <a:t/>
            </a:r>
          </a:p>
          <a:p xmlns:a="http://schemas.openxmlformats.org/drawingml/2006/main">
            <a:r>
              <a:t>Reduzir o escopo não reduz a importância da sua ideia. Dá a ela um ponto de entrada.</a:t>
            </a:r>
          </a:p>
          <a:p xmlns:a="http://schemas.openxmlformats.org/drawingml/2006/main">
            <a:r>
              <a:t/>
            </a:r>
          </a:p>
          <a:p xmlns:a="http://schemas.openxmlformats.org/drawingml/2006/main">
            <a:r>
              <a:t>EXEMPLO FICTÍCIO: Uma pergunta pronta para sair do papel</a:t>
            </a:r>
          </a:p>
          <a:p xmlns:a="http://schemas.openxmlformats.org/drawingml/2006/main">
            <a:r>
              <a:t/>
            </a:r>
          </a:p>
          <a:p xmlns:a="http://schemas.openxmlformats.org/drawingml/2006/main">
            <a:r>
              <a:t>‘Eu gostaria de ter ajuda para preparar um encontro de leitura.’</a:t>
            </a:r>
          </a:p>
          <a:p xmlns:a="http://schemas.openxmlformats.org/drawingml/2006/main">
            <a:r>
              <a:t/>
            </a:r>
          </a:p>
          <a:p xmlns:a="http://schemas.openxmlformats.org/drawingml/2006/main">
            <a:r>
              <a:t>‘Sugira três perguntas para conversar sobre um conto fictício que vou resumir. Evite perguntas que só tenham resposta sim ou não.’</a:t>
            </a:r>
          </a:p>
          <a:p xmlns:a="http://schemas.openxmlformats.org/drawingml/2006/main">
            <a:r>
              <a:t/>
            </a:r>
          </a:p>
          <a:p xmlns:a="http://schemas.openxmlformats.org/drawingml/2006/main">
            <a:r>
              <a:t>O pedido delimita uma entrega e uma qualidade desejada. A pessoa fornece o resumo; o chat não precisa inventar o enredo de um livro que talvez não conheça corretamente.</a:t>
            </a:r>
          </a:p>
          <a:p xmlns:a="http://schemas.openxmlformats.org/drawingml/2006/main">
            <a:r>
              <a:t/>
            </a:r>
          </a:p>
          <a:p xmlns:a="http://schemas.openxmlformats.org/drawingml/2006/main">
            <a:r>
              <a:t>REFLEXÃO: Você ainda não encontrou uma ideia sua. Dá para começar mesmo assim?</a:t>
            </a:r>
          </a:p>
          <a:p xmlns:a="http://schemas.openxmlformats.org/drawingml/2006/main">
            <a:r>
              <a:t/>
            </a:r>
          </a:p>
          <a:p xmlns:a="http://schemas.openxmlformats.org/drawingml/2006/main">
            <a:r>
              <a:t>Sim. Use o exemplo da semana ou invente uma situação. Ao testar, observe o que desperta interesse ou incomoda você. Uma pergunta própria pode aparecer depois da primeira experiência, não necessariamente antes dela.</a:t>
            </a:r>
          </a:p>
          <a:p xmlns:a="http://schemas.openxmlformats.org/drawingml/2006/main">
            <a:r>
              <a:t/>
            </a:r>
          </a:p>
          <a:p xmlns:a="http://schemas.openxmlformats.org/drawingml/2006/main">
            <a:r>
              <a:t>IDEIA PRINCIPAL: Sua primeira pergunta é um ponto de partida, não um compromisso para sempre.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9b581510a54d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9a390d58014b6f" /><Relationship Type="http://schemas.openxmlformats.org/officeDocument/2006/relationships/slideLayout" Target="/ppt/slideLayouts/slideLayout1.xml" Id="R0141a9dccfd8486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41a9dccfd8486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9e6f88c410c42be" /><Relationship Type="http://schemas.openxmlformats.org/officeDocument/2006/relationships/notesSlide" Target="/ppt/notesSlides/notesSlide1.xml" Id="R59661d5b361249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4e628a3f2314a1b" /><Relationship Type="http://schemas.openxmlformats.org/officeDocument/2006/relationships/notesSlide" Target="/ppt/notesSlides/notesSlide2.xml" Id="R624c892134ce4f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bac568a975e4e91" /><Relationship Type="http://schemas.openxmlformats.org/officeDocument/2006/relationships/notesSlide" Target="/ppt/notesSlides/notesSlide3.xml" Id="R16c19cf8654042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3e9e2feaf304367" /><Relationship Type="http://schemas.openxmlformats.org/officeDocument/2006/relationships/notesSlide" Target="/ppt/notesSlides/notesSlide4.xml" Id="Ra7842603a2fe4c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0996d56d93143bc" /><Relationship Type="http://schemas.openxmlformats.org/officeDocument/2006/relationships/notesSlide" Target="/ppt/notesSlides/notesSlide5.xml" Id="R9f80d5e41e4c4614" /></Relationships>
</file>

<file path=ppt/slides/slide1.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5281E4E-EFC9-44DD-B383-FBA639A3E143}"/>
              </a:ext>
            </a:extLst>
          </p:cNvPr>
          <p:cNvSpPr>
            <a:spLocks xmlns:a="http://schemas.openxmlformats.org/drawingml/2006/main" noGrp="1"/>
          </p:cNvSpPr>
          <p:nvPr/>
        </p:nvSpPr>
        <p:spPr>
          <a:xfrm xmlns:a="http://schemas.openxmlformats.org/drawingml/2006/main">
            <a:off x="666750" y="523875"/>
            <a:ext cx="1381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F6F3F5"/>
                </a:solidFill>
                <a:latin typeface="Arial"/>
                <a:ea typeface="Arial"/>
                <a:cs typeface="Arial"/>
              </a:defRPr>
            </a:pPr>
            <a:r>
              <a:rPr sz="3450" b="0">
                <a:solidFill>
                  <a:srgbClr val="F6F3F5"/>
                </a:solidFill>
                <a:latin typeface="Arial"/>
                <a:ea typeface="Arial"/>
                <a:cs typeface="Arial"/>
              </a:rPr>
              <a:t>Seu primeiro passo com IA</a:t>
            </a:r>
          </a:p>
        </p:txBody>
      </p:sp>
      <p:sp>
        <p:nvSpPr>
          <p:cNvPr id="2" name="">
            <a:extLst xmlns:a="http://schemas.openxmlformats.org/drawingml/2006/main">
              <a:ext uri="{FF2B5EF4-FFF2-40B4-BE49-F238E27FC236}">
                <a16:creationId xmlns:a16="http://schemas.microsoft.com/office/drawing/2014/main" id="{FF9207E6-2290-4805-9B51-145F99E56E08}"/>
              </a:ext>
            </a:extLst>
          </p:cNvPr>
          <p:cNvSpPr>
            <a:spLocks xmlns:a="http://schemas.openxmlformats.org/drawingml/2006/main" noGrp="1"/>
          </p:cNvSpPr>
          <p:nvPr/>
        </p:nvSpPr>
        <p:spPr>
          <a:xfrm xmlns:a="http://schemas.openxmlformats.org/drawingml/2006/main">
            <a:off x="666750" y="1762125"/>
            <a:ext cx="13620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6CFD4"/>
                </a:solidFill>
                <a:latin typeface="Arial"/>
                <a:ea typeface="Arial"/>
                <a:cs typeface="Arial"/>
              </a:defRPr>
            </a:pPr>
            <a:r>
              <a:rPr sz="2025" b="0">
                <a:solidFill>
                  <a:srgbClr val="D6CFD4"/>
                </a:solidFill>
                <a:latin typeface="Arial"/>
                <a:ea typeface="Arial"/>
                <a:cs typeface="Arial"/>
              </a:rPr>
              <a:t>Você não precisa chegar aqui com uma grande ideia. Uma pequena dificuldade do seu dia já é um começo: tirar um plano do papel, entender um assunto ou encontrar palavras para uma mensagem.</a:t>
            </a:r>
          </a:p>
        </p:txBody>
      </p:sp>
      <p:sp>
        <p:nvSpPr>
          <p:cNvPr id="3" name="">
            <a:extLst xmlns:a="http://schemas.openxmlformats.org/drawingml/2006/main">
              <a:ext uri="{FF2B5EF4-FFF2-40B4-BE49-F238E27FC236}">
                <a16:creationId xmlns:a16="http://schemas.microsoft.com/office/drawing/2014/main" id="{FE72BB98-E59E-4C35-A9F3-4E9C607F75F7}"/>
              </a:ext>
            </a:extLst>
          </p:cNvPr>
          <p:cNvSpPr>
            <a:spLocks xmlns:a="http://schemas.openxmlformats.org/drawingml/2006/main" noGrp="1"/>
          </p:cNvSpPr>
          <p:nvPr/>
        </p:nvSpPr>
        <p:spPr>
          <a:xfrm xmlns:a="http://schemas.openxmlformats.org/drawingml/2006/main">
            <a:off x="666750" y="3238500"/>
            <a:ext cx="1381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7B5D4"/>
                </a:solidFill>
                <a:latin typeface="Arial"/>
                <a:ea typeface="Arial"/>
                <a:cs typeface="Arial"/>
              </a:defRPr>
            </a:pPr>
            <a:r>
              <a:rPr sz="2175" b="0">
                <a:solidFill>
                  <a:srgbClr val="E7B5D4"/>
                </a:solidFill>
                <a:latin typeface="Arial"/>
                <a:ea typeface="Arial"/>
                <a:cs typeface="Arial"/>
              </a:rPr>
              <a:t>Uma curiosidade pode virar uma experiência</a:t>
            </a:r>
          </a:p>
        </p:txBody>
      </p:sp>
      <p:sp>
        <p:nvSpPr>
          <p:cNvPr id="4" name="">
            <a:extLst xmlns:a="http://schemas.openxmlformats.org/drawingml/2006/main">
              <a:ext uri="{FF2B5EF4-FFF2-40B4-BE49-F238E27FC236}">
                <a16:creationId xmlns:a16="http://schemas.microsoft.com/office/drawing/2014/main" id="{1793D409-639F-49D4-95EE-290939EA5B09}"/>
              </a:ext>
            </a:extLst>
          </p:cNvPr>
          <p:cNvSpPr>
            <a:spLocks xmlns:a="http://schemas.openxmlformats.org/drawingml/2006/main" noGrp="1"/>
          </p:cNvSpPr>
          <p:nvPr/>
        </p:nvSpPr>
        <p:spPr>
          <a:xfrm xmlns:a="http://schemas.openxmlformats.org/drawingml/2006/main">
            <a:off x="6667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78539973-27CE-4819-A5DD-ED8FA7916D5B}"/>
              </a:ext>
            </a:extLst>
          </p:cNvPr>
          <p:cNvSpPr>
            <a:spLocks xmlns:a="http://schemas.openxmlformats.org/drawingml/2006/main" noGrp="1"/>
          </p:cNvSpPr>
          <p:nvPr/>
        </p:nvSpPr>
        <p:spPr>
          <a:xfrm xmlns:a="http://schemas.openxmlformats.org/drawingml/2006/main">
            <a:off x="6667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Perceber</a:t>
            </a:r>
          </a:p>
        </p:txBody>
      </p:sp>
      <p:sp>
        <p:nvSpPr>
          <p:cNvPr id="6" name="">
            <a:extLst xmlns:a="http://schemas.openxmlformats.org/drawingml/2006/main">
              <a:ext uri="{FF2B5EF4-FFF2-40B4-BE49-F238E27FC236}">
                <a16:creationId xmlns:a16="http://schemas.microsoft.com/office/drawing/2014/main" id="{7732535E-4333-4A7F-98F3-1FB16E87D221}"/>
              </a:ext>
            </a:extLst>
          </p:cNvPr>
          <p:cNvSpPr>
            <a:spLocks xmlns:a="http://schemas.openxmlformats.org/drawingml/2006/main" noGrp="1"/>
          </p:cNvSpPr>
          <p:nvPr/>
        </p:nvSpPr>
        <p:spPr>
          <a:xfrm xmlns:a="http://schemas.openxmlformats.org/drawingml/2006/main">
            <a:off x="6667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Que parte do meu dia merece uma ajuda?</a:t>
            </a:r>
          </a:p>
        </p:txBody>
      </p:sp>
      <p:sp>
        <p:nvSpPr>
          <p:cNvPr id="7" name="">
            <a:extLst xmlns:a="http://schemas.openxmlformats.org/drawingml/2006/main">
              <a:ext uri="{FF2B5EF4-FFF2-40B4-BE49-F238E27FC236}">
                <a16:creationId xmlns:a16="http://schemas.microsoft.com/office/drawing/2014/main" id="{F4981177-6CAE-4A0C-B958-565C71BFB505}"/>
              </a:ext>
            </a:extLst>
          </p:cNvPr>
          <p:cNvSpPr>
            <a:spLocks xmlns:a="http://schemas.openxmlformats.org/drawingml/2006/main" noGrp="1"/>
          </p:cNvSpPr>
          <p:nvPr/>
        </p:nvSpPr>
        <p:spPr>
          <a:xfrm xmlns:a="http://schemas.openxmlformats.org/drawingml/2006/main">
            <a:off x="511175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480CC52D-64A4-4958-81EF-B666CF841ABC}"/>
              </a:ext>
            </a:extLst>
          </p:cNvPr>
          <p:cNvSpPr>
            <a:spLocks xmlns:a="http://schemas.openxmlformats.org/drawingml/2006/main" noGrp="1"/>
          </p:cNvSpPr>
          <p:nvPr/>
        </p:nvSpPr>
        <p:spPr>
          <a:xfrm xmlns:a="http://schemas.openxmlformats.org/drawingml/2006/main">
            <a:off x="543560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840FF5DC-39D7-407A-9370-5C605841B713}"/>
              </a:ext>
            </a:extLst>
          </p:cNvPr>
          <p:cNvSpPr>
            <a:spLocks xmlns:a="http://schemas.openxmlformats.org/drawingml/2006/main" noGrp="1"/>
          </p:cNvSpPr>
          <p:nvPr/>
        </p:nvSpPr>
        <p:spPr>
          <a:xfrm xmlns:a="http://schemas.openxmlformats.org/drawingml/2006/main">
            <a:off x="543560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Experimentar</a:t>
            </a:r>
          </a:p>
        </p:txBody>
      </p:sp>
      <p:sp>
        <p:nvSpPr>
          <p:cNvPr id="10" name="">
            <a:extLst xmlns:a="http://schemas.openxmlformats.org/drawingml/2006/main">
              <a:ext uri="{FF2B5EF4-FFF2-40B4-BE49-F238E27FC236}">
                <a16:creationId xmlns:a16="http://schemas.microsoft.com/office/drawing/2014/main" id="{B23728D5-462D-4C86-BC9F-C3777557EB57}"/>
              </a:ext>
            </a:extLst>
          </p:cNvPr>
          <p:cNvSpPr>
            <a:spLocks xmlns:a="http://schemas.openxmlformats.org/drawingml/2006/main" noGrp="1"/>
          </p:cNvSpPr>
          <p:nvPr/>
        </p:nvSpPr>
        <p:spPr>
          <a:xfrm xmlns:a="http://schemas.openxmlformats.org/drawingml/2006/main">
            <a:off x="543560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Peço uma entrega pequena, com dados fictícios.</a:t>
            </a:r>
          </a:p>
        </p:txBody>
      </p:sp>
      <p:sp>
        <p:nvSpPr>
          <p:cNvPr id="11" name="">
            <a:extLst xmlns:a="http://schemas.openxmlformats.org/drawingml/2006/main">
              <a:ext uri="{FF2B5EF4-FFF2-40B4-BE49-F238E27FC236}">
                <a16:creationId xmlns:a16="http://schemas.microsoft.com/office/drawing/2014/main" id="{178F26F5-A188-4C41-B30C-C520FCAF68BC}"/>
              </a:ext>
            </a:extLst>
          </p:cNvPr>
          <p:cNvSpPr>
            <a:spLocks xmlns:a="http://schemas.openxmlformats.org/drawingml/2006/main" noGrp="1"/>
          </p:cNvSpPr>
          <p:nvPr/>
        </p:nvSpPr>
        <p:spPr>
          <a:xfrm xmlns:a="http://schemas.openxmlformats.org/drawingml/2006/main">
            <a:off x="988060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88EDEC4-15FB-44F5-A661-832F6F12CECF}"/>
              </a:ext>
            </a:extLst>
          </p:cNvPr>
          <p:cNvSpPr>
            <a:spLocks xmlns:a="http://schemas.openxmlformats.org/drawingml/2006/main" noGrp="1"/>
          </p:cNvSpPr>
          <p:nvPr/>
        </p:nvSpPr>
        <p:spPr>
          <a:xfrm xmlns:a="http://schemas.openxmlformats.org/drawingml/2006/main">
            <a:off x="102044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BF03719E-D5EE-4A42-ADAC-37236EAA0C67}"/>
              </a:ext>
            </a:extLst>
          </p:cNvPr>
          <p:cNvSpPr>
            <a:spLocks xmlns:a="http://schemas.openxmlformats.org/drawingml/2006/main" noGrp="1"/>
          </p:cNvSpPr>
          <p:nvPr/>
        </p:nvSpPr>
        <p:spPr>
          <a:xfrm xmlns:a="http://schemas.openxmlformats.org/drawingml/2006/main">
            <a:off x="102044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Avaliar</a:t>
            </a:r>
          </a:p>
        </p:txBody>
      </p:sp>
      <p:sp>
        <p:nvSpPr>
          <p:cNvPr id="14" name="">
            <a:extLst xmlns:a="http://schemas.openxmlformats.org/drawingml/2006/main">
              <a:ext uri="{FF2B5EF4-FFF2-40B4-BE49-F238E27FC236}">
                <a16:creationId xmlns:a16="http://schemas.microsoft.com/office/drawing/2014/main" id="{E8759D1C-FDEB-4E27-B226-FFE1C85A5B94}"/>
              </a:ext>
            </a:extLst>
          </p:cNvPr>
          <p:cNvSpPr>
            <a:spLocks xmlns:a="http://schemas.openxmlformats.org/drawingml/2006/main" noGrp="1"/>
          </p:cNvSpPr>
          <p:nvPr/>
        </p:nvSpPr>
        <p:spPr>
          <a:xfrm xmlns:a="http://schemas.openxmlformats.org/drawingml/2006/main">
            <a:off x="102044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Vejo o que serviu e o que precisa mudar.</a:t>
            </a:r>
          </a:p>
        </p:txBody>
      </p:sp>
      <p:sp>
        <p:nvSpPr>
          <p:cNvPr id="15" name="">
            <a:extLst xmlns:a="http://schemas.openxmlformats.org/drawingml/2006/main">
              <a:ext uri="{FF2B5EF4-FFF2-40B4-BE49-F238E27FC236}">
                <a16:creationId xmlns:a16="http://schemas.microsoft.com/office/drawing/2014/main" id="{EC7D0963-7B5E-4FD4-ACB0-C9ACA5DBF6EB}"/>
              </a:ext>
            </a:extLst>
          </p:cNvPr>
          <p:cNvSpPr>
            <a:spLocks xmlns:a="http://schemas.openxmlformats.org/drawingml/2006/main" noGrp="1"/>
          </p:cNvSpPr>
          <p:nvPr/>
        </p:nvSpPr>
        <p:spPr>
          <a:xfrm xmlns:a="http://schemas.openxmlformats.org/drawingml/2006/main">
            <a:off x="666750" y="723900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FCEB8"/>
                </a:solidFill>
                <a:latin typeface="Arial"/>
                <a:ea typeface="Arial"/>
                <a:cs typeface="Arial"/>
              </a:defRPr>
            </a:pPr>
            <a:r>
              <a:rPr sz="1950" b="0">
                <a:solidFill>
                  <a:srgbClr val="BFCEB8"/>
                </a:solidFill>
                <a:latin typeface="Arial"/>
                <a:ea typeface="Arial"/>
                <a:cs typeface="Arial"/>
              </a:rPr>
              <a:t>A sua curiosidade já é matéria-prima. Comece por algo que importa para você.</a:t>
            </a:r>
          </a:p>
        </p:txBody>
      </p:sp>
      <p:sp>
        <p:nvSpPr>
          <p:cNvPr id="16" name="">
            <a:extLst xmlns:a="http://schemas.openxmlformats.org/drawingml/2006/main">
              <a:ext uri="{FF2B5EF4-FFF2-40B4-BE49-F238E27FC236}">
                <a16:creationId xmlns:a16="http://schemas.microsoft.com/office/drawing/2014/main" id="{597156E4-180C-492B-A899-7C69B257ABC1}"/>
              </a:ext>
            </a:extLst>
          </p:cNvPr>
          <p:cNvSpPr>
            <a:spLocks xmlns:a="http://schemas.openxmlformats.org/drawingml/2006/main" noGrp="1"/>
          </p:cNvSpPr>
          <p:nvPr/>
        </p:nvSpPr>
        <p:spPr>
          <a:xfrm xmlns:a="http://schemas.openxmlformats.org/drawingml/2006/main">
            <a:off x="666750" y="8115300"/>
            <a:ext cx="1381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0ABB0"/>
                </a:solidFill>
                <a:latin typeface="Arial"/>
                <a:ea typeface="Arial"/>
                <a:cs typeface="Arial"/>
              </a:defRPr>
            </a:pPr>
            <a:r>
              <a:rPr sz="1275" b="0">
                <a:solidFill>
                  <a:srgbClr val="B0ABB0"/>
                </a:solidFill>
                <a:latin typeface="Arial"/>
                <a:ea typeface="Arial"/>
                <a:cs typeface="Arial"/>
              </a:rPr>
              <a:t>Emada Academy · Fundamentos · Aula 1 · 1/5</a:t>
            </a:r>
          </a:p>
        </p:txBody>
      </p:sp>
    </p:spTree>
    <p:extLst>
      <p:ext uri="{BB962C8B-B14F-4D97-AF65-F5344CB8AC3E}">
        <p14:creationId xmlns:p14="http://schemas.microsoft.com/office/powerpoint/2010/main" val="1606365840"/>
      </p:ext>
    </p:extLst>
  </p:cSld>
</p:sld>
</file>

<file path=ppt/slides/slide2.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B7884F9-4EBB-4D79-B51F-A0DEDBC294A4}"/>
              </a:ext>
            </a:extLst>
          </p:cNvPr>
          <p:cNvSpPr>
            <a:spLocks xmlns:a="http://schemas.openxmlformats.org/drawingml/2006/main" noGrp="1"/>
          </p:cNvSpPr>
          <p:nvPr/>
        </p:nvSpPr>
        <p:spPr>
          <a:xfrm xmlns:a="http://schemas.openxmlformats.org/drawingml/2006/main">
            <a:off x="666750" y="523875"/>
            <a:ext cx="1381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F6F3F5"/>
                </a:solidFill>
                <a:latin typeface="Arial"/>
                <a:ea typeface="Arial"/>
                <a:cs typeface="Arial"/>
              </a:defRPr>
            </a:pPr>
            <a:r>
              <a:rPr sz="3450" b="0">
                <a:solidFill>
                  <a:srgbClr val="F6F3F5"/>
                </a:solidFill>
                <a:latin typeface="Arial"/>
                <a:ea typeface="Arial"/>
                <a:cs typeface="Arial"/>
              </a:rPr>
              <a:t>O que vamos usar aqui</a:t>
            </a:r>
          </a:p>
        </p:txBody>
      </p:sp>
      <p:sp>
        <p:nvSpPr>
          <p:cNvPr id="2" name="">
            <a:extLst xmlns:a="http://schemas.openxmlformats.org/drawingml/2006/main">
              <a:ext uri="{FF2B5EF4-FFF2-40B4-BE49-F238E27FC236}">
                <a16:creationId xmlns:a16="http://schemas.microsoft.com/office/drawing/2014/main" id="{2A194860-53AE-46C3-9B61-2CA087063171}"/>
              </a:ext>
            </a:extLst>
          </p:cNvPr>
          <p:cNvSpPr>
            <a:spLocks xmlns:a="http://schemas.openxmlformats.org/drawingml/2006/main" noGrp="1"/>
          </p:cNvSpPr>
          <p:nvPr/>
        </p:nvSpPr>
        <p:spPr>
          <a:xfrm xmlns:a="http://schemas.openxmlformats.org/drawingml/2006/main">
            <a:off x="666750" y="1762125"/>
            <a:ext cx="13620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6CFD4"/>
                </a:solidFill>
                <a:latin typeface="Arial"/>
                <a:ea typeface="Arial"/>
                <a:cs typeface="Arial"/>
              </a:defRPr>
            </a:pPr>
            <a:r>
              <a:rPr sz="2025" b="0">
                <a:solidFill>
                  <a:srgbClr val="D6CFD4"/>
                </a:solidFill>
                <a:latin typeface="Arial"/>
                <a:ea typeface="Arial"/>
                <a:cs typeface="Arial"/>
              </a:rPr>
              <a:t>Inteligência artificial é um campo amplo. Neste curso, nosso ponto de partida é a IA generativa de texto: um sistema capaz de produzir respostas a partir das instruções e informações que recebe.</a:t>
            </a:r>
          </a:p>
        </p:txBody>
      </p:sp>
      <p:sp>
        <p:nvSpPr>
          <p:cNvPr id="3" name="">
            <a:extLst xmlns:a="http://schemas.openxmlformats.org/drawingml/2006/main">
              <a:ext uri="{FF2B5EF4-FFF2-40B4-BE49-F238E27FC236}">
                <a16:creationId xmlns:a16="http://schemas.microsoft.com/office/drawing/2014/main" id="{F9F2F66D-95ED-454E-A90B-919078903335}"/>
              </a:ext>
            </a:extLst>
          </p:cNvPr>
          <p:cNvSpPr>
            <a:spLocks xmlns:a="http://schemas.openxmlformats.org/drawingml/2006/main" noGrp="1"/>
          </p:cNvSpPr>
          <p:nvPr/>
        </p:nvSpPr>
        <p:spPr>
          <a:xfrm xmlns:a="http://schemas.openxmlformats.org/drawingml/2006/main">
            <a:off x="666750" y="3238500"/>
            <a:ext cx="1381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7B5D4"/>
                </a:solidFill>
                <a:latin typeface="Arial"/>
                <a:ea typeface="Arial"/>
                <a:cs typeface="Arial"/>
              </a:defRPr>
            </a:pPr>
            <a:r>
              <a:rPr sz="2175" b="0">
                <a:solidFill>
                  <a:srgbClr val="E7B5D4"/>
                </a:solidFill>
                <a:latin typeface="Arial"/>
                <a:ea typeface="Arial"/>
                <a:cs typeface="Arial"/>
              </a:rPr>
              <a:t>O caminho de uma mensagem</a:t>
            </a:r>
          </a:p>
        </p:txBody>
      </p:sp>
      <p:sp>
        <p:nvSpPr>
          <p:cNvPr id="4" name="">
            <a:extLst xmlns:a="http://schemas.openxmlformats.org/drawingml/2006/main">
              <a:ext uri="{FF2B5EF4-FFF2-40B4-BE49-F238E27FC236}">
                <a16:creationId xmlns:a16="http://schemas.microsoft.com/office/drawing/2014/main" id="{36044A18-E15B-49D2-9E75-34F2343D2DBD}"/>
              </a:ext>
            </a:extLst>
          </p:cNvPr>
          <p:cNvSpPr>
            <a:spLocks xmlns:a="http://schemas.openxmlformats.org/drawingml/2006/main" noGrp="1"/>
          </p:cNvSpPr>
          <p:nvPr/>
        </p:nvSpPr>
        <p:spPr>
          <a:xfrm xmlns:a="http://schemas.openxmlformats.org/drawingml/2006/main">
            <a:off x="6667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03EEBBAF-CB85-4C37-9C99-FB6317538363}"/>
              </a:ext>
            </a:extLst>
          </p:cNvPr>
          <p:cNvSpPr>
            <a:spLocks xmlns:a="http://schemas.openxmlformats.org/drawingml/2006/main" noGrp="1"/>
          </p:cNvSpPr>
          <p:nvPr/>
        </p:nvSpPr>
        <p:spPr>
          <a:xfrm xmlns:a="http://schemas.openxmlformats.org/drawingml/2006/main">
            <a:off x="6667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Seu pedido</a:t>
            </a:r>
          </a:p>
        </p:txBody>
      </p:sp>
      <p:sp>
        <p:nvSpPr>
          <p:cNvPr id="6" name="">
            <a:extLst xmlns:a="http://schemas.openxmlformats.org/drawingml/2006/main">
              <a:ext uri="{FF2B5EF4-FFF2-40B4-BE49-F238E27FC236}">
                <a16:creationId xmlns:a16="http://schemas.microsoft.com/office/drawing/2014/main" id="{35BE291F-E8E9-4C82-AEBD-81F587D90AC7}"/>
              </a:ext>
            </a:extLst>
          </p:cNvPr>
          <p:cNvSpPr>
            <a:spLocks xmlns:a="http://schemas.openxmlformats.org/drawingml/2006/main" noGrp="1"/>
          </p:cNvSpPr>
          <p:nvPr/>
        </p:nvSpPr>
        <p:spPr>
          <a:xfrm xmlns:a="http://schemas.openxmlformats.org/drawingml/2006/main">
            <a:off x="6667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Instruções, informações e uma tarefa.</a:t>
            </a:r>
          </a:p>
        </p:txBody>
      </p:sp>
      <p:sp>
        <p:nvSpPr>
          <p:cNvPr id="7" name="">
            <a:extLst xmlns:a="http://schemas.openxmlformats.org/drawingml/2006/main">
              <a:ext uri="{FF2B5EF4-FFF2-40B4-BE49-F238E27FC236}">
                <a16:creationId xmlns:a16="http://schemas.microsoft.com/office/drawing/2014/main" id="{5AD85DAC-11E9-4713-8AD6-DE74971432BA}"/>
              </a:ext>
            </a:extLst>
          </p:cNvPr>
          <p:cNvSpPr>
            <a:spLocks xmlns:a="http://schemas.openxmlformats.org/drawingml/2006/main" noGrp="1"/>
          </p:cNvSpPr>
          <p:nvPr/>
        </p:nvSpPr>
        <p:spPr>
          <a:xfrm xmlns:a="http://schemas.openxmlformats.org/drawingml/2006/main">
            <a:off x="511175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046D3E0-A57A-4F71-A010-97D3AA1BD6F0}"/>
              </a:ext>
            </a:extLst>
          </p:cNvPr>
          <p:cNvSpPr>
            <a:spLocks xmlns:a="http://schemas.openxmlformats.org/drawingml/2006/main" noGrp="1"/>
          </p:cNvSpPr>
          <p:nvPr/>
        </p:nvSpPr>
        <p:spPr>
          <a:xfrm xmlns:a="http://schemas.openxmlformats.org/drawingml/2006/main">
            <a:off x="543560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B1C5D611-B4A9-4D28-8037-5E44132A33C3}"/>
              </a:ext>
            </a:extLst>
          </p:cNvPr>
          <p:cNvSpPr>
            <a:spLocks xmlns:a="http://schemas.openxmlformats.org/drawingml/2006/main" noGrp="1"/>
          </p:cNvSpPr>
          <p:nvPr/>
        </p:nvSpPr>
        <p:spPr>
          <a:xfrm xmlns:a="http://schemas.openxmlformats.org/drawingml/2006/main">
            <a:off x="543560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Modelo</a:t>
            </a:r>
          </a:p>
        </p:txBody>
      </p:sp>
      <p:sp>
        <p:nvSpPr>
          <p:cNvPr id="10" name="">
            <a:extLst xmlns:a="http://schemas.openxmlformats.org/drawingml/2006/main">
              <a:ext uri="{FF2B5EF4-FFF2-40B4-BE49-F238E27FC236}">
                <a16:creationId xmlns:a16="http://schemas.microsoft.com/office/drawing/2014/main" id="{737C9736-B483-4593-98F5-CEB12F6F9340}"/>
              </a:ext>
            </a:extLst>
          </p:cNvPr>
          <p:cNvSpPr>
            <a:spLocks xmlns:a="http://schemas.openxmlformats.org/drawingml/2006/main" noGrp="1"/>
          </p:cNvSpPr>
          <p:nvPr/>
        </p:nvSpPr>
        <p:spPr>
          <a:xfrm xmlns:a="http://schemas.openxmlformats.org/drawingml/2006/main">
            <a:off x="543560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Produz uma resposta a partir do contexto disponível.</a:t>
            </a:r>
          </a:p>
        </p:txBody>
      </p:sp>
      <p:sp>
        <p:nvSpPr>
          <p:cNvPr id="11" name="">
            <a:extLst xmlns:a="http://schemas.openxmlformats.org/drawingml/2006/main">
              <a:ext uri="{FF2B5EF4-FFF2-40B4-BE49-F238E27FC236}">
                <a16:creationId xmlns:a16="http://schemas.microsoft.com/office/drawing/2014/main" id="{F114B66D-C364-448E-AD44-F6DDA019A8A7}"/>
              </a:ext>
            </a:extLst>
          </p:cNvPr>
          <p:cNvSpPr>
            <a:spLocks xmlns:a="http://schemas.openxmlformats.org/drawingml/2006/main" noGrp="1"/>
          </p:cNvSpPr>
          <p:nvPr/>
        </p:nvSpPr>
        <p:spPr>
          <a:xfrm xmlns:a="http://schemas.openxmlformats.org/drawingml/2006/main">
            <a:off x="988060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8170CAC-FD8E-4576-BD14-0C1A8F295C0F}"/>
              </a:ext>
            </a:extLst>
          </p:cNvPr>
          <p:cNvSpPr>
            <a:spLocks xmlns:a="http://schemas.openxmlformats.org/drawingml/2006/main" noGrp="1"/>
          </p:cNvSpPr>
          <p:nvPr/>
        </p:nvSpPr>
        <p:spPr>
          <a:xfrm xmlns:a="http://schemas.openxmlformats.org/drawingml/2006/main">
            <a:off x="102044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2CA224B4-ECB0-42DF-A989-5A2C9CBC3656}"/>
              </a:ext>
            </a:extLst>
          </p:cNvPr>
          <p:cNvSpPr>
            <a:spLocks xmlns:a="http://schemas.openxmlformats.org/drawingml/2006/main" noGrp="1"/>
          </p:cNvSpPr>
          <p:nvPr/>
        </p:nvSpPr>
        <p:spPr>
          <a:xfrm xmlns:a="http://schemas.openxmlformats.org/drawingml/2006/main">
            <a:off x="102044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Sua leitura</a:t>
            </a:r>
          </a:p>
        </p:txBody>
      </p:sp>
      <p:sp>
        <p:nvSpPr>
          <p:cNvPr id="14" name="">
            <a:extLst xmlns:a="http://schemas.openxmlformats.org/drawingml/2006/main">
              <a:ext uri="{FF2B5EF4-FFF2-40B4-BE49-F238E27FC236}">
                <a16:creationId xmlns:a16="http://schemas.microsoft.com/office/drawing/2014/main" id="{7E0DE456-75D0-4674-A7EB-D462D00EC8B5}"/>
              </a:ext>
            </a:extLst>
          </p:cNvPr>
          <p:cNvSpPr>
            <a:spLocks xmlns:a="http://schemas.openxmlformats.org/drawingml/2006/main" noGrp="1"/>
          </p:cNvSpPr>
          <p:nvPr/>
        </p:nvSpPr>
        <p:spPr>
          <a:xfrm xmlns:a="http://schemas.openxmlformats.org/drawingml/2006/main">
            <a:off x="102044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Você interpreta, confere e decide como usar.</a:t>
            </a:r>
          </a:p>
        </p:txBody>
      </p:sp>
      <p:sp>
        <p:nvSpPr>
          <p:cNvPr id="15" name="">
            <a:extLst xmlns:a="http://schemas.openxmlformats.org/drawingml/2006/main">
              <a:ext uri="{FF2B5EF4-FFF2-40B4-BE49-F238E27FC236}">
                <a16:creationId xmlns:a16="http://schemas.microsoft.com/office/drawing/2014/main" id="{D03ED9B1-69B5-43F1-8DCD-A8AF053E03D2}"/>
              </a:ext>
            </a:extLst>
          </p:cNvPr>
          <p:cNvSpPr>
            <a:spLocks xmlns:a="http://schemas.openxmlformats.org/drawingml/2006/main" noGrp="1"/>
          </p:cNvSpPr>
          <p:nvPr/>
        </p:nvSpPr>
        <p:spPr>
          <a:xfrm xmlns:a="http://schemas.openxmlformats.org/drawingml/2006/main">
            <a:off x="666750" y="723900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FCEB8"/>
                </a:solidFill>
                <a:latin typeface="Arial"/>
                <a:ea typeface="Arial"/>
                <a:cs typeface="Arial"/>
              </a:defRPr>
            </a:pPr>
            <a:r>
              <a:rPr sz="1950" b="0">
                <a:solidFill>
                  <a:srgbClr val="BFCEB8"/>
                </a:solidFill>
                <a:latin typeface="Arial"/>
                <a:ea typeface="Arial"/>
                <a:cs typeface="Arial"/>
              </a:rPr>
              <a:t>Entender o que a ferramenta faz também significa reconhecer o que ela não fez.</a:t>
            </a:r>
          </a:p>
        </p:txBody>
      </p:sp>
      <p:sp>
        <p:nvSpPr>
          <p:cNvPr id="16" name="">
            <a:extLst xmlns:a="http://schemas.openxmlformats.org/drawingml/2006/main">
              <a:ext uri="{FF2B5EF4-FFF2-40B4-BE49-F238E27FC236}">
                <a16:creationId xmlns:a16="http://schemas.microsoft.com/office/drawing/2014/main" id="{2D8DEF2F-B8A4-4E61-9F12-9B3D0E335EF4}"/>
              </a:ext>
            </a:extLst>
          </p:cNvPr>
          <p:cNvSpPr>
            <a:spLocks xmlns:a="http://schemas.openxmlformats.org/drawingml/2006/main" noGrp="1"/>
          </p:cNvSpPr>
          <p:nvPr/>
        </p:nvSpPr>
        <p:spPr>
          <a:xfrm xmlns:a="http://schemas.openxmlformats.org/drawingml/2006/main">
            <a:off x="666750" y="8115300"/>
            <a:ext cx="1381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0ABB0"/>
                </a:solidFill>
                <a:latin typeface="Arial"/>
                <a:ea typeface="Arial"/>
                <a:cs typeface="Arial"/>
              </a:defRPr>
            </a:pPr>
            <a:r>
              <a:rPr sz="1275" b="0">
                <a:solidFill>
                  <a:srgbClr val="B0ABB0"/>
                </a:solidFill>
                <a:latin typeface="Arial"/>
                <a:ea typeface="Arial"/>
                <a:cs typeface="Arial"/>
              </a:rPr>
              <a:t>Emada Academy · Fundamentos · Aula 1 · 2/5</a:t>
            </a:r>
          </a:p>
        </p:txBody>
      </p:sp>
    </p:spTree>
    <p:extLst>
      <p:ext uri="{BB962C8B-B14F-4D97-AF65-F5344CB8AC3E}">
        <p14:creationId xmlns:p14="http://schemas.microsoft.com/office/powerpoint/2010/main" val="1622746791"/>
      </p:ext>
    </p:extLst>
  </p:cSld>
</p:sld>
</file>

<file path=ppt/slides/slide3.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98AD3342-BECB-4BAA-935D-9267A3EE34C3}"/>
              </a:ext>
            </a:extLst>
          </p:cNvPr>
          <p:cNvSpPr>
            <a:spLocks xmlns:a="http://schemas.openxmlformats.org/drawingml/2006/main" noGrp="1"/>
          </p:cNvSpPr>
          <p:nvPr/>
        </p:nvSpPr>
        <p:spPr>
          <a:xfrm xmlns:a="http://schemas.openxmlformats.org/drawingml/2006/main">
            <a:off x="666750" y="523875"/>
            <a:ext cx="1381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F6F3F5"/>
                </a:solidFill>
                <a:latin typeface="Arial"/>
                <a:ea typeface="Arial"/>
                <a:cs typeface="Arial"/>
              </a:defRPr>
            </a:pPr>
            <a:r>
              <a:rPr sz="3450" b="0">
                <a:solidFill>
                  <a:srgbClr val="F6F3F5"/>
                </a:solidFill>
                <a:latin typeface="Arial"/>
                <a:ea typeface="Arial"/>
                <a:cs typeface="Arial"/>
              </a:rPr>
              <a:t>Uma resposta precisa de avaliação</a:t>
            </a:r>
          </a:p>
        </p:txBody>
      </p:sp>
      <p:sp>
        <p:nvSpPr>
          <p:cNvPr id="2" name="">
            <a:extLst xmlns:a="http://schemas.openxmlformats.org/drawingml/2006/main">
              <a:ext uri="{FF2B5EF4-FFF2-40B4-BE49-F238E27FC236}">
                <a16:creationId xmlns:a16="http://schemas.microsoft.com/office/drawing/2014/main" id="{84DF1274-44A5-4E8C-9E69-CF6BE227F5FE}"/>
              </a:ext>
            </a:extLst>
          </p:cNvPr>
          <p:cNvSpPr>
            <a:spLocks xmlns:a="http://schemas.openxmlformats.org/drawingml/2006/main" noGrp="1"/>
          </p:cNvSpPr>
          <p:nvPr/>
        </p:nvSpPr>
        <p:spPr>
          <a:xfrm xmlns:a="http://schemas.openxmlformats.org/drawingml/2006/main">
            <a:off x="666750" y="1762125"/>
            <a:ext cx="13620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6CFD4"/>
                </a:solidFill>
                <a:latin typeface="Arial"/>
                <a:ea typeface="Arial"/>
                <a:cs typeface="Arial"/>
              </a:defRPr>
            </a:pPr>
            <a:r>
              <a:rPr sz="2025" b="0">
                <a:solidFill>
                  <a:srgbClr val="D6CFD4"/>
                </a:solidFill>
                <a:latin typeface="Arial"/>
                <a:ea typeface="Arial"/>
                <a:cs typeface="Arial"/>
              </a:rPr>
              <a:t>Uma resposta pode ser clara, simpática e errada. A aparência de certeza não é uma prova. Aprender a usar IA inclui aprender a interromper a leitura e perguntar: ‘Como eu sei que isso faz sentido?’</a:t>
            </a:r>
          </a:p>
        </p:txBody>
      </p:sp>
      <p:sp>
        <p:nvSpPr>
          <p:cNvPr id="3" name="">
            <a:extLst xmlns:a="http://schemas.openxmlformats.org/drawingml/2006/main">
              <a:ext uri="{FF2B5EF4-FFF2-40B4-BE49-F238E27FC236}">
                <a16:creationId xmlns:a16="http://schemas.microsoft.com/office/drawing/2014/main" id="{80AFD67D-08B1-4E68-8BD8-16295CBB357C}"/>
              </a:ext>
            </a:extLst>
          </p:cNvPr>
          <p:cNvSpPr>
            <a:spLocks xmlns:a="http://schemas.openxmlformats.org/drawingml/2006/main" noGrp="1"/>
          </p:cNvSpPr>
          <p:nvPr/>
        </p:nvSpPr>
        <p:spPr>
          <a:xfrm xmlns:a="http://schemas.openxmlformats.org/drawingml/2006/main">
            <a:off x="666750" y="3238500"/>
            <a:ext cx="1381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7B5D4"/>
                </a:solidFill>
                <a:latin typeface="Arial"/>
                <a:ea typeface="Arial"/>
                <a:cs typeface="Arial"/>
              </a:defRPr>
            </a:pPr>
            <a:r>
              <a:rPr sz="2175" b="0">
                <a:solidFill>
                  <a:srgbClr val="E7B5D4"/>
                </a:solidFill>
                <a:latin typeface="Arial"/>
                <a:ea typeface="Arial"/>
                <a:cs typeface="Arial"/>
              </a:rPr>
              <a:t>Três perguntas antes de usar</a:t>
            </a:r>
          </a:p>
        </p:txBody>
      </p:sp>
      <p:sp>
        <p:nvSpPr>
          <p:cNvPr id="4" name="">
            <a:extLst xmlns:a="http://schemas.openxmlformats.org/drawingml/2006/main">
              <a:ext uri="{FF2B5EF4-FFF2-40B4-BE49-F238E27FC236}">
                <a16:creationId xmlns:a16="http://schemas.microsoft.com/office/drawing/2014/main" id="{01164C50-AA4D-4ABC-9602-558E384A660A}"/>
              </a:ext>
            </a:extLst>
          </p:cNvPr>
          <p:cNvSpPr>
            <a:spLocks xmlns:a="http://schemas.openxmlformats.org/drawingml/2006/main" noGrp="1"/>
          </p:cNvSpPr>
          <p:nvPr/>
        </p:nvSpPr>
        <p:spPr>
          <a:xfrm xmlns:a="http://schemas.openxmlformats.org/drawingml/2006/main">
            <a:off x="6667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5B8E7BA9-9B58-4073-8D14-0FD3041E9782}"/>
              </a:ext>
            </a:extLst>
          </p:cNvPr>
          <p:cNvSpPr>
            <a:spLocks xmlns:a="http://schemas.openxmlformats.org/drawingml/2006/main" noGrp="1"/>
          </p:cNvSpPr>
          <p:nvPr/>
        </p:nvSpPr>
        <p:spPr>
          <a:xfrm xmlns:a="http://schemas.openxmlformats.org/drawingml/2006/main">
            <a:off x="6667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Está correto?</a:t>
            </a:r>
          </a:p>
        </p:txBody>
      </p:sp>
      <p:sp>
        <p:nvSpPr>
          <p:cNvPr id="6" name="">
            <a:extLst xmlns:a="http://schemas.openxmlformats.org/drawingml/2006/main">
              <a:ext uri="{FF2B5EF4-FFF2-40B4-BE49-F238E27FC236}">
                <a16:creationId xmlns:a16="http://schemas.microsoft.com/office/drawing/2014/main" id="{DC261D8E-4751-48CB-B34B-03174510BBF5}"/>
              </a:ext>
            </a:extLst>
          </p:cNvPr>
          <p:cNvSpPr>
            <a:spLocks xmlns:a="http://schemas.openxmlformats.org/drawingml/2006/main" noGrp="1"/>
          </p:cNvSpPr>
          <p:nvPr/>
        </p:nvSpPr>
        <p:spPr>
          <a:xfrm xmlns:a="http://schemas.openxmlformats.org/drawingml/2006/main">
            <a:off x="6667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Confira números, nomes e afirmações importantes.</a:t>
            </a:r>
          </a:p>
        </p:txBody>
      </p:sp>
      <p:sp>
        <p:nvSpPr>
          <p:cNvPr id="7" name="">
            <a:extLst xmlns:a="http://schemas.openxmlformats.org/drawingml/2006/main">
              <a:ext uri="{FF2B5EF4-FFF2-40B4-BE49-F238E27FC236}">
                <a16:creationId xmlns:a16="http://schemas.microsoft.com/office/drawing/2014/main" id="{27DF0DFB-0ABD-4D4F-A14F-78A96058A657}"/>
              </a:ext>
            </a:extLst>
          </p:cNvPr>
          <p:cNvSpPr>
            <a:spLocks xmlns:a="http://schemas.openxmlformats.org/drawingml/2006/main" noGrp="1"/>
          </p:cNvSpPr>
          <p:nvPr/>
        </p:nvSpPr>
        <p:spPr>
          <a:xfrm xmlns:a="http://schemas.openxmlformats.org/drawingml/2006/main">
            <a:off x="511175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4321E03-4353-495E-853A-470DC7A5B583}"/>
              </a:ext>
            </a:extLst>
          </p:cNvPr>
          <p:cNvSpPr>
            <a:spLocks xmlns:a="http://schemas.openxmlformats.org/drawingml/2006/main" noGrp="1"/>
          </p:cNvSpPr>
          <p:nvPr/>
        </p:nvSpPr>
        <p:spPr>
          <a:xfrm xmlns:a="http://schemas.openxmlformats.org/drawingml/2006/main">
            <a:off x="543560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54061023-9FD8-4131-B544-8CF25793DA0F}"/>
              </a:ext>
            </a:extLst>
          </p:cNvPr>
          <p:cNvSpPr>
            <a:spLocks xmlns:a="http://schemas.openxmlformats.org/drawingml/2006/main" noGrp="1"/>
          </p:cNvSpPr>
          <p:nvPr/>
        </p:nvSpPr>
        <p:spPr>
          <a:xfrm xmlns:a="http://schemas.openxmlformats.org/drawingml/2006/main">
            <a:off x="543560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Serve para mim?</a:t>
            </a:r>
          </a:p>
        </p:txBody>
      </p:sp>
      <p:sp>
        <p:nvSpPr>
          <p:cNvPr id="10" name="">
            <a:extLst xmlns:a="http://schemas.openxmlformats.org/drawingml/2006/main">
              <a:ext uri="{FF2B5EF4-FFF2-40B4-BE49-F238E27FC236}">
                <a16:creationId xmlns:a16="http://schemas.microsoft.com/office/drawing/2014/main" id="{B18E0165-1E9E-4F5A-ACC4-5BAF5C68DEBF}"/>
              </a:ext>
            </a:extLst>
          </p:cNvPr>
          <p:cNvSpPr>
            <a:spLocks xmlns:a="http://schemas.openxmlformats.org/drawingml/2006/main" noGrp="1"/>
          </p:cNvSpPr>
          <p:nvPr/>
        </p:nvSpPr>
        <p:spPr>
          <a:xfrm xmlns:a="http://schemas.openxmlformats.org/drawingml/2006/main">
            <a:off x="543560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Compare com o objetivo e o tom desejado.</a:t>
            </a:r>
          </a:p>
        </p:txBody>
      </p:sp>
      <p:sp>
        <p:nvSpPr>
          <p:cNvPr id="11" name="">
            <a:extLst xmlns:a="http://schemas.openxmlformats.org/drawingml/2006/main">
              <a:ext uri="{FF2B5EF4-FFF2-40B4-BE49-F238E27FC236}">
                <a16:creationId xmlns:a16="http://schemas.microsoft.com/office/drawing/2014/main" id="{A4A7F9D5-57C8-45C5-8728-2EC67D22D2C8}"/>
              </a:ext>
            </a:extLst>
          </p:cNvPr>
          <p:cNvSpPr>
            <a:spLocks xmlns:a="http://schemas.openxmlformats.org/drawingml/2006/main" noGrp="1"/>
          </p:cNvSpPr>
          <p:nvPr/>
        </p:nvSpPr>
        <p:spPr>
          <a:xfrm xmlns:a="http://schemas.openxmlformats.org/drawingml/2006/main">
            <a:off x="988060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9F30E85-E424-436C-BCA8-479C77251C01}"/>
              </a:ext>
            </a:extLst>
          </p:cNvPr>
          <p:cNvSpPr>
            <a:spLocks xmlns:a="http://schemas.openxmlformats.org/drawingml/2006/main" noGrp="1"/>
          </p:cNvSpPr>
          <p:nvPr/>
        </p:nvSpPr>
        <p:spPr>
          <a:xfrm xmlns:a="http://schemas.openxmlformats.org/drawingml/2006/main">
            <a:off x="102044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CD4CF166-3AEB-41A0-925C-BF4AE2D461FC}"/>
              </a:ext>
            </a:extLst>
          </p:cNvPr>
          <p:cNvSpPr>
            <a:spLocks xmlns:a="http://schemas.openxmlformats.org/drawingml/2006/main" noGrp="1"/>
          </p:cNvSpPr>
          <p:nvPr/>
        </p:nvSpPr>
        <p:spPr>
          <a:xfrm xmlns:a="http://schemas.openxmlformats.org/drawingml/2006/main">
            <a:off x="102044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Cabe na realidade?</a:t>
            </a:r>
          </a:p>
        </p:txBody>
      </p:sp>
      <p:sp>
        <p:nvSpPr>
          <p:cNvPr id="14" name="">
            <a:extLst xmlns:a="http://schemas.openxmlformats.org/drawingml/2006/main">
              <a:ext uri="{FF2B5EF4-FFF2-40B4-BE49-F238E27FC236}">
                <a16:creationId xmlns:a16="http://schemas.microsoft.com/office/drawing/2014/main" id="{AB11BA5C-BFFC-4699-AB7C-84BD649D4D03}"/>
              </a:ext>
            </a:extLst>
          </p:cNvPr>
          <p:cNvSpPr>
            <a:spLocks xmlns:a="http://schemas.openxmlformats.org/drawingml/2006/main" noGrp="1"/>
          </p:cNvSpPr>
          <p:nvPr/>
        </p:nvSpPr>
        <p:spPr>
          <a:xfrm xmlns:a="http://schemas.openxmlformats.org/drawingml/2006/main">
            <a:off x="102044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Revise tempo, recursos e condições de execução.</a:t>
            </a:r>
          </a:p>
        </p:txBody>
      </p:sp>
      <p:sp>
        <p:nvSpPr>
          <p:cNvPr id="15" name="">
            <a:extLst xmlns:a="http://schemas.openxmlformats.org/drawingml/2006/main">
              <a:ext uri="{FF2B5EF4-FFF2-40B4-BE49-F238E27FC236}">
                <a16:creationId xmlns:a16="http://schemas.microsoft.com/office/drawing/2014/main" id="{FC8C3809-8D4C-4A9A-81FD-CE8817AEE223}"/>
              </a:ext>
            </a:extLst>
          </p:cNvPr>
          <p:cNvSpPr>
            <a:spLocks xmlns:a="http://schemas.openxmlformats.org/drawingml/2006/main" noGrp="1"/>
          </p:cNvSpPr>
          <p:nvPr/>
        </p:nvSpPr>
        <p:spPr>
          <a:xfrm xmlns:a="http://schemas.openxmlformats.org/drawingml/2006/main">
            <a:off x="666750" y="723900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FCEB8"/>
                </a:solidFill>
                <a:latin typeface="Arial"/>
                <a:ea typeface="Arial"/>
                <a:cs typeface="Arial"/>
              </a:defRPr>
            </a:pPr>
            <a:r>
              <a:rPr sz="1950" b="0">
                <a:solidFill>
                  <a:srgbClr val="BFCEB8"/>
                </a:solidFill>
                <a:latin typeface="Arial"/>
                <a:ea typeface="Arial"/>
                <a:cs typeface="Arial"/>
              </a:rPr>
              <a:t>Seu julgamento faz parte do processo — não é um detalhe depois da resposta.</a:t>
            </a:r>
          </a:p>
        </p:txBody>
      </p:sp>
      <p:sp>
        <p:nvSpPr>
          <p:cNvPr id="16" name="">
            <a:extLst xmlns:a="http://schemas.openxmlformats.org/drawingml/2006/main">
              <a:ext uri="{FF2B5EF4-FFF2-40B4-BE49-F238E27FC236}">
                <a16:creationId xmlns:a16="http://schemas.microsoft.com/office/drawing/2014/main" id="{425E2DBD-0CDB-43B5-9310-8978263E775D}"/>
              </a:ext>
            </a:extLst>
          </p:cNvPr>
          <p:cNvSpPr>
            <a:spLocks xmlns:a="http://schemas.openxmlformats.org/drawingml/2006/main" noGrp="1"/>
          </p:cNvSpPr>
          <p:nvPr/>
        </p:nvSpPr>
        <p:spPr>
          <a:xfrm xmlns:a="http://schemas.openxmlformats.org/drawingml/2006/main">
            <a:off x="666750" y="8115300"/>
            <a:ext cx="1381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0ABB0"/>
                </a:solidFill>
                <a:latin typeface="Arial"/>
                <a:ea typeface="Arial"/>
                <a:cs typeface="Arial"/>
              </a:defRPr>
            </a:pPr>
            <a:r>
              <a:rPr sz="1275" b="0">
                <a:solidFill>
                  <a:srgbClr val="B0ABB0"/>
                </a:solidFill>
                <a:latin typeface="Arial"/>
                <a:ea typeface="Arial"/>
                <a:cs typeface="Arial"/>
              </a:rPr>
              <a:t>Emada Academy · Fundamentos · Aula 1 · 3/5</a:t>
            </a:r>
          </a:p>
        </p:txBody>
      </p:sp>
    </p:spTree>
    <p:extLst>
      <p:ext uri="{BB962C8B-B14F-4D97-AF65-F5344CB8AC3E}">
        <p14:creationId xmlns:p14="http://schemas.microsoft.com/office/powerpoint/2010/main" val="1578429377"/>
      </p:ext>
    </p:extLst>
  </p:cSld>
</p:sld>
</file>

<file path=ppt/slides/slide4.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FFA8677-BDF1-4FAB-BB5D-4B1A06642C40}"/>
              </a:ext>
            </a:extLst>
          </p:cNvPr>
          <p:cNvSpPr>
            <a:spLocks xmlns:a="http://schemas.openxmlformats.org/drawingml/2006/main" noGrp="1"/>
          </p:cNvSpPr>
          <p:nvPr/>
        </p:nvSpPr>
        <p:spPr>
          <a:xfrm xmlns:a="http://schemas.openxmlformats.org/drawingml/2006/main">
            <a:off x="666750" y="523875"/>
            <a:ext cx="1381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F6F3F5"/>
                </a:solidFill>
                <a:latin typeface="Arial"/>
                <a:ea typeface="Arial"/>
                <a:cs typeface="Arial"/>
              </a:defRPr>
            </a:pPr>
            <a:r>
              <a:rPr sz="3450" b="0">
                <a:solidFill>
                  <a:srgbClr val="F6F3F5"/>
                </a:solidFill>
                <a:latin typeface="Arial"/>
                <a:ea typeface="Arial"/>
                <a:cs typeface="Arial"/>
              </a:rPr>
              <a:t>Uma primeira conversa</a:t>
            </a:r>
          </a:p>
        </p:txBody>
      </p:sp>
      <p:sp>
        <p:nvSpPr>
          <p:cNvPr id="2" name="">
            <a:extLst xmlns:a="http://schemas.openxmlformats.org/drawingml/2006/main">
              <a:ext uri="{FF2B5EF4-FFF2-40B4-BE49-F238E27FC236}">
                <a16:creationId xmlns:a16="http://schemas.microsoft.com/office/drawing/2014/main" id="{548D8058-FC03-485E-99A2-876819501D52}"/>
              </a:ext>
            </a:extLst>
          </p:cNvPr>
          <p:cNvSpPr>
            <a:spLocks xmlns:a="http://schemas.openxmlformats.org/drawingml/2006/main" noGrp="1"/>
          </p:cNvSpPr>
          <p:nvPr/>
        </p:nvSpPr>
        <p:spPr>
          <a:xfrm xmlns:a="http://schemas.openxmlformats.org/drawingml/2006/main">
            <a:off x="666750" y="1762125"/>
            <a:ext cx="13620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6CFD4"/>
                </a:solidFill>
                <a:latin typeface="Arial"/>
                <a:ea typeface="Arial"/>
                <a:cs typeface="Arial"/>
              </a:defRPr>
            </a:pPr>
            <a:r>
              <a:rPr sz="2025" b="0">
                <a:solidFill>
                  <a:srgbClr val="D6CFD4"/>
                </a:solidFill>
                <a:latin typeface="Arial"/>
                <a:ea typeface="Arial"/>
                <a:cs typeface="Arial"/>
              </a:rPr>
              <a:t>Conversar com IA não exige uma linguagem secreta. Comece dizendo o que quer fazer, acrescente uma condição importante e convide o sistema a perguntar sobre o que falta. Depois, responda com o que realmente ajuda na tarefa.</a:t>
            </a:r>
          </a:p>
        </p:txBody>
      </p:sp>
      <p:sp>
        <p:nvSpPr>
          <p:cNvPr id="3" name="">
            <a:extLst xmlns:a="http://schemas.openxmlformats.org/drawingml/2006/main">
              <a:ext uri="{FF2B5EF4-FFF2-40B4-BE49-F238E27FC236}">
                <a16:creationId xmlns:a16="http://schemas.microsoft.com/office/drawing/2014/main" id="{D066A3CF-8358-4591-8952-0652F80A75DF}"/>
              </a:ext>
            </a:extLst>
          </p:cNvPr>
          <p:cNvSpPr>
            <a:spLocks xmlns:a="http://schemas.openxmlformats.org/drawingml/2006/main" noGrp="1"/>
          </p:cNvSpPr>
          <p:nvPr/>
        </p:nvSpPr>
        <p:spPr>
          <a:xfrm xmlns:a="http://schemas.openxmlformats.org/drawingml/2006/main">
            <a:off x="666750" y="3238500"/>
            <a:ext cx="1381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7B5D4"/>
                </a:solidFill>
                <a:latin typeface="Arial"/>
                <a:ea typeface="Arial"/>
                <a:cs typeface="Arial"/>
              </a:defRPr>
            </a:pPr>
            <a:r>
              <a:rPr sz="2175" b="0">
                <a:solidFill>
                  <a:srgbClr val="E7B5D4"/>
                </a:solidFill>
                <a:latin typeface="Arial"/>
                <a:ea typeface="Arial"/>
                <a:cs typeface="Arial"/>
              </a:rPr>
              <a:t>Uma conversa em quatro movimentos</a:t>
            </a:r>
          </a:p>
        </p:txBody>
      </p:sp>
      <p:sp>
        <p:nvSpPr>
          <p:cNvPr id="4" name="">
            <a:extLst xmlns:a="http://schemas.openxmlformats.org/drawingml/2006/main">
              <a:ext uri="{FF2B5EF4-FFF2-40B4-BE49-F238E27FC236}">
                <a16:creationId xmlns:a16="http://schemas.microsoft.com/office/drawing/2014/main" id="{93972F5A-5075-45BB-A248-3DE4B2DD5370}"/>
              </a:ext>
            </a:extLst>
          </p:cNvPr>
          <p:cNvSpPr>
            <a:spLocks xmlns:a="http://schemas.openxmlformats.org/drawingml/2006/main" noGrp="1"/>
          </p:cNvSpPr>
          <p:nvPr/>
        </p:nvSpPr>
        <p:spPr>
          <a:xfrm xmlns:a="http://schemas.openxmlformats.org/drawingml/2006/main">
            <a:off x="666750" y="4143375"/>
            <a:ext cx="3176588"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9278BF94-5EB2-40A2-8194-729773B0EAAE}"/>
              </a:ext>
            </a:extLst>
          </p:cNvPr>
          <p:cNvSpPr>
            <a:spLocks xmlns:a="http://schemas.openxmlformats.org/drawingml/2006/main" noGrp="1"/>
          </p:cNvSpPr>
          <p:nvPr/>
        </p:nvSpPr>
        <p:spPr>
          <a:xfrm xmlns:a="http://schemas.openxmlformats.org/drawingml/2006/main">
            <a:off x="666750" y="4667250"/>
            <a:ext cx="3176588"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Pedir</a:t>
            </a:r>
          </a:p>
        </p:txBody>
      </p:sp>
      <p:sp>
        <p:nvSpPr>
          <p:cNvPr id="6" name="">
            <a:extLst xmlns:a="http://schemas.openxmlformats.org/drawingml/2006/main">
              <a:ext uri="{FF2B5EF4-FFF2-40B4-BE49-F238E27FC236}">
                <a16:creationId xmlns:a16="http://schemas.microsoft.com/office/drawing/2014/main" id="{760CC838-D223-43E9-8A87-833FE6C73544}"/>
              </a:ext>
            </a:extLst>
          </p:cNvPr>
          <p:cNvSpPr>
            <a:spLocks xmlns:a="http://schemas.openxmlformats.org/drawingml/2006/main" noGrp="1"/>
          </p:cNvSpPr>
          <p:nvPr/>
        </p:nvSpPr>
        <p:spPr>
          <a:xfrm xmlns:a="http://schemas.openxmlformats.org/drawingml/2006/main">
            <a:off x="666750" y="5619750"/>
            <a:ext cx="3176588"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Diga o resultado que procura.</a:t>
            </a:r>
          </a:p>
        </p:txBody>
      </p:sp>
      <p:sp>
        <p:nvSpPr>
          <p:cNvPr id="7" name="">
            <a:extLst xmlns:a="http://schemas.openxmlformats.org/drawingml/2006/main">
              <a:ext uri="{FF2B5EF4-FFF2-40B4-BE49-F238E27FC236}">
                <a16:creationId xmlns:a16="http://schemas.microsoft.com/office/drawing/2014/main" id="{51CC0957-A0A9-42A7-94F9-4D5D150DACF0}"/>
              </a:ext>
            </a:extLst>
          </p:cNvPr>
          <p:cNvSpPr>
            <a:spLocks xmlns:a="http://schemas.openxmlformats.org/drawingml/2006/main" noGrp="1"/>
          </p:cNvSpPr>
          <p:nvPr/>
        </p:nvSpPr>
        <p:spPr>
          <a:xfrm xmlns:a="http://schemas.openxmlformats.org/drawingml/2006/main">
            <a:off x="3919538"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85B30347-630E-4550-A214-26E61E37ABE2}"/>
              </a:ext>
            </a:extLst>
          </p:cNvPr>
          <p:cNvSpPr>
            <a:spLocks xmlns:a="http://schemas.openxmlformats.org/drawingml/2006/main" noGrp="1"/>
          </p:cNvSpPr>
          <p:nvPr/>
        </p:nvSpPr>
        <p:spPr>
          <a:xfrm xmlns:a="http://schemas.openxmlformats.org/drawingml/2006/main">
            <a:off x="4243388" y="4143375"/>
            <a:ext cx="3176588"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EEF5D49E-281B-4EE2-B7C5-E1C99956A40B}"/>
              </a:ext>
            </a:extLst>
          </p:cNvPr>
          <p:cNvSpPr>
            <a:spLocks xmlns:a="http://schemas.openxmlformats.org/drawingml/2006/main" noGrp="1"/>
          </p:cNvSpPr>
          <p:nvPr/>
        </p:nvSpPr>
        <p:spPr>
          <a:xfrm xmlns:a="http://schemas.openxmlformats.org/drawingml/2006/main">
            <a:off x="4243388" y="4667250"/>
            <a:ext cx="3176588"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Esclarecer</a:t>
            </a:r>
          </a:p>
        </p:txBody>
      </p:sp>
      <p:sp>
        <p:nvSpPr>
          <p:cNvPr id="10" name="">
            <a:extLst xmlns:a="http://schemas.openxmlformats.org/drawingml/2006/main">
              <a:ext uri="{FF2B5EF4-FFF2-40B4-BE49-F238E27FC236}">
                <a16:creationId xmlns:a16="http://schemas.microsoft.com/office/drawing/2014/main" id="{D14DFF1D-90A2-4FCE-A29E-19A7403D9A7D}"/>
              </a:ext>
            </a:extLst>
          </p:cNvPr>
          <p:cNvSpPr>
            <a:spLocks xmlns:a="http://schemas.openxmlformats.org/drawingml/2006/main" noGrp="1"/>
          </p:cNvSpPr>
          <p:nvPr/>
        </p:nvSpPr>
        <p:spPr>
          <a:xfrm xmlns:a="http://schemas.openxmlformats.org/drawingml/2006/main">
            <a:off x="4243388" y="5619750"/>
            <a:ext cx="3176588"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Responda ao que falta saber.</a:t>
            </a:r>
          </a:p>
        </p:txBody>
      </p:sp>
      <p:sp>
        <p:nvSpPr>
          <p:cNvPr id="11" name="">
            <a:extLst xmlns:a="http://schemas.openxmlformats.org/drawingml/2006/main">
              <a:ext uri="{FF2B5EF4-FFF2-40B4-BE49-F238E27FC236}">
                <a16:creationId xmlns:a16="http://schemas.microsoft.com/office/drawing/2014/main" id="{F0787240-3B4E-483B-B86B-265CF4666868}"/>
              </a:ext>
            </a:extLst>
          </p:cNvPr>
          <p:cNvSpPr>
            <a:spLocks xmlns:a="http://schemas.openxmlformats.org/drawingml/2006/main" noGrp="1"/>
          </p:cNvSpPr>
          <p:nvPr/>
        </p:nvSpPr>
        <p:spPr>
          <a:xfrm xmlns:a="http://schemas.openxmlformats.org/drawingml/2006/main">
            <a:off x="7496175"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190DD30-5FD8-4491-8DE9-CF858E72F6C0}"/>
              </a:ext>
            </a:extLst>
          </p:cNvPr>
          <p:cNvSpPr>
            <a:spLocks xmlns:a="http://schemas.openxmlformats.org/drawingml/2006/main" noGrp="1"/>
          </p:cNvSpPr>
          <p:nvPr/>
        </p:nvSpPr>
        <p:spPr>
          <a:xfrm xmlns:a="http://schemas.openxmlformats.org/drawingml/2006/main">
            <a:off x="7820025" y="4143375"/>
            <a:ext cx="3176588"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79EF77EB-3B05-47A0-B76B-E070A8BC32C9}"/>
              </a:ext>
            </a:extLst>
          </p:cNvPr>
          <p:cNvSpPr>
            <a:spLocks xmlns:a="http://schemas.openxmlformats.org/drawingml/2006/main" noGrp="1"/>
          </p:cNvSpPr>
          <p:nvPr/>
        </p:nvSpPr>
        <p:spPr>
          <a:xfrm xmlns:a="http://schemas.openxmlformats.org/drawingml/2006/main">
            <a:off x="7820025" y="4667250"/>
            <a:ext cx="3176588"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Examinar</a:t>
            </a:r>
          </a:p>
        </p:txBody>
      </p:sp>
      <p:sp>
        <p:nvSpPr>
          <p:cNvPr id="14" name="">
            <a:extLst xmlns:a="http://schemas.openxmlformats.org/drawingml/2006/main">
              <a:ext uri="{FF2B5EF4-FFF2-40B4-BE49-F238E27FC236}">
                <a16:creationId xmlns:a16="http://schemas.microsoft.com/office/drawing/2014/main" id="{F5CE2334-FEAE-47CE-8198-BD49C72A1447}"/>
              </a:ext>
            </a:extLst>
          </p:cNvPr>
          <p:cNvSpPr>
            <a:spLocks xmlns:a="http://schemas.openxmlformats.org/drawingml/2006/main" noGrp="1"/>
          </p:cNvSpPr>
          <p:nvPr/>
        </p:nvSpPr>
        <p:spPr>
          <a:xfrm xmlns:a="http://schemas.openxmlformats.org/drawingml/2006/main">
            <a:off x="7820025" y="5619750"/>
            <a:ext cx="3176588"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Veja o que encaixa e o que não encaixa.</a:t>
            </a:r>
          </a:p>
        </p:txBody>
      </p:sp>
      <p:sp>
        <p:nvSpPr>
          <p:cNvPr id="15" name="">
            <a:extLst xmlns:a="http://schemas.openxmlformats.org/drawingml/2006/main">
              <a:ext uri="{FF2B5EF4-FFF2-40B4-BE49-F238E27FC236}">
                <a16:creationId xmlns:a16="http://schemas.microsoft.com/office/drawing/2014/main" id="{3DB99872-160D-40BE-9325-431F0EEA24B1}"/>
              </a:ext>
            </a:extLst>
          </p:cNvPr>
          <p:cNvSpPr>
            <a:spLocks xmlns:a="http://schemas.openxmlformats.org/drawingml/2006/main" noGrp="1"/>
          </p:cNvSpPr>
          <p:nvPr/>
        </p:nvSpPr>
        <p:spPr>
          <a:xfrm xmlns:a="http://schemas.openxmlformats.org/drawingml/2006/main">
            <a:off x="11072813"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F9E21E5-C877-42A9-AB86-E3C4C5558D6D}"/>
              </a:ext>
            </a:extLst>
          </p:cNvPr>
          <p:cNvSpPr>
            <a:spLocks xmlns:a="http://schemas.openxmlformats.org/drawingml/2006/main" noGrp="1"/>
          </p:cNvSpPr>
          <p:nvPr/>
        </p:nvSpPr>
        <p:spPr>
          <a:xfrm xmlns:a="http://schemas.openxmlformats.org/drawingml/2006/main">
            <a:off x="11396663" y="4143375"/>
            <a:ext cx="3176588"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04</a:t>
            </a:r>
          </a:p>
        </p:txBody>
      </p:sp>
      <p:sp>
        <p:nvSpPr>
          <p:cNvPr id="17" name="">
            <a:extLst xmlns:a="http://schemas.openxmlformats.org/drawingml/2006/main">
              <a:ext uri="{FF2B5EF4-FFF2-40B4-BE49-F238E27FC236}">
                <a16:creationId xmlns:a16="http://schemas.microsoft.com/office/drawing/2014/main" id="{05012906-B958-4012-B73D-2BBA97C5C162}"/>
              </a:ext>
            </a:extLst>
          </p:cNvPr>
          <p:cNvSpPr>
            <a:spLocks xmlns:a="http://schemas.openxmlformats.org/drawingml/2006/main" noGrp="1"/>
          </p:cNvSpPr>
          <p:nvPr/>
        </p:nvSpPr>
        <p:spPr>
          <a:xfrm xmlns:a="http://schemas.openxmlformats.org/drawingml/2006/main">
            <a:off x="11396663" y="4667250"/>
            <a:ext cx="3176588"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Ajustar</a:t>
            </a:r>
          </a:p>
        </p:txBody>
      </p:sp>
      <p:sp>
        <p:nvSpPr>
          <p:cNvPr id="18" name="">
            <a:extLst xmlns:a="http://schemas.openxmlformats.org/drawingml/2006/main">
              <a:ext uri="{FF2B5EF4-FFF2-40B4-BE49-F238E27FC236}">
                <a16:creationId xmlns:a16="http://schemas.microsoft.com/office/drawing/2014/main" id="{832AC00B-282F-4BBD-9878-4CEAAC95B8CB}"/>
              </a:ext>
            </a:extLst>
          </p:cNvPr>
          <p:cNvSpPr>
            <a:spLocks xmlns:a="http://schemas.openxmlformats.org/drawingml/2006/main" noGrp="1"/>
          </p:cNvSpPr>
          <p:nvPr/>
        </p:nvSpPr>
        <p:spPr>
          <a:xfrm xmlns:a="http://schemas.openxmlformats.org/drawingml/2006/main">
            <a:off x="11396663" y="5619750"/>
            <a:ext cx="3176588"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Dê uma orientação específica para a próxima versão.</a:t>
            </a:r>
          </a:p>
        </p:txBody>
      </p:sp>
      <p:sp>
        <p:nvSpPr>
          <p:cNvPr id="19" name="">
            <a:extLst xmlns:a="http://schemas.openxmlformats.org/drawingml/2006/main">
              <a:ext uri="{FF2B5EF4-FFF2-40B4-BE49-F238E27FC236}">
                <a16:creationId xmlns:a16="http://schemas.microsoft.com/office/drawing/2014/main" id="{A1962B67-C935-44EA-AE65-1B11EEA6FA1A}"/>
              </a:ext>
            </a:extLst>
          </p:cNvPr>
          <p:cNvSpPr>
            <a:spLocks xmlns:a="http://schemas.openxmlformats.org/drawingml/2006/main" noGrp="1"/>
          </p:cNvSpPr>
          <p:nvPr/>
        </p:nvSpPr>
        <p:spPr>
          <a:xfrm xmlns:a="http://schemas.openxmlformats.org/drawingml/2006/main">
            <a:off x="666750" y="723900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FCEB8"/>
                </a:solidFill>
                <a:latin typeface="Arial"/>
                <a:ea typeface="Arial"/>
                <a:cs typeface="Arial"/>
              </a:defRPr>
            </a:pPr>
            <a:r>
              <a:rPr sz="1950" b="0">
                <a:solidFill>
                  <a:srgbClr val="BFCEB8"/>
                </a:solidFill>
                <a:latin typeface="Arial"/>
                <a:ea typeface="Arial"/>
                <a:cs typeface="Arial"/>
              </a:rPr>
              <a:t>Você pode começar com poucas palavras e construir clareza durante a conversa.</a:t>
            </a:r>
          </a:p>
        </p:txBody>
      </p:sp>
      <p:sp>
        <p:nvSpPr>
          <p:cNvPr id="20" name="">
            <a:extLst xmlns:a="http://schemas.openxmlformats.org/drawingml/2006/main">
              <a:ext uri="{FF2B5EF4-FFF2-40B4-BE49-F238E27FC236}">
                <a16:creationId xmlns:a16="http://schemas.microsoft.com/office/drawing/2014/main" id="{25208FA4-8E2E-48BE-9A13-00D7FAEF6F53}"/>
              </a:ext>
            </a:extLst>
          </p:cNvPr>
          <p:cNvSpPr>
            <a:spLocks xmlns:a="http://schemas.openxmlformats.org/drawingml/2006/main" noGrp="1"/>
          </p:cNvSpPr>
          <p:nvPr/>
        </p:nvSpPr>
        <p:spPr>
          <a:xfrm xmlns:a="http://schemas.openxmlformats.org/drawingml/2006/main">
            <a:off x="666750" y="8115300"/>
            <a:ext cx="1381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0ABB0"/>
                </a:solidFill>
                <a:latin typeface="Arial"/>
                <a:ea typeface="Arial"/>
                <a:cs typeface="Arial"/>
              </a:defRPr>
            </a:pPr>
            <a:r>
              <a:rPr sz="1275" b="0">
                <a:solidFill>
                  <a:srgbClr val="B0ABB0"/>
                </a:solidFill>
                <a:latin typeface="Arial"/>
                <a:ea typeface="Arial"/>
                <a:cs typeface="Arial"/>
              </a:rPr>
              <a:t>Emada Academy · Fundamentos · Aula 1 · 4/5</a:t>
            </a:r>
          </a:p>
        </p:txBody>
      </p:sp>
    </p:spTree>
    <p:extLst>
      <p:ext uri="{BB962C8B-B14F-4D97-AF65-F5344CB8AC3E}">
        <p14:creationId xmlns:p14="http://schemas.microsoft.com/office/powerpoint/2010/main" val="1409877204"/>
      </p:ext>
    </p:extLst>
  </p:cSld>
</p:sld>
</file>

<file path=ppt/slides/slide5.xml><?xml version="1.0" encoding="utf-8"?>
<p:sld xmlns:p="http://schemas.openxmlformats.org/presentationml/2006/main">
  <p:cSld>
    <p:bg>
      <p:bgPr>
        <a:solidFill xmlns:a="http://schemas.openxmlformats.org/drawingml/2006/main">
          <a:srgbClr val="10101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5A13B14-ACA9-4280-A65A-FD9F1941158F}"/>
              </a:ext>
            </a:extLst>
          </p:cNvPr>
          <p:cNvSpPr>
            <a:spLocks xmlns:a="http://schemas.openxmlformats.org/drawingml/2006/main" noGrp="1"/>
          </p:cNvSpPr>
          <p:nvPr/>
        </p:nvSpPr>
        <p:spPr>
          <a:xfrm xmlns:a="http://schemas.openxmlformats.org/drawingml/2006/main">
            <a:off x="666750" y="523875"/>
            <a:ext cx="13811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F6F3F5"/>
                </a:solidFill>
                <a:latin typeface="Arial"/>
                <a:ea typeface="Arial"/>
                <a:cs typeface="Arial"/>
              </a:defRPr>
            </a:pPr>
            <a:r>
              <a:rPr sz="3450" b="0">
                <a:solidFill>
                  <a:srgbClr val="F6F3F5"/>
                </a:solidFill>
                <a:latin typeface="Arial"/>
                <a:ea typeface="Arial"/>
                <a:cs typeface="Arial"/>
              </a:rPr>
              <a:t>Sua pergunta de partida</a:t>
            </a:r>
          </a:p>
        </p:txBody>
      </p:sp>
      <p:sp>
        <p:nvSpPr>
          <p:cNvPr id="2" name="">
            <a:extLst xmlns:a="http://schemas.openxmlformats.org/drawingml/2006/main">
              <a:ext uri="{FF2B5EF4-FFF2-40B4-BE49-F238E27FC236}">
                <a16:creationId xmlns:a16="http://schemas.microsoft.com/office/drawing/2014/main" id="{7BC69E2D-A234-4141-B3F9-ED44174C287C}"/>
              </a:ext>
            </a:extLst>
          </p:cNvPr>
          <p:cNvSpPr>
            <a:spLocks xmlns:a="http://schemas.openxmlformats.org/drawingml/2006/main" noGrp="1"/>
          </p:cNvSpPr>
          <p:nvPr/>
        </p:nvSpPr>
        <p:spPr>
          <a:xfrm xmlns:a="http://schemas.openxmlformats.org/drawingml/2006/main">
            <a:off x="666750" y="1762125"/>
            <a:ext cx="13620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6CFD4"/>
                </a:solidFill>
                <a:latin typeface="Arial"/>
                <a:ea typeface="Arial"/>
                <a:cs typeface="Arial"/>
              </a:defRPr>
            </a:pPr>
            <a:r>
              <a:rPr sz="2025" b="0">
                <a:solidFill>
                  <a:srgbClr val="D6CFD4"/>
                </a:solidFill>
                <a:latin typeface="Arial"/>
                <a:ea typeface="Arial"/>
                <a:cs typeface="Arial"/>
              </a:rPr>
              <a:t>Antes de seguir, transforme sua curiosidade em uma pergunta que possa acompanhar você nas próximas aulas. Ela não precisa ser definitiva. Precisa apenas apontar para algo pequeno o bastante para experimentar agora.</a:t>
            </a:r>
          </a:p>
        </p:txBody>
      </p:sp>
      <p:sp>
        <p:nvSpPr>
          <p:cNvPr id="3" name="">
            <a:extLst xmlns:a="http://schemas.openxmlformats.org/drawingml/2006/main">
              <a:ext uri="{FF2B5EF4-FFF2-40B4-BE49-F238E27FC236}">
                <a16:creationId xmlns:a16="http://schemas.microsoft.com/office/drawing/2014/main" id="{EAB1B34D-2AA3-445A-9B64-ED2EB1457731}"/>
              </a:ext>
            </a:extLst>
          </p:cNvPr>
          <p:cNvSpPr>
            <a:spLocks xmlns:a="http://schemas.openxmlformats.org/drawingml/2006/main" noGrp="1"/>
          </p:cNvSpPr>
          <p:nvPr/>
        </p:nvSpPr>
        <p:spPr>
          <a:xfrm xmlns:a="http://schemas.openxmlformats.org/drawingml/2006/main">
            <a:off x="666750" y="3238500"/>
            <a:ext cx="1381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E7B5D4"/>
                </a:solidFill>
                <a:latin typeface="Arial"/>
                <a:ea typeface="Arial"/>
                <a:cs typeface="Arial"/>
              </a:defRPr>
            </a:pPr>
            <a:r>
              <a:rPr sz="2175" b="0">
                <a:solidFill>
                  <a:srgbClr val="E7B5D4"/>
                </a:solidFill>
                <a:latin typeface="Arial"/>
                <a:ea typeface="Arial"/>
                <a:cs typeface="Arial"/>
              </a:rPr>
              <a:t>Da vontade à pergunta</a:t>
            </a:r>
          </a:p>
        </p:txBody>
      </p:sp>
      <p:sp>
        <p:nvSpPr>
          <p:cNvPr id="4" name="">
            <a:extLst xmlns:a="http://schemas.openxmlformats.org/drawingml/2006/main">
              <a:ext uri="{FF2B5EF4-FFF2-40B4-BE49-F238E27FC236}">
                <a16:creationId xmlns:a16="http://schemas.microsoft.com/office/drawing/2014/main" id="{575E778D-D9D7-4D6F-A7F2-1745D9D51C41}"/>
              </a:ext>
            </a:extLst>
          </p:cNvPr>
          <p:cNvSpPr>
            <a:spLocks xmlns:a="http://schemas.openxmlformats.org/drawingml/2006/main" noGrp="1"/>
          </p:cNvSpPr>
          <p:nvPr/>
        </p:nvSpPr>
        <p:spPr>
          <a:xfrm xmlns:a="http://schemas.openxmlformats.org/drawingml/2006/main">
            <a:off x="6667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E46D7AB6-1126-4761-B771-76411B1856D5}"/>
              </a:ext>
            </a:extLst>
          </p:cNvPr>
          <p:cNvSpPr>
            <a:spLocks xmlns:a="http://schemas.openxmlformats.org/drawingml/2006/main" noGrp="1"/>
          </p:cNvSpPr>
          <p:nvPr/>
        </p:nvSpPr>
        <p:spPr>
          <a:xfrm xmlns:a="http://schemas.openxmlformats.org/drawingml/2006/main">
            <a:off x="6667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Vontade</a:t>
            </a:r>
          </a:p>
        </p:txBody>
      </p:sp>
      <p:sp>
        <p:nvSpPr>
          <p:cNvPr id="6" name="">
            <a:extLst xmlns:a="http://schemas.openxmlformats.org/drawingml/2006/main">
              <a:ext uri="{FF2B5EF4-FFF2-40B4-BE49-F238E27FC236}">
                <a16:creationId xmlns:a16="http://schemas.microsoft.com/office/drawing/2014/main" id="{1E10AAD8-C0DC-44A5-AD26-D973583A9C58}"/>
              </a:ext>
            </a:extLst>
          </p:cNvPr>
          <p:cNvSpPr>
            <a:spLocks xmlns:a="http://schemas.openxmlformats.org/drawingml/2006/main" noGrp="1"/>
          </p:cNvSpPr>
          <p:nvPr/>
        </p:nvSpPr>
        <p:spPr>
          <a:xfrm xmlns:a="http://schemas.openxmlformats.org/drawingml/2006/main">
            <a:off x="6667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Quero voltar a cozinhar.</a:t>
            </a:r>
          </a:p>
        </p:txBody>
      </p:sp>
      <p:sp>
        <p:nvSpPr>
          <p:cNvPr id="7" name="">
            <a:extLst xmlns:a="http://schemas.openxmlformats.org/drawingml/2006/main">
              <a:ext uri="{FF2B5EF4-FFF2-40B4-BE49-F238E27FC236}">
                <a16:creationId xmlns:a16="http://schemas.microsoft.com/office/drawing/2014/main" id="{689494D3-8004-4963-A735-4016F64BD66E}"/>
              </a:ext>
            </a:extLst>
          </p:cNvPr>
          <p:cNvSpPr>
            <a:spLocks xmlns:a="http://schemas.openxmlformats.org/drawingml/2006/main" noGrp="1"/>
          </p:cNvSpPr>
          <p:nvPr/>
        </p:nvSpPr>
        <p:spPr>
          <a:xfrm xmlns:a="http://schemas.openxmlformats.org/drawingml/2006/main">
            <a:off x="511175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7913DE4-4CD2-4A5D-8FA5-EF334EF1B1DB}"/>
              </a:ext>
            </a:extLst>
          </p:cNvPr>
          <p:cNvSpPr>
            <a:spLocks xmlns:a="http://schemas.openxmlformats.org/drawingml/2006/main" noGrp="1"/>
          </p:cNvSpPr>
          <p:nvPr/>
        </p:nvSpPr>
        <p:spPr>
          <a:xfrm xmlns:a="http://schemas.openxmlformats.org/drawingml/2006/main">
            <a:off x="543560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B897A1A1-EF88-4D44-BBAB-21291F385151}"/>
              </a:ext>
            </a:extLst>
          </p:cNvPr>
          <p:cNvSpPr>
            <a:spLocks xmlns:a="http://schemas.openxmlformats.org/drawingml/2006/main" noGrp="1"/>
          </p:cNvSpPr>
          <p:nvPr/>
        </p:nvSpPr>
        <p:spPr>
          <a:xfrm xmlns:a="http://schemas.openxmlformats.org/drawingml/2006/main">
            <a:off x="543560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Recorte</a:t>
            </a:r>
          </a:p>
        </p:txBody>
      </p:sp>
      <p:sp>
        <p:nvSpPr>
          <p:cNvPr id="10" name="">
            <a:extLst xmlns:a="http://schemas.openxmlformats.org/drawingml/2006/main">
              <a:ext uri="{FF2B5EF4-FFF2-40B4-BE49-F238E27FC236}">
                <a16:creationId xmlns:a16="http://schemas.microsoft.com/office/drawing/2014/main" id="{CB1CD442-24D1-4B77-9336-059C99F13F51}"/>
              </a:ext>
            </a:extLst>
          </p:cNvPr>
          <p:cNvSpPr>
            <a:spLocks xmlns:a="http://schemas.openxmlformats.org/drawingml/2006/main" noGrp="1"/>
          </p:cNvSpPr>
          <p:nvPr/>
        </p:nvSpPr>
        <p:spPr>
          <a:xfrm xmlns:a="http://schemas.openxmlformats.org/drawingml/2006/main">
            <a:off x="543560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Preciso de uma ideia de jantar simples.</a:t>
            </a:r>
          </a:p>
        </p:txBody>
      </p:sp>
      <p:sp>
        <p:nvSpPr>
          <p:cNvPr id="11" name="">
            <a:extLst xmlns:a="http://schemas.openxmlformats.org/drawingml/2006/main">
              <a:ext uri="{FF2B5EF4-FFF2-40B4-BE49-F238E27FC236}">
                <a16:creationId xmlns:a16="http://schemas.microsoft.com/office/drawing/2014/main" id="{A0E26EFC-8189-4F5D-8ED3-AC6D83948E2D}"/>
              </a:ext>
            </a:extLst>
          </p:cNvPr>
          <p:cNvSpPr>
            <a:spLocks xmlns:a="http://schemas.openxmlformats.org/drawingml/2006/main" noGrp="1"/>
          </p:cNvSpPr>
          <p:nvPr/>
        </p:nvSpPr>
        <p:spPr>
          <a:xfrm xmlns:a="http://schemas.openxmlformats.org/drawingml/2006/main">
            <a:off x="9880600" y="4191000"/>
            <a:ext cx="228600" cy="133350"/>
          </a:xfrm>
          <a:prstGeom xmlns:a="http://schemas.openxmlformats.org/drawingml/2006/main" prst="rightArrow">
            <a:avLst/>
          </a:prstGeom>
          <a:solidFill xmlns:a="http://schemas.openxmlformats.org/drawingml/2006/main">
            <a:srgbClr val="E7B5D4"/>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3DD1D88-BBCC-4ECD-A960-7AC067E69426}"/>
              </a:ext>
            </a:extLst>
          </p:cNvPr>
          <p:cNvSpPr>
            <a:spLocks xmlns:a="http://schemas.openxmlformats.org/drawingml/2006/main" noGrp="1"/>
          </p:cNvSpPr>
          <p:nvPr/>
        </p:nvSpPr>
        <p:spPr>
          <a:xfrm xmlns:a="http://schemas.openxmlformats.org/drawingml/2006/main">
            <a:off x="10204450" y="4143375"/>
            <a:ext cx="4368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E7B5D4"/>
                </a:solidFill>
                <a:latin typeface="Arial"/>
                <a:ea typeface="Arial"/>
                <a:cs typeface="Arial"/>
              </a:defRPr>
            </a:pPr>
            <a:r>
              <a:rPr sz="1650" b="0">
                <a:solidFill>
                  <a:srgbClr val="E7B5D4"/>
                </a:solidFill>
                <a:latin typeface="Arial"/>
                <a:ea typeface="Arial"/>
                <a:cs typeface="Arial"/>
              </a:rPr>
              <a:t>03</a:t>
            </a:r>
          </a:p>
        </p:txBody>
      </p:sp>
      <p:sp>
        <p:nvSpPr>
          <p:cNvPr id="13" name="">
            <a:extLst xmlns:a="http://schemas.openxmlformats.org/drawingml/2006/main">
              <a:ext uri="{FF2B5EF4-FFF2-40B4-BE49-F238E27FC236}">
                <a16:creationId xmlns:a16="http://schemas.microsoft.com/office/drawing/2014/main" id="{C78F1348-B5F3-4903-BD3E-15CBF2830234}"/>
              </a:ext>
            </a:extLst>
          </p:cNvPr>
          <p:cNvSpPr>
            <a:spLocks xmlns:a="http://schemas.openxmlformats.org/drawingml/2006/main" noGrp="1"/>
          </p:cNvSpPr>
          <p:nvPr/>
        </p:nvSpPr>
        <p:spPr>
          <a:xfrm xmlns:a="http://schemas.openxmlformats.org/drawingml/2006/main">
            <a:off x="10204450" y="4667250"/>
            <a:ext cx="4368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F6F3F5"/>
                </a:solidFill>
                <a:latin typeface="Arial"/>
                <a:ea typeface="Arial"/>
                <a:cs typeface="Arial"/>
              </a:defRPr>
            </a:pPr>
            <a:r>
              <a:rPr sz="1950" b="1">
                <a:solidFill>
                  <a:srgbClr val="F6F3F5"/>
                </a:solidFill>
                <a:latin typeface="Arial"/>
                <a:ea typeface="Arial"/>
                <a:cs typeface="Arial"/>
              </a:rPr>
              <a:t>Critério</a:t>
            </a:r>
          </a:p>
        </p:txBody>
      </p:sp>
      <p:sp>
        <p:nvSpPr>
          <p:cNvPr id="14" name="">
            <a:extLst xmlns:a="http://schemas.openxmlformats.org/drawingml/2006/main">
              <a:ext uri="{FF2B5EF4-FFF2-40B4-BE49-F238E27FC236}">
                <a16:creationId xmlns:a16="http://schemas.microsoft.com/office/drawing/2014/main" id="{E672BB53-F29A-4E1D-9D66-85BEF87E5738}"/>
              </a:ext>
            </a:extLst>
          </p:cNvPr>
          <p:cNvSpPr>
            <a:spLocks xmlns:a="http://schemas.openxmlformats.org/drawingml/2006/main" noGrp="1"/>
          </p:cNvSpPr>
          <p:nvPr/>
        </p:nvSpPr>
        <p:spPr>
          <a:xfrm xmlns:a="http://schemas.openxmlformats.org/drawingml/2006/main">
            <a:off x="10204450" y="5619750"/>
            <a:ext cx="43688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D6CFD4"/>
                </a:solidFill>
                <a:latin typeface="Arial"/>
                <a:ea typeface="Arial"/>
                <a:cs typeface="Arial"/>
              </a:defRPr>
            </a:pPr>
            <a:r>
              <a:rPr sz="1725" b="0">
                <a:solidFill>
                  <a:srgbClr val="D6CFD4"/>
                </a:solidFill>
                <a:latin typeface="Arial"/>
                <a:ea typeface="Arial"/>
                <a:cs typeface="Arial"/>
              </a:rPr>
              <a:t>Vou conferir ingredientes e tempo de preparo.</a:t>
            </a:r>
          </a:p>
        </p:txBody>
      </p:sp>
      <p:sp>
        <p:nvSpPr>
          <p:cNvPr id="15" name="">
            <a:extLst xmlns:a="http://schemas.openxmlformats.org/drawingml/2006/main">
              <a:ext uri="{FF2B5EF4-FFF2-40B4-BE49-F238E27FC236}">
                <a16:creationId xmlns:a16="http://schemas.microsoft.com/office/drawing/2014/main" id="{EABC5A17-6021-446E-99CC-3D61E36EB5C0}"/>
              </a:ext>
            </a:extLst>
          </p:cNvPr>
          <p:cNvSpPr>
            <a:spLocks xmlns:a="http://schemas.openxmlformats.org/drawingml/2006/main" noGrp="1"/>
          </p:cNvSpPr>
          <p:nvPr/>
        </p:nvSpPr>
        <p:spPr>
          <a:xfrm xmlns:a="http://schemas.openxmlformats.org/drawingml/2006/main">
            <a:off x="666750" y="7239000"/>
            <a:ext cx="1381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FCEB8"/>
                </a:solidFill>
                <a:latin typeface="Arial"/>
                <a:ea typeface="Arial"/>
                <a:cs typeface="Arial"/>
              </a:defRPr>
            </a:pPr>
            <a:r>
              <a:rPr sz="1950" b="0">
                <a:solidFill>
                  <a:srgbClr val="BFCEB8"/>
                </a:solidFill>
                <a:latin typeface="Arial"/>
                <a:ea typeface="Arial"/>
                <a:cs typeface="Arial"/>
              </a:rPr>
              <a:t>Sua primeira pergunta é um ponto de partida, não um compromisso para sempre.</a:t>
            </a:r>
          </a:p>
        </p:txBody>
      </p:sp>
      <p:sp>
        <p:nvSpPr>
          <p:cNvPr id="16" name="">
            <a:extLst xmlns:a="http://schemas.openxmlformats.org/drawingml/2006/main">
              <a:ext uri="{FF2B5EF4-FFF2-40B4-BE49-F238E27FC236}">
                <a16:creationId xmlns:a16="http://schemas.microsoft.com/office/drawing/2014/main" id="{DDB088D7-A423-46AA-9A01-99A818DD4A28}"/>
              </a:ext>
            </a:extLst>
          </p:cNvPr>
          <p:cNvSpPr>
            <a:spLocks xmlns:a="http://schemas.openxmlformats.org/drawingml/2006/main" noGrp="1"/>
          </p:cNvSpPr>
          <p:nvPr/>
        </p:nvSpPr>
        <p:spPr>
          <a:xfrm xmlns:a="http://schemas.openxmlformats.org/drawingml/2006/main">
            <a:off x="666750" y="8115300"/>
            <a:ext cx="1381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0ABB0"/>
                </a:solidFill>
                <a:latin typeface="Arial"/>
                <a:ea typeface="Arial"/>
                <a:cs typeface="Arial"/>
              </a:defRPr>
            </a:pPr>
            <a:r>
              <a:rPr sz="1275" b="0">
                <a:solidFill>
                  <a:srgbClr val="B0ABB0"/>
                </a:solidFill>
                <a:latin typeface="Arial"/>
                <a:ea typeface="Arial"/>
                <a:cs typeface="Arial"/>
              </a:rPr>
              <a:t>Emada Academy · Fundamentos · Aula 1 · 5/5</a:t>
            </a:r>
          </a:p>
        </p:txBody>
      </p:sp>
    </p:spTree>
    <p:extLst>
      <p:ext uri="{BB962C8B-B14F-4D97-AF65-F5344CB8AC3E}">
        <p14:creationId xmlns:p14="http://schemas.microsoft.com/office/powerpoint/2010/main" val="4909053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2026-09-14T19:33:54.1530000Z</dcterms:created>
  <dcterms:modified xsi:type="dcterms:W3CDTF">2026-09-14T19:33:54.1530000Z</dcterms:modified>
</coreProperties>
</file>