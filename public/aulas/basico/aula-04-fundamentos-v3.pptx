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e7f625499ad44f6" /><Relationship Type="http://schemas.openxmlformats.org/officeDocument/2006/relationships/extended-properties" Target="/docProps/app.xml" Id="R6bd38964bcd947ac" /><Relationship Type="http://schemas.openxmlformats.org/officeDocument/2006/relationships/officeDocument" Target="/ppt/presentation.xml" Id="Rf4c2024b6e3c4c6a" /></Relationships>
</file>

<file path=ppt/presentation.xml><?xml version="1.0" encoding="utf-8"?>
<p:presentation xmlns:p="http://schemas.openxmlformats.org/presentationml/2006/main">
  <p:sldMasterIdLst>
    <p:sldMasterId xmlns:r="http://schemas.openxmlformats.org/officeDocument/2006/relationships" id="2147483648" r:id="Rd013a4c0997a40d1"/>
  </p:sldMasterIdLst>
  <p:notesMasterIdLst>
    <p:notesMasterId xmlns:r="http://schemas.openxmlformats.org/officeDocument/2006/relationships" r:id="R1bbd3dfc653a44dc"/>
  </p:notesMasterIdLst>
  <p:sldIdLst>
    <p:sldId xmlns:r="http://schemas.openxmlformats.org/officeDocument/2006/relationships" id="256" r:id="Rcece88f89f134b43"/>
    <p:sldId xmlns:r="http://schemas.openxmlformats.org/officeDocument/2006/relationships" id="257" r:id="R96a8ad24164a47d5"/>
    <p:sldId xmlns:r="http://schemas.openxmlformats.org/officeDocument/2006/relationships" id="258" r:id="R49ed5e7aecf5442c"/>
    <p:sldId xmlns:r="http://schemas.openxmlformats.org/officeDocument/2006/relationships" id="259" r:id="R7f498d048edb441e"/>
    <p:sldId xmlns:r="http://schemas.openxmlformats.org/officeDocument/2006/relationships" id="260" r:id="R0d9a930b4c774aab"/>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181ab37a0d64790" /><Relationship Type="http://schemas.openxmlformats.org/officeDocument/2006/relationships/slideMaster" Target="/ppt/slideMasters/slideMaster1.xml" Id="Rd013a4c0997a40d1" /><Relationship Type="http://schemas.openxmlformats.org/officeDocument/2006/relationships/notesMaster" Target="/ppt/notesMasters/notesMaster1.xml" Id="R1bbd3dfc653a44dc" /><Relationship Type="http://schemas.openxmlformats.org/officeDocument/2006/relationships/presProps" Target="/ppt/presProps.xml" Id="R095bd4e7f1f24866" /><Relationship Type="http://schemas.openxmlformats.org/officeDocument/2006/relationships/tableStyles" Target="/ppt/tableStyles.xml" Id="R04ec28038e924436" /><Relationship Type="http://schemas.openxmlformats.org/officeDocument/2006/relationships/slide" Target="/ppt/slides/slide1.xml" Id="Rcece88f89f134b43" /><Relationship Type="http://schemas.openxmlformats.org/officeDocument/2006/relationships/slide" Target="/ppt/slides/slide2.xml" Id="R96a8ad24164a47d5" /><Relationship Type="http://schemas.openxmlformats.org/officeDocument/2006/relationships/slide" Target="/ppt/slides/slide3.xml" Id="R49ed5e7aecf5442c" /><Relationship Type="http://schemas.openxmlformats.org/officeDocument/2006/relationships/slide" Target="/ppt/slides/slide4.xml" Id="R7f498d048edb441e" /><Relationship Type="http://schemas.openxmlformats.org/officeDocument/2006/relationships/slide" Target="/ppt/slides/slide5.xml" Id="R0d9a930b4c774aa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4fde79179494af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c878c5381b94cc5" /><Relationship Type="http://schemas.openxmlformats.org/officeDocument/2006/relationships/notesMaster" Target="/ppt/notesMasters/notesMaster1.xml" Id="Rff47d7832f3c4baf" /></Relationships>
</file>

<file path=ppt/notesSlides/_rels/notesSlide2.xml.rels>&#65279;<?xml version="1.0" encoding="utf-8"?><Relationships xmlns="http://schemas.openxmlformats.org/package/2006/relationships"><Relationship Type="http://schemas.openxmlformats.org/officeDocument/2006/relationships/slide" Target="/ppt/slides/slide2.xml" Id="R921d7808f2444bc6" /><Relationship Type="http://schemas.openxmlformats.org/officeDocument/2006/relationships/notesMaster" Target="/ppt/notesMasters/notesMaster1.xml" Id="R038d0ad9e6a14a4c" /></Relationships>
</file>

<file path=ppt/notesSlides/_rels/notesSlide3.xml.rels>&#65279;<?xml version="1.0" encoding="utf-8"?><Relationships xmlns="http://schemas.openxmlformats.org/package/2006/relationships"><Relationship Type="http://schemas.openxmlformats.org/officeDocument/2006/relationships/slide" Target="/ppt/slides/slide3.xml" Id="R1dbbcc5579044d4d" /><Relationship Type="http://schemas.openxmlformats.org/officeDocument/2006/relationships/notesMaster" Target="/ppt/notesMasters/notesMaster1.xml" Id="R2ac33510c2ce478d" /></Relationships>
</file>

<file path=ppt/notesSlides/_rels/notesSlide4.xml.rels>&#65279;<?xml version="1.0" encoding="utf-8"?><Relationships xmlns="http://schemas.openxmlformats.org/package/2006/relationships"><Relationship Type="http://schemas.openxmlformats.org/officeDocument/2006/relationships/slide" Target="/ppt/slides/slide4.xml" Id="Rc445522f8fe34eff" /><Relationship Type="http://schemas.openxmlformats.org/officeDocument/2006/relationships/notesMaster" Target="/ppt/notesMasters/notesMaster1.xml" Id="R3b2dcaf87cf7456a" /></Relationships>
</file>

<file path=ppt/notesSlides/_rels/notesSlide5.xml.rels>&#65279;<?xml version="1.0" encoding="utf-8"?><Relationships xmlns="http://schemas.openxmlformats.org/package/2006/relationships"><Relationship Type="http://schemas.openxmlformats.org/officeDocument/2006/relationships/slide" Target="/ppt/slides/slide5.xml" Id="Redd144216a7b4514" /><Relationship Type="http://schemas.openxmlformats.org/officeDocument/2006/relationships/notesMaster" Target="/ppt/notesMasters/notesMaster1.xml" Id="Rac4fd49b96f349a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Nem toda ideia nasce em uma frase bem organizada. Às vezes você precisa falar, voltar atrás e encontrar o ponto enquanto explica. Esse material ainda imperfeito pode ser o começo de uma conversa útil com a IA.</a:t>
            </a:r>
          </a:p>
          <a:p xmlns:a="http://schemas.openxmlformats.org/drawingml/2006/main">
            <a:r>
              <a:t/>
            </a:r>
          </a:p>
          <a:p xmlns:a="http://schemas.openxmlformats.org/drawingml/2006/main">
            <a:r>
              <a:t>Escrever um pedido polido logo de início pode esconder dúvidas importantes. Em uma fala ou escrita livre, aparecem hesitações, prioridades e alternativas: ‘talvez’, ‘ainda não decidi’, ‘isso me preocupa’. Essas expressões carregam significado e precisam sobreviver à organização do texto.</a:t>
            </a:r>
          </a:p>
          <a:p xmlns:a="http://schemas.openxmlformats.org/drawingml/2006/main">
            <a:r>
              <a:t/>
            </a:r>
          </a:p>
          <a:p xmlns:a="http://schemas.openxmlformats.org/drawingml/2006/main">
            <a:r>
              <a:t>Você não precisa usar a voz para fazer esta aula. Escolha a forma que for confortável e acessível: escrita livre, ditado do seu dispositivo ou uma ferramenta de voz que você já use. No chat da Academy, a interação é por texto. Se ditar, revise o texto antes de enviá-lo.</a:t>
            </a:r>
          </a:p>
          <a:p xmlns:a="http://schemas.openxmlformats.org/drawingml/2006/main">
            <a:r>
              <a:t/>
            </a:r>
          </a:p>
          <a:p xmlns:a="http://schemas.openxmlformats.org/drawingml/2006/main">
            <a:r>
              <a:t>Organizar não é decidir por você. O resumo deve preservar também o que ainda não foi resolvido.</a:t>
            </a:r>
          </a:p>
          <a:p xmlns:a="http://schemas.openxmlformats.org/drawingml/2006/main">
            <a:r>
              <a:t/>
            </a:r>
          </a:p>
          <a:p xmlns:a="http://schemas.openxmlformats.org/drawingml/2006/main">
            <a:r>
              <a:t>EXEMPLO FICTÍCIO: Uma ideia que ainda está nascendo</a:t>
            </a:r>
          </a:p>
          <a:p xmlns:a="http://schemas.openxmlformats.org/drawingml/2006/main">
            <a:r>
              <a:t/>
            </a:r>
          </a:p>
          <a:p xmlns:a="http://schemas.openxmlformats.org/drawingml/2006/main">
            <a:r>
              <a:t>Uma criadora pensa em uma série fictícia de bastidores: ‘Talvez um vídeo por semana mostrando como edito, mas não sei se consigo manter. Queria gravar durante o trabalho, sem montar um cenário novo.’</a:t>
            </a:r>
          </a:p>
          <a:p xmlns:a="http://schemas.openxmlformats.org/drawingml/2006/main">
            <a:r>
              <a:t/>
            </a:r>
          </a:p>
          <a:p xmlns:a="http://schemas.openxmlformats.org/drawingml/2006/main">
            <a:r>
              <a:t>A primeira ajuda pode ser separar intenção, opções e dúvidas, sem criar um calendário de publicação.</a:t>
            </a:r>
          </a:p>
          <a:p xmlns:a="http://schemas.openxmlformats.org/drawingml/2006/main">
            <a:r>
              <a:t/>
            </a:r>
          </a:p>
          <a:p xmlns:a="http://schemas.openxmlformats.org/drawingml/2006/main">
            <a:r>
              <a:t>O material já contém uma prioridade: uma produção viável durante a rotina. Transformar a fala em uma promessa de frequência apagaria uma das informações mais importantes e criaria uma obrigação que ela não assumiu.</a:t>
            </a:r>
          </a:p>
          <a:p xmlns:a="http://schemas.openxmlformats.org/drawingml/2006/main">
            <a:r>
              <a:t/>
            </a:r>
          </a:p>
          <a:p xmlns:a="http://schemas.openxmlformats.org/drawingml/2006/main">
            <a:r>
              <a:t>REFLEXÃO: Você precisa decidir tudo antes de contar uma ideia ao chat?</a:t>
            </a:r>
          </a:p>
          <a:p xmlns:a="http://schemas.openxmlformats.org/drawingml/2006/main">
            <a:r>
              <a:t/>
            </a:r>
          </a:p>
          <a:p xmlns:a="http://schemas.openxmlformats.org/drawingml/2006/main">
            <a:r>
              <a:t>Não. Diga explicitamente o que ainda está em aberto. Peça organização antes de recomendações. Você pode explorar possibilidades sem autorizar que elas sejam tratadas como decisões.</a:t>
            </a:r>
          </a:p>
          <a:p xmlns:a="http://schemas.openxmlformats.org/drawingml/2006/main">
            <a:r>
              <a:t/>
            </a:r>
          </a:p>
          <a:p xmlns:a="http://schemas.openxmlformats.org/drawingml/2006/main">
            <a:r>
              <a:t>IDEIA PRINCIPAL: Uma ideia não precisa chegar pronta para merecer atenção.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Ditar é transformar fala em texto. Conversar por voz envolve ouvir respostas e continuar falando em uma ferramenta que ofereça esse recurso. São experiências diferentes, e nenhuma delas é obrigatória para aprender os conceitos desta aula.</a:t>
            </a:r>
          </a:p>
          <a:p xmlns:a="http://schemas.openxmlformats.org/drawingml/2006/main">
            <a:r>
              <a:t/>
            </a:r>
          </a:p>
          <a:p xmlns:a="http://schemas.openxmlformats.org/drawingml/2006/main">
            <a:r>
              <a:t>No ditado, você pode usar o recurso do teclado ou do dispositivo, se ele estiver disponível. O resultado é um texto: pontuação, nomes e números podem precisar de correção. Leia antes de enviar, especialmente quando uma palavra trocada puder mudar o sentido da ideia.</a:t>
            </a:r>
          </a:p>
          <a:p xmlns:a="http://schemas.openxmlformats.org/drawingml/2006/main">
            <a:r>
              <a:t/>
            </a:r>
          </a:p>
          <a:p xmlns:a="http://schemas.openxmlformats.org/drawingml/2006/main">
            <a:r>
              <a:t>Esta Academy não oferece gravação nem conversa de áudio no chat de prática. Você pode escrever livremente ou colar uma transcrição revisada. Se preferir praticar em outra ferramenta, registre aqui apenas o aprendizado, sem anexar áudio ou expor informações de outras pessoas.</a:t>
            </a:r>
          </a:p>
          <a:p xmlns:a="http://schemas.openxmlformats.org/drawingml/2006/main">
            <a:r>
              <a:t/>
            </a:r>
          </a:p>
          <a:p xmlns:a="http://schemas.openxmlformats.org/drawingml/2006/main">
            <a:r>
              <a:t>Os três caminhos podem servir ao exercício. A Academy recebe texto, não áudio.</a:t>
            </a:r>
          </a:p>
          <a:p xmlns:a="http://schemas.openxmlformats.org/drawingml/2006/main">
            <a:r>
              <a:t/>
            </a:r>
          </a:p>
          <a:p xmlns:a="http://schemas.openxmlformats.org/drawingml/2006/main">
            <a:r>
              <a:t>EXEMPLO FICTÍCIO: Uma transcrição muda o plano</a:t>
            </a:r>
          </a:p>
          <a:p xmlns:a="http://schemas.openxmlformats.org/drawingml/2006/main">
            <a:r>
              <a:t/>
            </a:r>
          </a:p>
          <a:p xmlns:a="http://schemas.openxmlformats.org/drawingml/2006/main">
            <a:r>
              <a:t>Ao ditar a ideia da série de bastidores, você disse ‘não quero publicar toda semana’, mas o texto registrado ficou ‘quero publicar toda semana’.</a:t>
            </a:r>
          </a:p>
          <a:p xmlns:a="http://schemas.openxmlformats.org/drawingml/2006/main">
            <a:r>
              <a:t/>
            </a:r>
          </a:p>
          <a:p xmlns:a="http://schemas.openxmlformats.org/drawingml/2006/main">
            <a:r>
              <a:t>Antes do envio, corrige a frase e acrescenta: ‘A frequência ainda não está decidida.’</a:t>
            </a:r>
          </a:p>
          <a:p xmlns:a="http://schemas.openxmlformats.org/drawingml/2006/main">
            <a:r>
              <a:t/>
            </a:r>
          </a:p>
          <a:p xmlns:a="http://schemas.openxmlformats.org/drawingml/2006/main">
            <a:r>
              <a:t>Uma palavra pequena inverteu a intenção. Revisar a entrada evita que a resposta se organize em torno de uma condição que você nunca quis estabelecer.</a:t>
            </a:r>
          </a:p>
          <a:p xmlns:a="http://schemas.openxmlformats.org/drawingml/2006/main">
            <a:r>
              <a:t/>
            </a:r>
          </a:p>
          <a:p xmlns:a="http://schemas.openxmlformats.org/drawingml/2006/main">
            <a:r>
              <a:t>REFLEXÃO: Se o ditado não estiver disponível ou for desconfortável, o que fazer?</a:t>
            </a:r>
          </a:p>
          <a:p xmlns:a="http://schemas.openxmlformats.org/drawingml/2006/main">
            <a:r>
              <a:t/>
            </a:r>
          </a:p>
          <a:p xmlns:a="http://schemas.openxmlformats.org/drawingml/2006/main">
            <a:r>
              <a:t>Use escrita livre por dois ou três minutos. O objetivo não é testar seu microfone; é observar se expressar a ideia antes de organizá-la ajuda você a pensar. A alternativa escrita realiza o mesmo objetivo da aula.</a:t>
            </a:r>
          </a:p>
          <a:p xmlns:a="http://schemas.openxmlformats.org/drawingml/2006/main">
            <a:r>
              <a:t/>
            </a:r>
          </a:p>
          <a:p xmlns:a="http://schemas.openxmlformats.org/drawingml/2006/main">
            <a:r>
              <a:t>IDEIA PRINCIPAL: A melhor forma de começar é a que permite expressar sua ideia com conforto e controle.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Reserve dois ou três minutos para contar uma ideia de baixo risco, sem tentar resolver tudo no mesmo texto. Depois, peça ao chat uma tarefa limitada: resumir, separar dúvidas e fazer uma pergunta que ajude a esclarecer o próximo ponto.</a:t>
            </a:r>
          </a:p>
          <a:p xmlns:a="http://schemas.openxmlformats.org/drawingml/2006/main">
            <a:r>
              <a:t/>
            </a:r>
          </a:p>
          <a:p xmlns:a="http://schemas.openxmlformats.org/drawingml/2006/main">
            <a:r>
              <a:t>No chat de texto, prepare a reflexão inteira antes de enviar. Você pode escrevê-la em um bloco de notas ou no próprio campo da mensagem. Assim evita enviar vários fragmentos e receber uma resposta a cada um. O botão de enviar deve vir depois da sua revisão.</a:t>
            </a:r>
          </a:p>
          <a:p xmlns:a="http://schemas.openxmlformats.org/drawingml/2006/main">
            <a:r>
              <a:t/>
            </a:r>
          </a:p>
          <a:p xmlns:a="http://schemas.openxmlformats.org/drawingml/2006/main">
            <a:r>
              <a:t>Dê uma instrução sobre o tipo de ajuda desejado. ‘Não proponha um plano ainda’ pode ser importante quando você só quer entender a própria ideia. Peça também para distinguir o que você afirmou do que o modelo inferiu. Isso torna as suposições mais fáceis de localizar.</a:t>
            </a:r>
          </a:p>
          <a:p xmlns:a="http://schemas.openxmlformats.org/drawingml/2006/main">
            <a:r>
              <a:t/>
            </a:r>
          </a:p>
          <a:p xmlns:a="http://schemas.openxmlformats.org/drawingml/2006/main">
            <a:r>
              <a:t>Não envie dados sensíveis. Uma ideia fictícia oferece material suficiente para experimentar este processo.</a:t>
            </a:r>
          </a:p>
          <a:p xmlns:a="http://schemas.openxmlformats.org/drawingml/2006/main">
            <a:r>
              <a:t/>
            </a:r>
          </a:p>
          <a:p xmlns:a="http://schemas.openxmlformats.org/drawingml/2006/main">
            <a:r>
              <a:t>EXEMPLO FICTÍCIO: Organizar antes de aconselhar</a:t>
            </a:r>
          </a:p>
          <a:p xmlns:a="http://schemas.openxmlformats.org/drawingml/2006/main">
            <a:r>
              <a:t/>
            </a:r>
          </a:p>
          <a:p xmlns:a="http://schemas.openxmlformats.org/drawingml/2006/main">
            <a:r>
              <a:t>‘Quero mostrar meu processo de edição numa série fictícia. Talvez tutorial ou bastidores, ainda não decidi. Tenho pouco tempo e não quero mostrar arquivos de clientes.’</a:t>
            </a:r>
          </a:p>
          <a:p xmlns:a="http://schemas.openxmlformats.org/drawingml/2006/main">
            <a:r>
              <a:t/>
            </a:r>
          </a:p>
          <a:p xmlns:a="http://schemas.openxmlformats.org/drawingml/2006/main">
            <a:r>
              <a:t>‘Resuma minha intenção. Separe decisões de possibilidades. Não monte um plano ainda; faça uma pergunta sobre a dúvida mais importante.’</a:t>
            </a:r>
          </a:p>
          <a:p xmlns:a="http://schemas.openxmlformats.org/drawingml/2006/main">
            <a:r>
              <a:t/>
            </a:r>
          </a:p>
          <a:p xmlns:a="http://schemas.openxmlformats.org/drawingml/2006/main">
            <a:r>
              <a:t>Antes de discutir calendário, talvez seja mais útil entender o que a criadora quer ensinar e qual material próprio ou fictício pode usar. O pedido deixa espaço para pensar sem expor projetos de clientes.</a:t>
            </a:r>
          </a:p>
          <a:p xmlns:a="http://schemas.openxmlformats.org/drawingml/2006/main">
            <a:r>
              <a:t/>
            </a:r>
          </a:p>
          <a:p xmlns:a="http://schemas.openxmlformats.org/drawingml/2006/main">
            <a:r>
              <a:t>PEDIDO PARA ADAPTAR: Minha ideia fictícia: quero uma série de vídeos mostrando meu processo de edição. Talvez tutorial ou bastidores, sem frequência definida. Tenho pouco tempo e não vou mostrar arquivos de clientes. Resuma o que eu disse, separe decisões de possibilidades e indique suas inferências. Não proponha um plano ainda. Termine com uma pergunta para esclarecer o ponto mais importante.</a:t>
            </a:r>
          </a:p>
          <a:p xmlns:a="http://schemas.openxmlformats.org/drawingml/2006/main">
            <a:r>
              <a:t/>
            </a:r>
          </a:p>
          <a:p xmlns:a="http://schemas.openxmlformats.org/drawingml/2006/main">
            <a:r>
              <a:t>REFLEXÃO: O modelo começou um plano detalhado mesmo assim. Como conduzir de volta?</a:t>
            </a:r>
          </a:p>
          <a:p xmlns:a="http://schemas.openxmlformats.org/drawingml/2006/main">
            <a:r>
              <a:t/>
            </a:r>
          </a:p>
          <a:p xmlns:a="http://schemas.openxmlformats.org/drawingml/2006/main">
            <a:r>
              <a:t>Reafirme o limite: ‘Ainda não quero um plano. Volte ao resumo e mantenha tutorial ou bastidores como uma dúvida.’ Depois confira se a distinção foi preservada. Você pode corrigir o processo, não apenas o conteúdo.</a:t>
            </a:r>
          </a:p>
          <a:p xmlns:a="http://schemas.openxmlformats.org/drawingml/2006/main">
            <a:r>
              <a:t/>
            </a:r>
          </a:p>
          <a:p xmlns:a="http://schemas.openxmlformats.org/drawingml/2006/main">
            <a:r>
              <a:t>IDEIA PRINCIPAL: Dar espaço para pensar também é definir o momento de receber sugestões.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Um resumo é uma seleção e uma reformulação. Ele pode eliminar repetições úteis, exagerar uma certeza ou transformar uma possibilidade em compromisso. Leia procurando fidelidade à sua intenção, não apenas uma versão mais elegante da fala.</a:t>
            </a:r>
          </a:p>
          <a:p xmlns:a="http://schemas.openxmlformats.org/drawingml/2006/main">
            <a:r>
              <a:t/>
            </a:r>
          </a:p>
          <a:p xmlns:a="http://schemas.openxmlformats.org/drawingml/2006/main">
            <a:r>
              <a:t>Preste atenção aos verbos e às expressões de dúvida. ‘Pensei em’, ‘talvez’ e ‘quero explorar’ não significam ‘decidi’. Também confira o que desapareceu. Se você disse que não quer criar uma obrigação, essa condição não pode sumir de um resumo que vai orientar o próximo passo.</a:t>
            </a:r>
          </a:p>
          <a:p xmlns:a="http://schemas.openxmlformats.org/drawingml/2006/main">
            <a:r>
              <a:t/>
            </a:r>
          </a:p>
          <a:p xmlns:a="http://schemas.openxmlformats.org/drawingml/2006/main">
            <a:r>
              <a:t>Corrija com referência ao que foi dito: ‘Você tratou a data como definida, mas ela é apenas uma opção’. Peça que o modelo marque incertezas em vez de completá-las. Se não houver informação suficiente, ‘não definido’ pode ser a resposta mais fiel.</a:t>
            </a:r>
          </a:p>
          <a:p xmlns:a="http://schemas.openxmlformats.org/drawingml/2006/main">
            <a:r>
              <a:t/>
            </a:r>
          </a:p>
          <a:p xmlns:a="http://schemas.openxmlformats.org/drawingml/2006/main">
            <a:r>
              <a:t>A organização melhora quando torna a incerteza visível, não quando a elimina sem autorização.</a:t>
            </a:r>
          </a:p>
          <a:p xmlns:a="http://schemas.openxmlformats.org/drawingml/2006/main">
            <a:r>
              <a:t/>
            </a:r>
          </a:p>
          <a:p xmlns:a="http://schemas.openxmlformats.org/drawingml/2006/main">
            <a:r>
              <a:t>EXEMPLO FICTÍCIO: O resumo não pode assinar por você</a:t>
            </a:r>
          </a:p>
          <a:p xmlns:a="http://schemas.openxmlformats.org/drawingml/2006/main">
            <a:r>
              <a:t/>
            </a:r>
          </a:p>
          <a:p xmlns:a="http://schemas.openxmlformats.org/drawingml/2006/main">
            <a:r>
              <a:t>A ideia da série vira: ‘Você entregará quatro vídeos ao cliente e publicará o primeiro nesta semana.’ Nenhuma dessas decisões foi tomada.</a:t>
            </a:r>
          </a:p>
          <a:p xmlns:a="http://schemas.openxmlformats.org/drawingml/2006/main">
            <a:r>
              <a:t/>
            </a:r>
          </a:p>
          <a:p xmlns:a="http://schemas.openxmlformats.org/drawingml/2006/main">
            <a:r>
              <a:t>‘Remova a quantidade e o prazo. Registre ambos como pendentes. Este é um teste de conteúdo próprio, não uma entrega aprovada por um cliente.’</a:t>
            </a:r>
          </a:p>
          <a:p xmlns:a="http://schemas.openxmlformats.org/drawingml/2006/main">
            <a:r>
              <a:t/>
            </a:r>
          </a:p>
          <a:p xmlns:a="http://schemas.openxmlformats.org/drawingml/2006/main">
            <a:r>
              <a:t>A correção impede que um texto organizado pareça um compromisso real. Só você pode aprovar a passagem de uma hipótese para uma ação, especialmente quando ela envolve outra pessoa ou uma entrega de trabalho.</a:t>
            </a:r>
          </a:p>
          <a:p xmlns:a="http://schemas.openxmlformats.org/drawingml/2006/main">
            <a:r>
              <a:t/>
            </a:r>
          </a:p>
          <a:p xmlns:a="http://schemas.openxmlformats.org/drawingml/2006/main">
            <a:r>
              <a:t>REFLEXÃO: O que conferir primeiro em um resumo que parece muito mais decidido do que você?</a:t>
            </a:r>
          </a:p>
          <a:p xmlns:a="http://schemas.openxmlformats.org/drawingml/2006/main">
            <a:r>
              <a:t/>
            </a:r>
          </a:p>
          <a:p xmlns:a="http://schemas.openxmlformats.org/drawingml/2006/main">
            <a:r>
              <a:t>Procure datas, números, promessas e verbos no futuro. Compare com o que você realmente afirmou. Marque como possibilidade ou pendência tudo o que ainda não foi decidido, mesmo que isso deixe o resumo menos ‘pronto’.</a:t>
            </a:r>
          </a:p>
          <a:p xmlns:a="http://schemas.openxmlformats.org/drawingml/2006/main">
            <a:r>
              <a:t/>
            </a:r>
          </a:p>
          <a:p xmlns:a="http://schemas.openxmlformats.org/drawingml/2006/main">
            <a:r>
              <a:t>IDEIA PRINCIPAL: Clareza não é certeza artificial. É enxergar o que está definido e o que ainda está aberto.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Depois de corrigir o resumo, escolha uma ação pequena que ajude a esclarecer a próxima dúvida. Você não precisa sair com um plano completo. Às vezes, uma pergunta para outra pessoa é o passo que mais faz diferença.</a:t>
            </a:r>
          </a:p>
          <a:p xmlns:a="http://schemas.openxmlformats.org/drawingml/2006/main">
            <a:r>
              <a:t/>
            </a:r>
          </a:p>
          <a:p xmlns:a="http://schemas.openxmlformats.org/drawingml/2006/main">
            <a:r>
              <a:t>Se a dúvida é interesse, uma consulta breve pode ajudar mais que criar uma identidade visual. Se é capacidade de produção, estimar o esforço de um piloto vem antes de prometer frequência. Relacione a ação à incerteza principal; isso evita produzir materiais para uma decisão que ainda não foi tomada.</a:t>
            </a:r>
          </a:p>
          <a:p xmlns:a="http://schemas.openxmlformats.org/drawingml/2006/main">
            <a:r>
              <a:t/>
            </a:r>
          </a:p>
          <a:p xmlns:a="http://schemas.openxmlformats.org/drawingml/2006/main">
            <a:r>
              <a:t>Avalie também o modo de interação. Falar ajudou a encontrar uma ideia? Escrever deu mais controle? A revisão da transcrição foi trabalhosa? Você não precisa escolher uma modalidade para sempre. Pode combinar escrita e ditado conforme a tarefa e o ambiente.</a:t>
            </a:r>
          </a:p>
          <a:p xmlns:a="http://schemas.openxmlformats.org/drawingml/2006/main">
            <a:r>
              <a:t/>
            </a:r>
          </a:p>
          <a:p xmlns:a="http://schemas.openxmlformats.org/drawingml/2006/main">
            <a:r>
              <a:t>Preparar uma mensagem no chat não a envia. Você decide se, quando e para quem quer mandar.</a:t>
            </a:r>
          </a:p>
          <a:p xmlns:a="http://schemas.openxmlformats.org/drawingml/2006/main">
            <a:r>
              <a:t/>
            </a:r>
          </a:p>
          <a:p xmlns:a="http://schemas.openxmlformats.org/drawingml/2006/main">
            <a:r>
              <a:t>EXEMPLO FICTÍCIO: Uma ação proporcional à ideia</a:t>
            </a:r>
          </a:p>
          <a:p xmlns:a="http://schemas.openxmlformats.org/drawingml/2006/main">
            <a:r>
              <a:t/>
            </a:r>
          </a:p>
          <a:p xmlns:a="http://schemas.openxmlformats.org/drawingml/2006/main">
            <a:r>
              <a:t>Depois de refletir sobre a série, a criadora percebe que ainda não sabe qual formato interessaria ao público fictício.</a:t>
            </a:r>
          </a:p>
          <a:p xmlns:a="http://schemas.openxmlformats.org/drawingml/2006/main">
            <a:r>
              <a:t/>
            </a:r>
          </a:p>
          <a:p xmlns:a="http://schemas.openxmlformats.org/drawingml/2006/main">
            <a:r>
              <a:t>‘Escreva uma pergunta curta para consultar interesse em tutorial ou bastidores de edição. Deixe claro que estou explorando a ideia, sem data de lançamento.’</a:t>
            </a:r>
          </a:p>
          <a:p xmlns:a="http://schemas.openxmlformats.org/drawingml/2006/main">
            <a:r>
              <a:t/>
            </a:r>
          </a:p>
          <a:p xmlns:a="http://schemas.openxmlformats.org/drawingml/2006/main">
            <a:r>
              <a:t>O texto ajuda a investigar, sem fingir que a série já está organizada. Antes de usar, ela ajusta o tom e confere se a mensagem preserva essa abertura. O chat não envia a pergunta nem coleta respostas.</a:t>
            </a:r>
          </a:p>
          <a:p xmlns:a="http://schemas.openxmlformats.org/drawingml/2006/main">
            <a:r>
              <a:t/>
            </a:r>
          </a:p>
          <a:p xmlns:a="http://schemas.openxmlformats.org/drawingml/2006/main">
            <a:r>
              <a:t>REFLEXÃO: Qual ação de até dez minutos poderia trazer uma informação que está faltando?</a:t>
            </a:r>
          </a:p>
          <a:p xmlns:a="http://schemas.openxmlformats.org/drawingml/2006/main">
            <a:r>
              <a:t/>
            </a:r>
          </a:p>
          <a:p xmlns:a="http://schemas.openxmlformats.org/drawingml/2006/main">
            <a:r>
              <a:t>Talvez revisar uma lista de opções, consultar uma disponibilidade ou escrever uma pergunta. Prefira algo que reduza uma dúvida real. Registre a ação e uma correção que você precisou fazer no resumo.</a:t>
            </a:r>
          </a:p>
          <a:p xmlns:a="http://schemas.openxmlformats.org/drawingml/2006/main">
            <a:r>
              <a:t/>
            </a:r>
          </a:p>
          <a:p xmlns:a="http://schemas.openxmlformats.org/drawingml/2006/main">
            <a:r>
              <a:t>IDEIA PRINCIPAL: Uma reflexão ganha força quando encontra um próximo passo do tamanho certo.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ec492f9ad904da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2e5bf7d431a4bc6" /><Relationship Type="http://schemas.openxmlformats.org/officeDocument/2006/relationships/slideLayout" Target="/ppt/slideLayouts/slideLayout1.xml" Id="Rb241731579f14c5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241731579f14c5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88ff98b3fe44a5c" /><Relationship Type="http://schemas.openxmlformats.org/officeDocument/2006/relationships/notesSlide" Target="/ppt/notesSlides/notesSlide1.xml" Id="R853379b529db448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0ff2686b83a4cd2" /><Relationship Type="http://schemas.openxmlformats.org/officeDocument/2006/relationships/notesSlide" Target="/ppt/notesSlides/notesSlide2.xml" Id="R50699ae1b8fd4b7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331d7fac99947ce" /><Relationship Type="http://schemas.openxmlformats.org/officeDocument/2006/relationships/notesSlide" Target="/ppt/notesSlides/notesSlide3.xml" Id="R7e9c3c093322482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a98ea19ba644ede" /><Relationship Type="http://schemas.openxmlformats.org/officeDocument/2006/relationships/notesSlide" Target="/ppt/notesSlides/notesSlide4.xml" Id="R7dba5ab7ddcc45e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187aee78dbc4f05" /><Relationship Type="http://schemas.openxmlformats.org/officeDocument/2006/relationships/notesSlide" Target="/ppt/notesSlides/notesSlide5.xml" Id="Rd62c1ca93bdd4dbb" /></Relationships>
</file>

<file path=ppt/slides/slide1.xml><?xml version="1.0" encoding="utf-8"?>
<p:sld xmlns:p="http://schemas.openxmlformats.org/presentationml/2006/main">
  <p:cSld>
    <p:bg>
      <p:bgPr>
        <a:solidFill xmlns:a="http://schemas.openxmlformats.org/drawingml/2006/main">
          <a:srgbClr val="101010"/>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74195BBB-BB37-42F1-A206-3EE63F516E70}"/>
              </a:ext>
            </a:extLst>
          </p:cNvPr>
          <p:cNvSpPr>
            <a:spLocks xmlns:a="http://schemas.openxmlformats.org/drawingml/2006/main" noGrp="1"/>
          </p:cNvSpPr>
          <p:nvPr/>
        </p:nvSpPr>
        <p:spPr>
          <a:xfrm xmlns:a="http://schemas.openxmlformats.org/drawingml/2006/main">
            <a:off x="666750" y="523875"/>
            <a:ext cx="13811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0">
                <a:solidFill>
                  <a:srgbClr val="F6F3F5"/>
                </a:solidFill>
                <a:latin typeface="Arial"/>
                <a:ea typeface="Arial"/>
                <a:cs typeface="Arial"/>
              </a:defRPr>
            </a:pPr>
            <a:r>
              <a:rPr sz="3450" b="0">
                <a:solidFill>
                  <a:srgbClr val="F6F3F5"/>
                </a:solidFill>
                <a:latin typeface="Arial"/>
                <a:ea typeface="Arial"/>
                <a:cs typeface="Arial"/>
              </a:rPr>
              <a:t>Pensando em voz alta</a:t>
            </a:r>
          </a:p>
        </p:txBody>
      </p:sp>
      <p:sp>
        <p:nvSpPr>
          <p:cNvPr id="2" name="">
            <a:extLst xmlns:a="http://schemas.openxmlformats.org/drawingml/2006/main">
              <a:ext uri="{FF2B5EF4-FFF2-40B4-BE49-F238E27FC236}">
                <a16:creationId xmlns:a16="http://schemas.microsoft.com/office/drawing/2014/main" id="{975A4A9E-BBAF-4658-B07B-FA409A20CC8B}"/>
              </a:ext>
            </a:extLst>
          </p:cNvPr>
          <p:cNvSpPr>
            <a:spLocks xmlns:a="http://schemas.openxmlformats.org/drawingml/2006/main" noGrp="1"/>
          </p:cNvSpPr>
          <p:nvPr/>
        </p:nvSpPr>
        <p:spPr>
          <a:xfrm xmlns:a="http://schemas.openxmlformats.org/drawingml/2006/main">
            <a:off x="666750" y="1762125"/>
            <a:ext cx="13620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D6CFD4"/>
                </a:solidFill>
                <a:latin typeface="Arial"/>
                <a:ea typeface="Arial"/>
                <a:cs typeface="Arial"/>
              </a:defRPr>
            </a:pPr>
            <a:r>
              <a:rPr sz="2025" b="0">
                <a:solidFill>
                  <a:srgbClr val="D6CFD4"/>
                </a:solidFill>
                <a:latin typeface="Arial"/>
                <a:ea typeface="Arial"/>
                <a:cs typeface="Arial"/>
              </a:rPr>
              <a:t>Nem toda ideia nasce em uma frase bem organizada. Às vezes você precisa falar, voltar atrás e encontrar o ponto enquanto explica. Esse material ainda imperfeito pode ser o começo de uma conversa útil com a IA.</a:t>
            </a:r>
          </a:p>
        </p:txBody>
      </p:sp>
      <p:sp>
        <p:nvSpPr>
          <p:cNvPr id="3" name="">
            <a:extLst xmlns:a="http://schemas.openxmlformats.org/drawingml/2006/main">
              <a:ext uri="{FF2B5EF4-FFF2-40B4-BE49-F238E27FC236}">
                <a16:creationId xmlns:a16="http://schemas.microsoft.com/office/drawing/2014/main" id="{A8E0FC6F-A7A1-4C31-AA9F-A803E0B2B5B1}"/>
              </a:ext>
            </a:extLst>
          </p:cNvPr>
          <p:cNvSpPr>
            <a:spLocks xmlns:a="http://schemas.openxmlformats.org/drawingml/2006/main" noGrp="1"/>
          </p:cNvSpPr>
          <p:nvPr/>
        </p:nvSpPr>
        <p:spPr>
          <a:xfrm xmlns:a="http://schemas.openxmlformats.org/drawingml/2006/main">
            <a:off x="666750" y="3238500"/>
            <a:ext cx="13811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E7B5D4"/>
                </a:solidFill>
                <a:latin typeface="Arial"/>
                <a:ea typeface="Arial"/>
                <a:cs typeface="Arial"/>
              </a:defRPr>
            </a:pPr>
            <a:r>
              <a:rPr sz="2175" b="0">
                <a:solidFill>
                  <a:srgbClr val="E7B5D4"/>
                </a:solidFill>
                <a:latin typeface="Arial"/>
                <a:ea typeface="Arial"/>
                <a:cs typeface="Arial"/>
              </a:rPr>
              <a:t>Da ideia solta à clareza</a:t>
            </a:r>
          </a:p>
        </p:txBody>
      </p:sp>
      <p:sp>
        <p:nvSpPr>
          <p:cNvPr id="4" name="">
            <a:extLst xmlns:a="http://schemas.openxmlformats.org/drawingml/2006/main">
              <a:ext uri="{FF2B5EF4-FFF2-40B4-BE49-F238E27FC236}">
                <a16:creationId xmlns:a16="http://schemas.microsoft.com/office/drawing/2014/main" id="{7D74CCB7-2385-4433-87A7-7616637F681F}"/>
              </a:ext>
            </a:extLst>
          </p:cNvPr>
          <p:cNvSpPr>
            <a:spLocks xmlns:a="http://schemas.openxmlformats.org/drawingml/2006/main" noGrp="1"/>
          </p:cNvSpPr>
          <p:nvPr/>
        </p:nvSpPr>
        <p:spPr>
          <a:xfrm xmlns:a="http://schemas.openxmlformats.org/drawingml/2006/main">
            <a:off x="666750" y="4143375"/>
            <a:ext cx="3176588"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E7B5D4"/>
                </a:solidFill>
                <a:latin typeface="Arial"/>
                <a:ea typeface="Arial"/>
                <a:cs typeface="Arial"/>
              </a:defRPr>
            </a:pPr>
            <a:r>
              <a:rPr sz="1650" b="0">
                <a:solidFill>
                  <a:srgbClr val="E7B5D4"/>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83884FFD-EE0B-4EF1-9A0B-E8249B58B2C6}"/>
              </a:ext>
            </a:extLst>
          </p:cNvPr>
          <p:cNvSpPr>
            <a:spLocks xmlns:a="http://schemas.openxmlformats.org/drawingml/2006/main" noGrp="1"/>
          </p:cNvSpPr>
          <p:nvPr/>
        </p:nvSpPr>
        <p:spPr>
          <a:xfrm xmlns:a="http://schemas.openxmlformats.org/drawingml/2006/main">
            <a:off x="666750" y="4667250"/>
            <a:ext cx="3176588"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F6F3F5"/>
                </a:solidFill>
                <a:latin typeface="Arial"/>
                <a:ea typeface="Arial"/>
                <a:cs typeface="Arial"/>
              </a:defRPr>
            </a:pPr>
            <a:r>
              <a:rPr sz="1950" b="1">
                <a:solidFill>
                  <a:srgbClr val="F6F3F5"/>
                </a:solidFill>
                <a:latin typeface="Arial"/>
                <a:ea typeface="Arial"/>
                <a:cs typeface="Arial"/>
              </a:rPr>
              <a:t>Expressar</a:t>
            </a:r>
          </a:p>
        </p:txBody>
      </p:sp>
      <p:sp>
        <p:nvSpPr>
          <p:cNvPr id="6" name="">
            <a:extLst xmlns:a="http://schemas.openxmlformats.org/drawingml/2006/main">
              <a:ext uri="{FF2B5EF4-FFF2-40B4-BE49-F238E27FC236}">
                <a16:creationId xmlns:a16="http://schemas.microsoft.com/office/drawing/2014/main" id="{DC07DD82-E71C-48B9-9E0F-D293DFCB0DE0}"/>
              </a:ext>
            </a:extLst>
          </p:cNvPr>
          <p:cNvSpPr>
            <a:spLocks xmlns:a="http://schemas.openxmlformats.org/drawingml/2006/main" noGrp="1"/>
          </p:cNvSpPr>
          <p:nvPr/>
        </p:nvSpPr>
        <p:spPr>
          <a:xfrm xmlns:a="http://schemas.openxmlformats.org/drawingml/2006/main">
            <a:off x="666750" y="5619750"/>
            <a:ext cx="3176588"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D6CFD4"/>
                </a:solidFill>
                <a:latin typeface="Arial"/>
                <a:ea typeface="Arial"/>
                <a:cs typeface="Arial"/>
              </a:defRPr>
            </a:pPr>
            <a:r>
              <a:rPr sz="1725" b="0">
                <a:solidFill>
                  <a:srgbClr val="D6CFD4"/>
                </a:solidFill>
                <a:latin typeface="Arial"/>
                <a:ea typeface="Arial"/>
                <a:cs typeface="Arial"/>
              </a:rPr>
              <a:t>Conto o que sei e o que ainda está em aberto.</a:t>
            </a:r>
          </a:p>
        </p:txBody>
      </p:sp>
      <p:sp>
        <p:nvSpPr>
          <p:cNvPr id="7" name="">
            <a:extLst xmlns:a="http://schemas.openxmlformats.org/drawingml/2006/main">
              <a:ext uri="{FF2B5EF4-FFF2-40B4-BE49-F238E27FC236}">
                <a16:creationId xmlns:a16="http://schemas.microsoft.com/office/drawing/2014/main" id="{9AC689F7-20DD-4E2F-97A5-8BAA8CFBD02D}"/>
              </a:ext>
            </a:extLst>
          </p:cNvPr>
          <p:cNvSpPr>
            <a:spLocks xmlns:a="http://schemas.openxmlformats.org/drawingml/2006/main" noGrp="1"/>
          </p:cNvSpPr>
          <p:nvPr/>
        </p:nvSpPr>
        <p:spPr>
          <a:xfrm xmlns:a="http://schemas.openxmlformats.org/drawingml/2006/main">
            <a:off x="3919538" y="4191000"/>
            <a:ext cx="228600" cy="133350"/>
          </a:xfrm>
          <a:prstGeom xmlns:a="http://schemas.openxmlformats.org/drawingml/2006/main" prst="rightArrow">
            <a:avLst/>
          </a:prstGeom>
          <a:solidFill xmlns:a="http://schemas.openxmlformats.org/drawingml/2006/main">
            <a:srgbClr val="E7B5D4"/>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DF34BEA-E2B5-452F-902F-4562B66FE6D6}"/>
              </a:ext>
            </a:extLst>
          </p:cNvPr>
          <p:cNvSpPr>
            <a:spLocks xmlns:a="http://schemas.openxmlformats.org/drawingml/2006/main" noGrp="1"/>
          </p:cNvSpPr>
          <p:nvPr/>
        </p:nvSpPr>
        <p:spPr>
          <a:xfrm xmlns:a="http://schemas.openxmlformats.org/drawingml/2006/main">
            <a:off x="4243388" y="4143375"/>
            <a:ext cx="3176588"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E7B5D4"/>
                </a:solidFill>
                <a:latin typeface="Arial"/>
                <a:ea typeface="Arial"/>
                <a:cs typeface="Arial"/>
              </a:defRPr>
            </a:pPr>
            <a:r>
              <a:rPr sz="1650" b="0">
                <a:solidFill>
                  <a:srgbClr val="E7B5D4"/>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0C4BC3BA-ED86-4595-A8C5-A46EE67D3ECC}"/>
              </a:ext>
            </a:extLst>
          </p:cNvPr>
          <p:cNvSpPr>
            <a:spLocks xmlns:a="http://schemas.openxmlformats.org/drawingml/2006/main" noGrp="1"/>
          </p:cNvSpPr>
          <p:nvPr/>
        </p:nvSpPr>
        <p:spPr>
          <a:xfrm xmlns:a="http://schemas.openxmlformats.org/drawingml/2006/main">
            <a:off x="4243388" y="4667250"/>
            <a:ext cx="3176588"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F6F3F5"/>
                </a:solidFill>
                <a:latin typeface="Arial"/>
                <a:ea typeface="Arial"/>
                <a:cs typeface="Arial"/>
              </a:defRPr>
            </a:pPr>
            <a:r>
              <a:rPr sz="1950" b="1">
                <a:solidFill>
                  <a:srgbClr val="F6F3F5"/>
                </a:solidFill>
                <a:latin typeface="Arial"/>
                <a:ea typeface="Arial"/>
                <a:cs typeface="Arial"/>
              </a:rPr>
              <a:t>Organizar</a:t>
            </a:r>
          </a:p>
        </p:txBody>
      </p:sp>
      <p:sp>
        <p:nvSpPr>
          <p:cNvPr id="10" name="">
            <a:extLst xmlns:a="http://schemas.openxmlformats.org/drawingml/2006/main">
              <a:ext uri="{FF2B5EF4-FFF2-40B4-BE49-F238E27FC236}">
                <a16:creationId xmlns:a16="http://schemas.microsoft.com/office/drawing/2014/main" id="{7125FF5A-8BBC-4BC7-B71A-B8DC9F05F817}"/>
              </a:ext>
            </a:extLst>
          </p:cNvPr>
          <p:cNvSpPr>
            <a:spLocks xmlns:a="http://schemas.openxmlformats.org/drawingml/2006/main" noGrp="1"/>
          </p:cNvSpPr>
          <p:nvPr/>
        </p:nvSpPr>
        <p:spPr>
          <a:xfrm xmlns:a="http://schemas.openxmlformats.org/drawingml/2006/main">
            <a:off x="4243388" y="5619750"/>
            <a:ext cx="3176588"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D6CFD4"/>
                </a:solidFill>
                <a:latin typeface="Arial"/>
                <a:ea typeface="Arial"/>
                <a:cs typeface="Arial"/>
              </a:defRPr>
            </a:pPr>
            <a:r>
              <a:rPr sz="1725" b="0">
                <a:solidFill>
                  <a:srgbClr val="D6CFD4"/>
                </a:solidFill>
                <a:latin typeface="Arial"/>
                <a:ea typeface="Arial"/>
                <a:cs typeface="Arial"/>
              </a:rPr>
              <a:t>Peço um resumo que separe ideias e dúvidas.</a:t>
            </a:r>
          </a:p>
        </p:txBody>
      </p:sp>
      <p:sp>
        <p:nvSpPr>
          <p:cNvPr id="11" name="">
            <a:extLst xmlns:a="http://schemas.openxmlformats.org/drawingml/2006/main">
              <a:ext uri="{FF2B5EF4-FFF2-40B4-BE49-F238E27FC236}">
                <a16:creationId xmlns:a16="http://schemas.microsoft.com/office/drawing/2014/main" id="{7B61E485-BA40-41CD-8BD2-5D26931AA184}"/>
              </a:ext>
            </a:extLst>
          </p:cNvPr>
          <p:cNvSpPr>
            <a:spLocks xmlns:a="http://schemas.openxmlformats.org/drawingml/2006/main" noGrp="1"/>
          </p:cNvSpPr>
          <p:nvPr/>
        </p:nvSpPr>
        <p:spPr>
          <a:xfrm xmlns:a="http://schemas.openxmlformats.org/drawingml/2006/main">
            <a:off x="7496175" y="4191000"/>
            <a:ext cx="228600" cy="133350"/>
          </a:xfrm>
          <a:prstGeom xmlns:a="http://schemas.openxmlformats.org/drawingml/2006/main" prst="rightArrow">
            <a:avLst/>
          </a:prstGeom>
          <a:solidFill xmlns:a="http://schemas.openxmlformats.org/drawingml/2006/main">
            <a:srgbClr val="E7B5D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25E3F7B-B3C7-442E-93A5-AD84E3D280AE}"/>
              </a:ext>
            </a:extLst>
          </p:cNvPr>
          <p:cNvSpPr>
            <a:spLocks xmlns:a="http://schemas.openxmlformats.org/drawingml/2006/main" noGrp="1"/>
          </p:cNvSpPr>
          <p:nvPr/>
        </p:nvSpPr>
        <p:spPr>
          <a:xfrm xmlns:a="http://schemas.openxmlformats.org/drawingml/2006/main">
            <a:off x="7820025" y="4143375"/>
            <a:ext cx="3176588"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E7B5D4"/>
                </a:solidFill>
                <a:latin typeface="Arial"/>
                <a:ea typeface="Arial"/>
                <a:cs typeface="Arial"/>
              </a:defRPr>
            </a:pPr>
            <a:r>
              <a:rPr sz="1650" b="0">
                <a:solidFill>
                  <a:srgbClr val="E7B5D4"/>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271BC3D5-17AB-40B2-85A7-C8C3DEA154B9}"/>
              </a:ext>
            </a:extLst>
          </p:cNvPr>
          <p:cNvSpPr>
            <a:spLocks xmlns:a="http://schemas.openxmlformats.org/drawingml/2006/main" noGrp="1"/>
          </p:cNvSpPr>
          <p:nvPr/>
        </p:nvSpPr>
        <p:spPr>
          <a:xfrm xmlns:a="http://schemas.openxmlformats.org/drawingml/2006/main">
            <a:off x="7820025" y="4667250"/>
            <a:ext cx="3176588"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F6F3F5"/>
                </a:solidFill>
                <a:latin typeface="Arial"/>
                <a:ea typeface="Arial"/>
                <a:cs typeface="Arial"/>
              </a:defRPr>
            </a:pPr>
            <a:r>
              <a:rPr sz="1950" b="1">
                <a:solidFill>
                  <a:srgbClr val="F6F3F5"/>
                </a:solidFill>
                <a:latin typeface="Arial"/>
                <a:ea typeface="Arial"/>
                <a:cs typeface="Arial"/>
              </a:rPr>
              <a:t>Corrigir</a:t>
            </a:r>
          </a:p>
        </p:txBody>
      </p:sp>
      <p:sp>
        <p:nvSpPr>
          <p:cNvPr id="14" name="">
            <a:extLst xmlns:a="http://schemas.openxmlformats.org/drawingml/2006/main">
              <a:ext uri="{FF2B5EF4-FFF2-40B4-BE49-F238E27FC236}">
                <a16:creationId xmlns:a16="http://schemas.microsoft.com/office/drawing/2014/main" id="{AF6DB102-FE4B-4B56-8D30-CA29CB5FFAFF}"/>
              </a:ext>
            </a:extLst>
          </p:cNvPr>
          <p:cNvSpPr>
            <a:spLocks xmlns:a="http://schemas.openxmlformats.org/drawingml/2006/main" noGrp="1"/>
          </p:cNvSpPr>
          <p:nvPr/>
        </p:nvSpPr>
        <p:spPr>
          <a:xfrm xmlns:a="http://schemas.openxmlformats.org/drawingml/2006/main">
            <a:off x="7820025" y="5619750"/>
            <a:ext cx="3176588"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D6CFD4"/>
                </a:solidFill>
                <a:latin typeface="Arial"/>
                <a:ea typeface="Arial"/>
                <a:cs typeface="Arial"/>
              </a:defRPr>
            </a:pPr>
            <a:r>
              <a:rPr sz="1725" b="0">
                <a:solidFill>
                  <a:srgbClr val="D6CFD4"/>
                </a:solidFill>
                <a:latin typeface="Arial"/>
                <a:ea typeface="Arial"/>
                <a:cs typeface="Arial"/>
              </a:rPr>
              <a:t>Restauro o que foi interpretado de forma errada.</a:t>
            </a:r>
          </a:p>
        </p:txBody>
      </p:sp>
      <p:sp>
        <p:nvSpPr>
          <p:cNvPr id="15" name="">
            <a:extLst xmlns:a="http://schemas.openxmlformats.org/drawingml/2006/main">
              <a:ext uri="{FF2B5EF4-FFF2-40B4-BE49-F238E27FC236}">
                <a16:creationId xmlns:a16="http://schemas.microsoft.com/office/drawing/2014/main" id="{B7CCF2BE-45C1-4242-BA65-77F8091354DD}"/>
              </a:ext>
            </a:extLst>
          </p:cNvPr>
          <p:cNvSpPr>
            <a:spLocks xmlns:a="http://schemas.openxmlformats.org/drawingml/2006/main" noGrp="1"/>
          </p:cNvSpPr>
          <p:nvPr/>
        </p:nvSpPr>
        <p:spPr>
          <a:xfrm xmlns:a="http://schemas.openxmlformats.org/drawingml/2006/main">
            <a:off x="11072813" y="4191000"/>
            <a:ext cx="228600" cy="133350"/>
          </a:xfrm>
          <a:prstGeom xmlns:a="http://schemas.openxmlformats.org/drawingml/2006/main" prst="rightArrow">
            <a:avLst/>
          </a:prstGeom>
          <a:solidFill xmlns:a="http://schemas.openxmlformats.org/drawingml/2006/main">
            <a:srgbClr val="E7B5D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907FCF34-92FA-48FD-A884-9E22D5F55598}"/>
              </a:ext>
            </a:extLst>
          </p:cNvPr>
          <p:cNvSpPr>
            <a:spLocks xmlns:a="http://schemas.openxmlformats.org/drawingml/2006/main" noGrp="1"/>
          </p:cNvSpPr>
          <p:nvPr/>
        </p:nvSpPr>
        <p:spPr>
          <a:xfrm xmlns:a="http://schemas.openxmlformats.org/drawingml/2006/main">
            <a:off x="11396663" y="4143375"/>
            <a:ext cx="3176588"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E7B5D4"/>
                </a:solidFill>
                <a:latin typeface="Arial"/>
                <a:ea typeface="Arial"/>
                <a:cs typeface="Arial"/>
              </a:defRPr>
            </a:pPr>
            <a:r>
              <a:rPr sz="1650" b="0">
                <a:solidFill>
                  <a:srgbClr val="E7B5D4"/>
                </a:solidFill>
                <a:latin typeface="Arial"/>
                <a:ea typeface="Arial"/>
                <a:cs typeface="Arial"/>
              </a:rPr>
              <a:t>04</a:t>
            </a:r>
          </a:p>
        </p:txBody>
      </p:sp>
      <p:sp>
        <p:nvSpPr>
          <p:cNvPr id="17" name="">
            <a:extLst xmlns:a="http://schemas.openxmlformats.org/drawingml/2006/main">
              <a:ext uri="{FF2B5EF4-FFF2-40B4-BE49-F238E27FC236}">
                <a16:creationId xmlns:a16="http://schemas.microsoft.com/office/drawing/2014/main" id="{970A36E5-E0C7-45DE-A700-F60EFC1F3811}"/>
              </a:ext>
            </a:extLst>
          </p:cNvPr>
          <p:cNvSpPr>
            <a:spLocks xmlns:a="http://schemas.openxmlformats.org/drawingml/2006/main" noGrp="1"/>
          </p:cNvSpPr>
          <p:nvPr/>
        </p:nvSpPr>
        <p:spPr>
          <a:xfrm xmlns:a="http://schemas.openxmlformats.org/drawingml/2006/main">
            <a:off x="11396663" y="4667250"/>
            <a:ext cx="3176588"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F6F3F5"/>
                </a:solidFill>
                <a:latin typeface="Arial"/>
                <a:ea typeface="Arial"/>
                <a:cs typeface="Arial"/>
              </a:defRPr>
            </a:pPr>
            <a:r>
              <a:rPr sz="1950" b="1">
                <a:solidFill>
                  <a:srgbClr val="F6F3F5"/>
                </a:solidFill>
                <a:latin typeface="Arial"/>
                <a:ea typeface="Arial"/>
                <a:cs typeface="Arial"/>
              </a:rPr>
              <a:t>Escolher</a:t>
            </a:r>
          </a:p>
        </p:txBody>
      </p:sp>
      <p:sp>
        <p:nvSpPr>
          <p:cNvPr id="18" name="">
            <a:extLst xmlns:a="http://schemas.openxmlformats.org/drawingml/2006/main">
              <a:ext uri="{FF2B5EF4-FFF2-40B4-BE49-F238E27FC236}">
                <a16:creationId xmlns:a16="http://schemas.microsoft.com/office/drawing/2014/main" id="{7B99DB8C-D633-4358-81C6-4F2A8315757D}"/>
              </a:ext>
            </a:extLst>
          </p:cNvPr>
          <p:cNvSpPr>
            <a:spLocks xmlns:a="http://schemas.openxmlformats.org/drawingml/2006/main" noGrp="1"/>
          </p:cNvSpPr>
          <p:nvPr/>
        </p:nvSpPr>
        <p:spPr>
          <a:xfrm xmlns:a="http://schemas.openxmlformats.org/drawingml/2006/main">
            <a:off x="11396663" y="5619750"/>
            <a:ext cx="3176588"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D6CFD4"/>
                </a:solidFill>
                <a:latin typeface="Arial"/>
                <a:ea typeface="Arial"/>
                <a:cs typeface="Arial"/>
              </a:defRPr>
            </a:pPr>
            <a:r>
              <a:rPr sz="1725" b="0">
                <a:solidFill>
                  <a:srgbClr val="D6CFD4"/>
                </a:solidFill>
                <a:latin typeface="Arial"/>
                <a:ea typeface="Arial"/>
                <a:cs typeface="Arial"/>
              </a:rPr>
              <a:t>Defino um próximo passo pequeno.</a:t>
            </a:r>
          </a:p>
        </p:txBody>
      </p:sp>
      <p:sp>
        <p:nvSpPr>
          <p:cNvPr id="19" name="">
            <a:extLst xmlns:a="http://schemas.openxmlformats.org/drawingml/2006/main">
              <a:ext uri="{FF2B5EF4-FFF2-40B4-BE49-F238E27FC236}">
                <a16:creationId xmlns:a16="http://schemas.microsoft.com/office/drawing/2014/main" id="{8C370AF5-BDA9-4387-88BC-A0D1749EF291}"/>
              </a:ext>
            </a:extLst>
          </p:cNvPr>
          <p:cNvSpPr>
            <a:spLocks xmlns:a="http://schemas.openxmlformats.org/drawingml/2006/main" noGrp="1"/>
          </p:cNvSpPr>
          <p:nvPr/>
        </p:nvSpPr>
        <p:spPr>
          <a:xfrm xmlns:a="http://schemas.openxmlformats.org/drawingml/2006/main">
            <a:off x="666750" y="7239000"/>
            <a:ext cx="1381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BFCEB8"/>
                </a:solidFill>
                <a:latin typeface="Arial"/>
                <a:ea typeface="Arial"/>
                <a:cs typeface="Arial"/>
              </a:defRPr>
            </a:pPr>
            <a:r>
              <a:rPr sz="1950" b="0">
                <a:solidFill>
                  <a:srgbClr val="BFCEB8"/>
                </a:solidFill>
                <a:latin typeface="Arial"/>
                <a:ea typeface="Arial"/>
                <a:cs typeface="Arial"/>
              </a:rPr>
              <a:t>Uma ideia não precisa chegar pronta para merecer atenção.</a:t>
            </a:r>
          </a:p>
        </p:txBody>
      </p:sp>
      <p:sp>
        <p:nvSpPr>
          <p:cNvPr id="20" name="">
            <a:extLst xmlns:a="http://schemas.openxmlformats.org/drawingml/2006/main">
              <a:ext uri="{FF2B5EF4-FFF2-40B4-BE49-F238E27FC236}">
                <a16:creationId xmlns:a16="http://schemas.microsoft.com/office/drawing/2014/main" id="{13BA67E2-36A9-4AE2-87AF-E603127FADEC}"/>
              </a:ext>
            </a:extLst>
          </p:cNvPr>
          <p:cNvSpPr>
            <a:spLocks xmlns:a="http://schemas.openxmlformats.org/drawingml/2006/main" noGrp="1"/>
          </p:cNvSpPr>
          <p:nvPr/>
        </p:nvSpPr>
        <p:spPr>
          <a:xfrm xmlns:a="http://schemas.openxmlformats.org/drawingml/2006/main">
            <a:off x="666750" y="8115300"/>
            <a:ext cx="1381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B0ABB0"/>
                </a:solidFill>
                <a:latin typeface="Arial"/>
                <a:ea typeface="Arial"/>
                <a:cs typeface="Arial"/>
              </a:defRPr>
            </a:pPr>
            <a:r>
              <a:rPr sz="1275" b="0">
                <a:solidFill>
                  <a:srgbClr val="B0ABB0"/>
                </a:solidFill>
                <a:latin typeface="Arial"/>
                <a:ea typeface="Arial"/>
                <a:cs typeface="Arial"/>
              </a:rPr>
              <a:t>Emada Academy · Fundamentos · Aula 5 · 1/5</a:t>
            </a:r>
          </a:p>
        </p:txBody>
      </p:sp>
    </p:spTree>
    <p:extLst>
      <p:ext uri="{BB962C8B-B14F-4D97-AF65-F5344CB8AC3E}">
        <p14:creationId xmlns:p14="http://schemas.microsoft.com/office/powerpoint/2010/main" val="268595311"/>
      </p:ext>
    </p:extLst>
  </p:cSld>
</p:sld>
</file>

<file path=ppt/slides/slide2.xml><?xml version="1.0" encoding="utf-8"?>
<p:sld xmlns:p="http://schemas.openxmlformats.org/presentationml/2006/main">
  <p:cSld>
    <p:bg>
      <p:bgPr>
        <a:solidFill xmlns:a="http://schemas.openxmlformats.org/drawingml/2006/main">
          <a:srgbClr val="101010"/>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08BCB4FE-385D-4B7D-B834-BBFCBB87E810}"/>
              </a:ext>
            </a:extLst>
          </p:cNvPr>
          <p:cNvSpPr>
            <a:spLocks xmlns:a="http://schemas.openxmlformats.org/drawingml/2006/main" noGrp="1"/>
          </p:cNvSpPr>
          <p:nvPr/>
        </p:nvSpPr>
        <p:spPr>
          <a:xfrm xmlns:a="http://schemas.openxmlformats.org/drawingml/2006/main">
            <a:off x="666750" y="523875"/>
            <a:ext cx="13811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0">
                <a:solidFill>
                  <a:srgbClr val="F6F3F5"/>
                </a:solidFill>
                <a:latin typeface="Arial"/>
                <a:ea typeface="Arial"/>
                <a:cs typeface="Arial"/>
              </a:defRPr>
            </a:pPr>
            <a:r>
              <a:rPr sz="3450" b="0">
                <a:solidFill>
                  <a:srgbClr val="F6F3F5"/>
                </a:solidFill>
                <a:latin typeface="Arial"/>
                <a:ea typeface="Arial"/>
                <a:cs typeface="Arial"/>
              </a:rPr>
              <a:t>Ditar e conversar por voz</a:t>
            </a:r>
          </a:p>
        </p:txBody>
      </p:sp>
      <p:sp>
        <p:nvSpPr>
          <p:cNvPr id="2" name="">
            <a:extLst xmlns:a="http://schemas.openxmlformats.org/drawingml/2006/main">
              <a:ext uri="{FF2B5EF4-FFF2-40B4-BE49-F238E27FC236}">
                <a16:creationId xmlns:a16="http://schemas.microsoft.com/office/drawing/2014/main" id="{0804A1D0-B0FA-4606-B820-F4FD74625A58}"/>
              </a:ext>
            </a:extLst>
          </p:cNvPr>
          <p:cNvSpPr>
            <a:spLocks xmlns:a="http://schemas.openxmlformats.org/drawingml/2006/main" noGrp="1"/>
          </p:cNvSpPr>
          <p:nvPr/>
        </p:nvSpPr>
        <p:spPr>
          <a:xfrm xmlns:a="http://schemas.openxmlformats.org/drawingml/2006/main">
            <a:off x="666750" y="1762125"/>
            <a:ext cx="13620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D6CFD4"/>
                </a:solidFill>
                <a:latin typeface="Arial"/>
                <a:ea typeface="Arial"/>
                <a:cs typeface="Arial"/>
              </a:defRPr>
            </a:pPr>
            <a:r>
              <a:rPr sz="2025" b="0">
                <a:solidFill>
                  <a:srgbClr val="D6CFD4"/>
                </a:solidFill>
                <a:latin typeface="Arial"/>
                <a:ea typeface="Arial"/>
                <a:cs typeface="Arial"/>
              </a:rPr>
              <a:t>Ditar é transformar fala em texto. Conversar por voz envolve ouvir respostas e continuar falando em uma ferramenta que ofereça esse recurso. São experiências diferentes, e nenhuma delas é obrigatória para aprender os conceitos desta aula.</a:t>
            </a:r>
          </a:p>
        </p:txBody>
      </p:sp>
      <p:sp>
        <p:nvSpPr>
          <p:cNvPr id="3" name="">
            <a:extLst xmlns:a="http://schemas.openxmlformats.org/drawingml/2006/main">
              <a:ext uri="{FF2B5EF4-FFF2-40B4-BE49-F238E27FC236}">
                <a16:creationId xmlns:a16="http://schemas.microsoft.com/office/drawing/2014/main" id="{5EDD6985-B018-41A4-99A4-52B86FB8D2DC}"/>
              </a:ext>
            </a:extLst>
          </p:cNvPr>
          <p:cNvSpPr>
            <a:spLocks xmlns:a="http://schemas.openxmlformats.org/drawingml/2006/main" noGrp="1"/>
          </p:cNvSpPr>
          <p:nvPr/>
        </p:nvSpPr>
        <p:spPr>
          <a:xfrm xmlns:a="http://schemas.openxmlformats.org/drawingml/2006/main">
            <a:off x="666750" y="3238500"/>
            <a:ext cx="13811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E7B5D4"/>
                </a:solidFill>
                <a:latin typeface="Arial"/>
                <a:ea typeface="Arial"/>
                <a:cs typeface="Arial"/>
              </a:defRPr>
            </a:pPr>
            <a:r>
              <a:rPr sz="2175" b="0">
                <a:solidFill>
                  <a:srgbClr val="E7B5D4"/>
                </a:solidFill>
                <a:latin typeface="Arial"/>
                <a:ea typeface="Arial"/>
                <a:cs typeface="Arial"/>
              </a:rPr>
              <a:t>Escolha seu caminho de entrada</a:t>
            </a:r>
          </a:p>
        </p:txBody>
      </p:sp>
      <p:sp>
        <p:nvSpPr>
          <p:cNvPr id="4" name="">
            <a:extLst xmlns:a="http://schemas.openxmlformats.org/drawingml/2006/main">
              <a:ext uri="{FF2B5EF4-FFF2-40B4-BE49-F238E27FC236}">
                <a16:creationId xmlns:a16="http://schemas.microsoft.com/office/drawing/2014/main" id="{9F672177-0E09-46B3-8BC5-334278B850D2}"/>
              </a:ext>
            </a:extLst>
          </p:cNvPr>
          <p:cNvSpPr>
            <a:spLocks xmlns:a="http://schemas.openxmlformats.org/drawingml/2006/main" noGrp="1"/>
          </p:cNvSpPr>
          <p:nvPr/>
        </p:nvSpPr>
        <p:spPr>
          <a:xfrm xmlns:a="http://schemas.openxmlformats.org/drawingml/2006/main">
            <a:off x="666750" y="4143375"/>
            <a:ext cx="4368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BFCEB8"/>
                </a:solidFill>
                <a:latin typeface="Arial"/>
                <a:ea typeface="Arial"/>
                <a:cs typeface="Arial"/>
              </a:defRPr>
            </a:pPr>
            <a:r>
              <a:rPr sz="1650" b="0">
                <a:solidFill>
                  <a:srgbClr val="BFCEB8"/>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1BCB1DAD-3E9D-46A0-B2AC-BDDC7DF8585F}"/>
              </a:ext>
            </a:extLst>
          </p:cNvPr>
          <p:cNvSpPr>
            <a:spLocks xmlns:a="http://schemas.openxmlformats.org/drawingml/2006/main" noGrp="1"/>
          </p:cNvSpPr>
          <p:nvPr/>
        </p:nvSpPr>
        <p:spPr>
          <a:xfrm xmlns:a="http://schemas.openxmlformats.org/drawingml/2006/main">
            <a:off x="666750" y="4667250"/>
            <a:ext cx="4368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F6F3F5"/>
                </a:solidFill>
                <a:latin typeface="Arial"/>
                <a:ea typeface="Arial"/>
                <a:cs typeface="Arial"/>
              </a:defRPr>
            </a:pPr>
            <a:r>
              <a:rPr sz="1950" b="1">
                <a:solidFill>
                  <a:srgbClr val="F6F3F5"/>
                </a:solidFill>
                <a:latin typeface="Arial"/>
                <a:ea typeface="Arial"/>
                <a:cs typeface="Arial"/>
              </a:rPr>
              <a:t>Escrita livre</a:t>
            </a:r>
          </a:p>
        </p:txBody>
      </p:sp>
      <p:sp>
        <p:nvSpPr>
          <p:cNvPr id="6" name="">
            <a:extLst xmlns:a="http://schemas.openxmlformats.org/drawingml/2006/main">
              <a:ext uri="{FF2B5EF4-FFF2-40B4-BE49-F238E27FC236}">
                <a16:creationId xmlns:a16="http://schemas.microsoft.com/office/drawing/2014/main" id="{C912DF35-A060-4E31-AACF-4B657055A885}"/>
              </a:ext>
            </a:extLst>
          </p:cNvPr>
          <p:cNvSpPr>
            <a:spLocks xmlns:a="http://schemas.openxmlformats.org/drawingml/2006/main" noGrp="1"/>
          </p:cNvSpPr>
          <p:nvPr/>
        </p:nvSpPr>
        <p:spPr>
          <a:xfrm xmlns:a="http://schemas.openxmlformats.org/drawingml/2006/main">
            <a:off x="666750" y="5619750"/>
            <a:ext cx="43688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D6CFD4"/>
                </a:solidFill>
                <a:latin typeface="Arial"/>
                <a:ea typeface="Arial"/>
                <a:cs typeface="Arial"/>
              </a:defRPr>
            </a:pPr>
            <a:r>
              <a:rPr sz="1725" b="0">
                <a:solidFill>
                  <a:srgbClr val="D6CFD4"/>
                </a:solidFill>
                <a:latin typeface="Arial"/>
                <a:ea typeface="Arial"/>
                <a:cs typeface="Arial"/>
              </a:rPr>
              <a:t>Digite sem tentar deixar o texto perfeito.</a:t>
            </a:r>
          </a:p>
        </p:txBody>
      </p:sp>
      <p:sp>
        <p:nvSpPr>
          <p:cNvPr id="7" name="">
            <a:extLst xmlns:a="http://schemas.openxmlformats.org/drawingml/2006/main">
              <a:ext uri="{FF2B5EF4-FFF2-40B4-BE49-F238E27FC236}">
                <a16:creationId xmlns:a16="http://schemas.microsoft.com/office/drawing/2014/main" id="{600EAA69-5816-4728-848A-8A124A0A0905}"/>
              </a:ext>
            </a:extLst>
          </p:cNvPr>
          <p:cNvSpPr>
            <a:spLocks xmlns:a="http://schemas.openxmlformats.org/drawingml/2006/main" noGrp="1"/>
          </p:cNvSpPr>
          <p:nvPr/>
        </p:nvSpPr>
        <p:spPr>
          <a:xfrm xmlns:a="http://schemas.openxmlformats.org/drawingml/2006/main">
            <a:off x="5435600" y="4143375"/>
            <a:ext cx="4368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BFCEB8"/>
                </a:solidFill>
                <a:latin typeface="Arial"/>
                <a:ea typeface="Arial"/>
                <a:cs typeface="Arial"/>
              </a:defRPr>
            </a:pPr>
            <a:r>
              <a:rPr sz="1650" b="0">
                <a:solidFill>
                  <a:srgbClr val="BFCEB8"/>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8B852C49-97D7-40EB-85CE-7AB4D98FCD03}"/>
              </a:ext>
            </a:extLst>
          </p:cNvPr>
          <p:cNvSpPr>
            <a:spLocks xmlns:a="http://schemas.openxmlformats.org/drawingml/2006/main" noGrp="1"/>
          </p:cNvSpPr>
          <p:nvPr/>
        </p:nvSpPr>
        <p:spPr>
          <a:xfrm xmlns:a="http://schemas.openxmlformats.org/drawingml/2006/main">
            <a:off x="5435600" y="4667250"/>
            <a:ext cx="4368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F6F3F5"/>
                </a:solidFill>
                <a:latin typeface="Arial"/>
                <a:ea typeface="Arial"/>
                <a:cs typeface="Arial"/>
              </a:defRPr>
            </a:pPr>
            <a:r>
              <a:rPr sz="1950" b="1">
                <a:solidFill>
                  <a:srgbClr val="F6F3F5"/>
                </a:solidFill>
                <a:latin typeface="Arial"/>
                <a:ea typeface="Arial"/>
                <a:cs typeface="Arial"/>
              </a:rPr>
              <a:t>Ditado</a:t>
            </a:r>
          </a:p>
        </p:txBody>
      </p:sp>
      <p:sp>
        <p:nvSpPr>
          <p:cNvPr id="9" name="">
            <a:extLst xmlns:a="http://schemas.openxmlformats.org/drawingml/2006/main">
              <a:ext uri="{FF2B5EF4-FFF2-40B4-BE49-F238E27FC236}">
                <a16:creationId xmlns:a16="http://schemas.microsoft.com/office/drawing/2014/main" id="{F1C71426-623B-4E55-9A5C-029F60315250}"/>
              </a:ext>
            </a:extLst>
          </p:cNvPr>
          <p:cNvSpPr>
            <a:spLocks xmlns:a="http://schemas.openxmlformats.org/drawingml/2006/main" noGrp="1"/>
          </p:cNvSpPr>
          <p:nvPr/>
        </p:nvSpPr>
        <p:spPr>
          <a:xfrm xmlns:a="http://schemas.openxmlformats.org/drawingml/2006/main">
            <a:off x="5435600" y="5619750"/>
            <a:ext cx="43688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D6CFD4"/>
                </a:solidFill>
                <a:latin typeface="Arial"/>
                <a:ea typeface="Arial"/>
                <a:cs typeface="Arial"/>
              </a:defRPr>
            </a:pPr>
            <a:r>
              <a:rPr sz="1725" b="0">
                <a:solidFill>
                  <a:srgbClr val="D6CFD4"/>
                </a:solidFill>
                <a:latin typeface="Arial"/>
                <a:ea typeface="Arial"/>
                <a:cs typeface="Arial"/>
              </a:rPr>
              <a:t>Fale no recurso do dispositivo e revise a transcrição.</a:t>
            </a:r>
          </a:p>
        </p:txBody>
      </p:sp>
      <p:sp>
        <p:nvSpPr>
          <p:cNvPr id="10" name="">
            <a:extLst xmlns:a="http://schemas.openxmlformats.org/drawingml/2006/main">
              <a:ext uri="{FF2B5EF4-FFF2-40B4-BE49-F238E27FC236}">
                <a16:creationId xmlns:a16="http://schemas.microsoft.com/office/drawing/2014/main" id="{E1D21AB8-62D6-45E5-9E03-B326A287A79A}"/>
              </a:ext>
            </a:extLst>
          </p:cNvPr>
          <p:cNvSpPr>
            <a:spLocks xmlns:a="http://schemas.openxmlformats.org/drawingml/2006/main" noGrp="1"/>
          </p:cNvSpPr>
          <p:nvPr/>
        </p:nvSpPr>
        <p:spPr>
          <a:xfrm xmlns:a="http://schemas.openxmlformats.org/drawingml/2006/main">
            <a:off x="10204450" y="4143375"/>
            <a:ext cx="4368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BFCEB8"/>
                </a:solidFill>
                <a:latin typeface="Arial"/>
                <a:ea typeface="Arial"/>
                <a:cs typeface="Arial"/>
              </a:defRPr>
            </a:pPr>
            <a:r>
              <a:rPr sz="1650" b="0">
                <a:solidFill>
                  <a:srgbClr val="BFCEB8"/>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2C85C9F1-8009-4ED1-BAAE-A052E7320119}"/>
              </a:ext>
            </a:extLst>
          </p:cNvPr>
          <p:cNvSpPr>
            <a:spLocks xmlns:a="http://schemas.openxmlformats.org/drawingml/2006/main" noGrp="1"/>
          </p:cNvSpPr>
          <p:nvPr/>
        </p:nvSpPr>
        <p:spPr>
          <a:xfrm xmlns:a="http://schemas.openxmlformats.org/drawingml/2006/main">
            <a:off x="10204450" y="4667250"/>
            <a:ext cx="4368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F6F3F5"/>
                </a:solidFill>
                <a:latin typeface="Arial"/>
                <a:ea typeface="Arial"/>
                <a:cs typeface="Arial"/>
              </a:defRPr>
            </a:pPr>
            <a:r>
              <a:rPr sz="1950" b="1">
                <a:solidFill>
                  <a:srgbClr val="F6F3F5"/>
                </a:solidFill>
                <a:latin typeface="Arial"/>
                <a:ea typeface="Arial"/>
                <a:cs typeface="Arial"/>
              </a:rPr>
              <a:t>Voz em outra ferramenta</a:t>
            </a:r>
          </a:p>
        </p:txBody>
      </p:sp>
      <p:sp>
        <p:nvSpPr>
          <p:cNvPr id="12" name="">
            <a:extLst xmlns:a="http://schemas.openxmlformats.org/drawingml/2006/main">
              <a:ext uri="{FF2B5EF4-FFF2-40B4-BE49-F238E27FC236}">
                <a16:creationId xmlns:a16="http://schemas.microsoft.com/office/drawing/2014/main" id="{320FE035-47F3-4384-A071-449DA6426E6F}"/>
              </a:ext>
            </a:extLst>
          </p:cNvPr>
          <p:cNvSpPr>
            <a:spLocks xmlns:a="http://schemas.openxmlformats.org/drawingml/2006/main" noGrp="1"/>
          </p:cNvSpPr>
          <p:nvPr/>
        </p:nvSpPr>
        <p:spPr>
          <a:xfrm xmlns:a="http://schemas.openxmlformats.org/drawingml/2006/main">
            <a:off x="10204450" y="5619750"/>
            <a:ext cx="43688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D6CFD4"/>
                </a:solidFill>
                <a:latin typeface="Arial"/>
                <a:ea typeface="Arial"/>
                <a:cs typeface="Arial"/>
              </a:defRPr>
            </a:pPr>
            <a:r>
              <a:rPr sz="1725" b="0">
                <a:solidFill>
                  <a:srgbClr val="D6CFD4"/>
                </a:solidFill>
                <a:latin typeface="Arial"/>
                <a:ea typeface="Arial"/>
                <a:cs typeface="Arial"/>
              </a:rPr>
              <a:t>Se já tiver acesso, pratique lá e registre aqui o que aprendeu.</a:t>
            </a:r>
          </a:p>
        </p:txBody>
      </p:sp>
      <p:sp>
        <p:nvSpPr>
          <p:cNvPr id="13" name="">
            <a:extLst xmlns:a="http://schemas.openxmlformats.org/drawingml/2006/main">
              <a:ext uri="{FF2B5EF4-FFF2-40B4-BE49-F238E27FC236}">
                <a16:creationId xmlns:a16="http://schemas.microsoft.com/office/drawing/2014/main" id="{137C326D-4B3F-4E29-BAEB-E4682DBB0109}"/>
              </a:ext>
            </a:extLst>
          </p:cNvPr>
          <p:cNvSpPr>
            <a:spLocks xmlns:a="http://schemas.openxmlformats.org/drawingml/2006/main" noGrp="1"/>
          </p:cNvSpPr>
          <p:nvPr/>
        </p:nvSpPr>
        <p:spPr>
          <a:xfrm xmlns:a="http://schemas.openxmlformats.org/drawingml/2006/main">
            <a:off x="666750" y="7239000"/>
            <a:ext cx="1381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BFCEB8"/>
                </a:solidFill>
                <a:latin typeface="Arial"/>
                <a:ea typeface="Arial"/>
                <a:cs typeface="Arial"/>
              </a:defRPr>
            </a:pPr>
            <a:r>
              <a:rPr sz="1950" b="0">
                <a:solidFill>
                  <a:srgbClr val="BFCEB8"/>
                </a:solidFill>
                <a:latin typeface="Arial"/>
                <a:ea typeface="Arial"/>
                <a:cs typeface="Arial"/>
              </a:rPr>
              <a:t>A melhor forma de começar é a que permite expressar sua ideia com conforto e controle.</a:t>
            </a:r>
          </a:p>
        </p:txBody>
      </p:sp>
      <p:sp>
        <p:nvSpPr>
          <p:cNvPr id="14" name="">
            <a:extLst xmlns:a="http://schemas.openxmlformats.org/drawingml/2006/main">
              <a:ext uri="{FF2B5EF4-FFF2-40B4-BE49-F238E27FC236}">
                <a16:creationId xmlns:a16="http://schemas.microsoft.com/office/drawing/2014/main" id="{E9D0C1E9-2327-4AB0-818A-A5765F4E4C1B}"/>
              </a:ext>
            </a:extLst>
          </p:cNvPr>
          <p:cNvSpPr>
            <a:spLocks xmlns:a="http://schemas.openxmlformats.org/drawingml/2006/main" noGrp="1"/>
          </p:cNvSpPr>
          <p:nvPr/>
        </p:nvSpPr>
        <p:spPr>
          <a:xfrm xmlns:a="http://schemas.openxmlformats.org/drawingml/2006/main">
            <a:off x="666750" y="8115300"/>
            <a:ext cx="1381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B0ABB0"/>
                </a:solidFill>
                <a:latin typeface="Arial"/>
                <a:ea typeface="Arial"/>
                <a:cs typeface="Arial"/>
              </a:defRPr>
            </a:pPr>
            <a:r>
              <a:rPr sz="1275" b="0">
                <a:solidFill>
                  <a:srgbClr val="B0ABB0"/>
                </a:solidFill>
                <a:latin typeface="Arial"/>
                <a:ea typeface="Arial"/>
                <a:cs typeface="Arial"/>
              </a:rPr>
              <a:t>Emada Academy · Fundamentos · Aula 5 · 2/5</a:t>
            </a:r>
          </a:p>
        </p:txBody>
      </p:sp>
    </p:spTree>
    <p:extLst>
      <p:ext uri="{BB962C8B-B14F-4D97-AF65-F5344CB8AC3E}">
        <p14:creationId xmlns:p14="http://schemas.microsoft.com/office/powerpoint/2010/main" val="1753264808"/>
      </p:ext>
    </p:extLst>
  </p:cSld>
</p:sld>
</file>

<file path=ppt/slides/slide3.xml><?xml version="1.0" encoding="utf-8"?>
<p:sld xmlns:p="http://schemas.openxmlformats.org/presentationml/2006/main">
  <p:cSld>
    <p:bg>
      <p:bgPr>
        <a:solidFill xmlns:a="http://schemas.openxmlformats.org/drawingml/2006/main">
          <a:srgbClr val="101010"/>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627061E8-FAD4-4CC2-947D-4E4E3AE6B2D0}"/>
              </a:ext>
            </a:extLst>
          </p:cNvPr>
          <p:cNvSpPr>
            <a:spLocks xmlns:a="http://schemas.openxmlformats.org/drawingml/2006/main" noGrp="1"/>
          </p:cNvSpPr>
          <p:nvPr/>
        </p:nvSpPr>
        <p:spPr>
          <a:xfrm xmlns:a="http://schemas.openxmlformats.org/drawingml/2006/main">
            <a:off x="666750" y="523875"/>
            <a:ext cx="13811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0">
                <a:solidFill>
                  <a:srgbClr val="F6F3F5"/>
                </a:solidFill>
                <a:latin typeface="Arial"/>
                <a:ea typeface="Arial"/>
                <a:cs typeface="Arial"/>
              </a:defRPr>
            </a:pPr>
            <a:r>
              <a:rPr sz="3450" b="0">
                <a:solidFill>
                  <a:srgbClr val="F6F3F5"/>
                </a:solidFill>
                <a:latin typeface="Arial"/>
                <a:ea typeface="Arial"/>
                <a:cs typeface="Arial"/>
              </a:rPr>
              <a:t>Espaço para pensar antes da resposta</a:t>
            </a:r>
          </a:p>
        </p:txBody>
      </p:sp>
      <p:sp>
        <p:nvSpPr>
          <p:cNvPr id="2" name="">
            <a:extLst xmlns:a="http://schemas.openxmlformats.org/drawingml/2006/main">
              <a:ext uri="{FF2B5EF4-FFF2-40B4-BE49-F238E27FC236}">
                <a16:creationId xmlns:a16="http://schemas.microsoft.com/office/drawing/2014/main" id="{F79BF36E-03A7-4CA3-8D08-F009195063B0}"/>
              </a:ext>
            </a:extLst>
          </p:cNvPr>
          <p:cNvSpPr>
            <a:spLocks xmlns:a="http://schemas.openxmlformats.org/drawingml/2006/main" noGrp="1"/>
          </p:cNvSpPr>
          <p:nvPr/>
        </p:nvSpPr>
        <p:spPr>
          <a:xfrm xmlns:a="http://schemas.openxmlformats.org/drawingml/2006/main">
            <a:off x="666750" y="1762125"/>
            <a:ext cx="13620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D6CFD4"/>
                </a:solidFill>
                <a:latin typeface="Arial"/>
                <a:ea typeface="Arial"/>
                <a:cs typeface="Arial"/>
              </a:defRPr>
            </a:pPr>
            <a:r>
              <a:rPr sz="2025" b="0">
                <a:solidFill>
                  <a:srgbClr val="D6CFD4"/>
                </a:solidFill>
                <a:latin typeface="Arial"/>
                <a:ea typeface="Arial"/>
                <a:cs typeface="Arial"/>
              </a:rPr>
              <a:t>Reserve dois ou três minutos para contar uma ideia de baixo risco, sem tentar resolver tudo no mesmo texto. Depois, peça ao chat uma tarefa limitada: resumir, separar dúvidas e fazer uma pergunta que ajude a esclarecer o próximo ponto.</a:t>
            </a:r>
          </a:p>
        </p:txBody>
      </p:sp>
      <p:sp>
        <p:nvSpPr>
          <p:cNvPr id="3" name="">
            <a:extLst xmlns:a="http://schemas.openxmlformats.org/drawingml/2006/main">
              <a:ext uri="{FF2B5EF4-FFF2-40B4-BE49-F238E27FC236}">
                <a16:creationId xmlns:a16="http://schemas.microsoft.com/office/drawing/2014/main" id="{9038AA5B-D248-4136-A881-E61596EEB678}"/>
              </a:ext>
            </a:extLst>
          </p:cNvPr>
          <p:cNvSpPr>
            <a:spLocks xmlns:a="http://schemas.openxmlformats.org/drawingml/2006/main" noGrp="1"/>
          </p:cNvSpPr>
          <p:nvPr/>
        </p:nvSpPr>
        <p:spPr>
          <a:xfrm xmlns:a="http://schemas.openxmlformats.org/drawingml/2006/main">
            <a:off x="666750" y="3238500"/>
            <a:ext cx="13811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E7B5D4"/>
                </a:solidFill>
                <a:latin typeface="Arial"/>
                <a:ea typeface="Arial"/>
                <a:cs typeface="Arial"/>
              </a:defRPr>
            </a:pPr>
            <a:r>
              <a:rPr sz="2175" b="0">
                <a:solidFill>
                  <a:srgbClr val="E7B5D4"/>
                </a:solidFill>
                <a:latin typeface="Arial"/>
                <a:ea typeface="Arial"/>
                <a:cs typeface="Arial"/>
              </a:rPr>
              <a:t>Um envio, com espaço para pensar</a:t>
            </a:r>
          </a:p>
        </p:txBody>
      </p:sp>
      <p:sp>
        <p:nvSpPr>
          <p:cNvPr id="4" name="">
            <a:extLst xmlns:a="http://schemas.openxmlformats.org/drawingml/2006/main">
              <a:ext uri="{FF2B5EF4-FFF2-40B4-BE49-F238E27FC236}">
                <a16:creationId xmlns:a16="http://schemas.microsoft.com/office/drawing/2014/main" id="{3D142D24-12EF-42DB-BCC0-5D43F9853AF7}"/>
              </a:ext>
            </a:extLst>
          </p:cNvPr>
          <p:cNvSpPr>
            <a:spLocks xmlns:a="http://schemas.openxmlformats.org/drawingml/2006/main" noGrp="1"/>
          </p:cNvSpPr>
          <p:nvPr/>
        </p:nvSpPr>
        <p:spPr>
          <a:xfrm xmlns:a="http://schemas.openxmlformats.org/drawingml/2006/main">
            <a:off x="666750" y="4143375"/>
            <a:ext cx="4368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E7B5D4"/>
                </a:solidFill>
                <a:latin typeface="Arial"/>
                <a:ea typeface="Arial"/>
                <a:cs typeface="Arial"/>
              </a:defRPr>
            </a:pPr>
            <a:r>
              <a:rPr sz="1650" b="0">
                <a:solidFill>
                  <a:srgbClr val="E7B5D4"/>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AD65DDB7-C235-4097-9595-DB760F8640BB}"/>
              </a:ext>
            </a:extLst>
          </p:cNvPr>
          <p:cNvSpPr>
            <a:spLocks xmlns:a="http://schemas.openxmlformats.org/drawingml/2006/main" noGrp="1"/>
          </p:cNvSpPr>
          <p:nvPr/>
        </p:nvSpPr>
        <p:spPr>
          <a:xfrm xmlns:a="http://schemas.openxmlformats.org/drawingml/2006/main">
            <a:off x="666750" y="4667250"/>
            <a:ext cx="4368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F6F3F5"/>
                </a:solidFill>
                <a:latin typeface="Arial"/>
                <a:ea typeface="Arial"/>
                <a:cs typeface="Arial"/>
              </a:defRPr>
            </a:pPr>
            <a:r>
              <a:rPr sz="1950" b="1">
                <a:solidFill>
                  <a:srgbClr val="F6F3F5"/>
                </a:solidFill>
                <a:latin typeface="Arial"/>
                <a:ea typeface="Arial"/>
                <a:cs typeface="Arial"/>
              </a:rPr>
              <a:t>Rascunhe</a:t>
            </a:r>
          </a:p>
        </p:txBody>
      </p:sp>
      <p:sp>
        <p:nvSpPr>
          <p:cNvPr id="6" name="">
            <a:extLst xmlns:a="http://schemas.openxmlformats.org/drawingml/2006/main">
              <a:ext uri="{FF2B5EF4-FFF2-40B4-BE49-F238E27FC236}">
                <a16:creationId xmlns:a16="http://schemas.microsoft.com/office/drawing/2014/main" id="{473E90E5-DFD0-42E7-8990-5F2D0EDE62F6}"/>
              </a:ext>
            </a:extLst>
          </p:cNvPr>
          <p:cNvSpPr>
            <a:spLocks xmlns:a="http://schemas.openxmlformats.org/drawingml/2006/main" noGrp="1"/>
          </p:cNvSpPr>
          <p:nvPr/>
        </p:nvSpPr>
        <p:spPr>
          <a:xfrm xmlns:a="http://schemas.openxmlformats.org/drawingml/2006/main">
            <a:off x="666750" y="5619750"/>
            <a:ext cx="43688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D6CFD4"/>
                </a:solidFill>
                <a:latin typeface="Arial"/>
                <a:ea typeface="Arial"/>
                <a:cs typeface="Arial"/>
              </a:defRPr>
            </a:pPr>
            <a:r>
              <a:rPr sz="1725" b="0">
                <a:solidFill>
                  <a:srgbClr val="D6CFD4"/>
                </a:solidFill>
                <a:latin typeface="Arial"/>
                <a:ea typeface="Arial"/>
                <a:cs typeface="Arial"/>
              </a:rPr>
              <a:t>Conte a ideia e as dúvidas sem interrupções.</a:t>
            </a:r>
          </a:p>
        </p:txBody>
      </p:sp>
      <p:sp>
        <p:nvSpPr>
          <p:cNvPr id="7" name="">
            <a:extLst xmlns:a="http://schemas.openxmlformats.org/drawingml/2006/main">
              <a:ext uri="{FF2B5EF4-FFF2-40B4-BE49-F238E27FC236}">
                <a16:creationId xmlns:a16="http://schemas.microsoft.com/office/drawing/2014/main" id="{82B52E9C-2B30-4965-BA2E-DEE284550D13}"/>
              </a:ext>
            </a:extLst>
          </p:cNvPr>
          <p:cNvSpPr>
            <a:spLocks xmlns:a="http://schemas.openxmlformats.org/drawingml/2006/main" noGrp="1"/>
          </p:cNvSpPr>
          <p:nvPr/>
        </p:nvSpPr>
        <p:spPr>
          <a:xfrm xmlns:a="http://schemas.openxmlformats.org/drawingml/2006/main">
            <a:off x="5111750" y="4191000"/>
            <a:ext cx="228600" cy="133350"/>
          </a:xfrm>
          <a:prstGeom xmlns:a="http://schemas.openxmlformats.org/drawingml/2006/main" prst="rightArrow">
            <a:avLst/>
          </a:prstGeom>
          <a:solidFill xmlns:a="http://schemas.openxmlformats.org/drawingml/2006/main">
            <a:srgbClr val="E7B5D4"/>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5FEB3B5-0F7F-45E7-B8CC-12871893BEBE}"/>
              </a:ext>
            </a:extLst>
          </p:cNvPr>
          <p:cNvSpPr>
            <a:spLocks xmlns:a="http://schemas.openxmlformats.org/drawingml/2006/main" noGrp="1"/>
          </p:cNvSpPr>
          <p:nvPr/>
        </p:nvSpPr>
        <p:spPr>
          <a:xfrm xmlns:a="http://schemas.openxmlformats.org/drawingml/2006/main">
            <a:off x="5435600" y="4143375"/>
            <a:ext cx="4368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E7B5D4"/>
                </a:solidFill>
                <a:latin typeface="Arial"/>
                <a:ea typeface="Arial"/>
                <a:cs typeface="Arial"/>
              </a:defRPr>
            </a:pPr>
            <a:r>
              <a:rPr sz="1650" b="0">
                <a:solidFill>
                  <a:srgbClr val="E7B5D4"/>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FF24B7CC-D8BD-4176-BBE1-7A65F2BCD861}"/>
              </a:ext>
            </a:extLst>
          </p:cNvPr>
          <p:cNvSpPr>
            <a:spLocks xmlns:a="http://schemas.openxmlformats.org/drawingml/2006/main" noGrp="1"/>
          </p:cNvSpPr>
          <p:nvPr/>
        </p:nvSpPr>
        <p:spPr>
          <a:xfrm xmlns:a="http://schemas.openxmlformats.org/drawingml/2006/main">
            <a:off x="5435600" y="4667250"/>
            <a:ext cx="4368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F6F3F5"/>
                </a:solidFill>
                <a:latin typeface="Arial"/>
                <a:ea typeface="Arial"/>
                <a:cs typeface="Arial"/>
              </a:defRPr>
            </a:pPr>
            <a:r>
              <a:rPr sz="1950" b="1">
                <a:solidFill>
                  <a:srgbClr val="F6F3F5"/>
                </a:solidFill>
                <a:latin typeface="Arial"/>
                <a:ea typeface="Arial"/>
                <a:cs typeface="Arial"/>
              </a:rPr>
              <a:t>Revise</a:t>
            </a:r>
          </a:p>
        </p:txBody>
      </p:sp>
      <p:sp>
        <p:nvSpPr>
          <p:cNvPr id="10" name="">
            <a:extLst xmlns:a="http://schemas.openxmlformats.org/drawingml/2006/main">
              <a:ext uri="{FF2B5EF4-FFF2-40B4-BE49-F238E27FC236}">
                <a16:creationId xmlns:a16="http://schemas.microsoft.com/office/drawing/2014/main" id="{4EB6154F-F414-4990-93E8-21E166EF19EA}"/>
              </a:ext>
            </a:extLst>
          </p:cNvPr>
          <p:cNvSpPr>
            <a:spLocks xmlns:a="http://schemas.openxmlformats.org/drawingml/2006/main" noGrp="1"/>
          </p:cNvSpPr>
          <p:nvPr/>
        </p:nvSpPr>
        <p:spPr>
          <a:xfrm xmlns:a="http://schemas.openxmlformats.org/drawingml/2006/main">
            <a:off x="5435600" y="5619750"/>
            <a:ext cx="43688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D6CFD4"/>
                </a:solidFill>
                <a:latin typeface="Arial"/>
                <a:ea typeface="Arial"/>
                <a:cs typeface="Arial"/>
              </a:defRPr>
            </a:pPr>
            <a:r>
              <a:rPr sz="1725" b="0">
                <a:solidFill>
                  <a:srgbClr val="D6CFD4"/>
                </a:solidFill>
                <a:latin typeface="Arial"/>
                <a:ea typeface="Arial"/>
                <a:cs typeface="Arial"/>
              </a:rPr>
              <a:t>Retire dados pessoais e corrija a transcrição.</a:t>
            </a:r>
          </a:p>
        </p:txBody>
      </p:sp>
      <p:sp>
        <p:nvSpPr>
          <p:cNvPr id="11" name="">
            <a:extLst xmlns:a="http://schemas.openxmlformats.org/drawingml/2006/main">
              <a:ext uri="{FF2B5EF4-FFF2-40B4-BE49-F238E27FC236}">
                <a16:creationId xmlns:a16="http://schemas.microsoft.com/office/drawing/2014/main" id="{F9D7E484-56FE-4721-9916-F5DD5725DF17}"/>
              </a:ext>
            </a:extLst>
          </p:cNvPr>
          <p:cNvSpPr>
            <a:spLocks xmlns:a="http://schemas.openxmlformats.org/drawingml/2006/main" noGrp="1"/>
          </p:cNvSpPr>
          <p:nvPr/>
        </p:nvSpPr>
        <p:spPr>
          <a:xfrm xmlns:a="http://schemas.openxmlformats.org/drawingml/2006/main">
            <a:off x="9880600" y="4191000"/>
            <a:ext cx="228600" cy="133350"/>
          </a:xfrm>
          <a:prstGeom xmlns:a="http://schemas.openxmlformats.org/drawingml/2006/main" prst="rightArrow">
            <a:avLst/>
          </a:prstGeom>
          <a:solidFill xmlns:a="http://schemas.openxmlformats.org/drawingml/2006/main">
            <a:srgbClr val="E7B5D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E6F0052D-E8FD-4B25-ABAF-9E188AE7E2A1}"/>
              </a:ext>
            </a:extLst>
          </p:cNvPr>
          <p:cNvSpPr>
            <a:spLocks xmlns:a="http://schemas.openxmlformats.org/drawingml/2006/main" noGrp="1"/>
          </p:cNvSpPr>
          <p:nvPr/>
        </p:nvSpPr>
        <p:spPr>
          <a:xfrm xmlns:a="http://schemas.openxmlformats.org/drawingml/2006/main">
            <a:off x="10204450" y="4143375"/>
            <a:ext cx="4368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E7B5D4"/>
                </a:solidFill>
                <a:latin typeface="Arial"/>
                <a:ea typeface="Arial"/>
                <a:cs typeface="Arial"/>
              </a:defRPr>
            </a:pPr>
            <a:r>
              <a:rPr sz="1650" b="0">
                <a:solidFill>
                  <a:srgbClr val="E7B5D4"/>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296D1A34-C41B-495F-B848-E0D32AAF8A1E}"/>
              </a:ext>
            </a:extLst>
          </p:cNvPr>
          <p:cNvSpPr>
            <a:spLocks xmlns:a="http://schemas.openxmlformats.org/drawingml/2006/main" noGrp="1"/>
          </p:cNvSpPr>
          <p:nvPr/>
        </p:nvSpPr>
        <p:spPr>
          <a:xfrm xmlns:a="http://schemas.openxmlformats.org/drawingml/2006/main">
            <a:off x="10204450" y="4667250"/>
            <a:ext cx="4368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F6F3F5"/>
                </a:solidFill>
                <a:latin typeface="Arial"/>
                <a:ea typeface="Arial"/>
                <a:cs typeface="Arial"/>
              </a:defRPr>
            </a:pPr>
            <a:r>
              <a:rPr sz="1950" b="1">
                <a:solidFill>
                  <a:srgbClr val="F6F3F5"/>
                </a:solidFill>
                <a:latin typeface="Arial"/>
                <a:ea typeface="Arial"/>
                <a:cs typeface="Arial"/>
              </a:rPr>
              <a:t>Envie</a:t>
            </a:r>
          </a:p>
        </p:txBody>
      </p:sp>
      <p:sp>
        <p:nvSpPr>
          <p:cNvPr id="14" name="">
            <a:extLst xmlns:a="http://schemas.openxmlformats.org/drawingml/2006/main">
              <a:ext uri="{FF2B5EF4-FFF2-40B4-BE49-F238E27FC236}">
                <a16:creationId xmlns:a16="http://schemas.microsoft.com/office/drawing/2014/main" id="{329D2866-60B3-4153-9262-47374CFDF03D}"/>
              </a:ext>
            </a:extLst>
          </p:cNvPr>
          <p:cNvSpPr>
            <a:spLocks xmlns:a="http://schemas.openxmlformats.org/drawingml/2006/main" noGrp="1"/>
          </p:cNvSpPr>
          <p:nvPr/>
        </p:nvSpPr>
        <p:spPr>
          <a:xfrm xmlns:a="http://schemas.openxmlformats.org/drawingml/2006/main">
            <a:off x="10204450" y="5619750"/>
            <a:ext cx="43688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D6CFD4"/>
                </a:solidFill>
                <a:latin typeface="Arial"/>
                <a:ea typeface="Arial"/>
                <a:cs typeface="Arial"/>
              </a:defRPr>
            </a:pPr>
            <a:r>
              <a:rPr sz="1725" b="0">
                <a:solidFill>
                  <a:srgbClr val="D6CFD4"/>
                </a:solidFill>
                <a:latin typeface="Arial"/>
                <a:ea typeface="Arial"/>
                <a:cs typeface="Arial"/>
              </a:rPr>
              <a:t>Peça resumo fiel, dúvidas e uma pergunta.</a:t>
            </a:r>
          </a:p>
        </p:txBody>
      </p:sp>
      <p:sp>
        <p:nvSpPr>
          <p:cNvPr id="15" name="">
            <a:extLst xmlns:a="http://schemas.openxmlformats.org/drawingml/2006/main">
              <a:ext uri="{FF2B5EF4-FFF2-40B4-BE49-F238E27FC236}">
                <a16:creationId xmlns:a16="http://schemas.microsoft.com/office/drawing/2014/main" id="{68DCEC09-5043-401D-A51C-7D8CE01421DE}"/>
              </a:ext>
            </a:extLst>
          </p:cNvPr>
          <p:cNvSpPr>
            <a:spLocks xmlns:a="http://schemas.openxmlformats.org/drawingml/2006/main" noGrp="1"/>
          </p:cNvSpPr>
          <p:nvPr/>
        </p:nvSpPr>
        <p:spPr>
          <a:xfrm xmlns:a="http://schemas.openxmlformats.org/drawingml/2006/main">
            <a:off x="666750" y="7239000"/>
            <a:ext cx="1381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BFCEB8"/>
                </a:solidFill>
                <a:latin typeface="Arial"/>
                <a:ea typeface="Arial"/>
                <a:cs typeface="Arial"/>
              </a:defRPr>
            </a:pPr>
            <a:r>
              <a:rPr sz="1950" b="0">
                <a:solidFill>
                  <a:srgbClr val="BFCEB8"/>
                </a:solidFill>
                <a:latin typeface="Arial"/>
                <a:ea typeface="Arial"/>
                <a:cs typeface="Arial"/>
              </a:rPr>
              <a:t>Dar espaço para pensar também é definir o momento de receber sugestões.</a:t>
            </a:r>
          </a:p>
        </p:txBody>
      </p:sp>
      <p:sp>
        <p:nvSpPr>
          <p:cNvPr id="16" name="">
            <a:extLst xmlns:a="http://schemas.openxmlformats.org/drawingml/2006/main">
              <a:ext uri="{FF2B5EF4-FFF2-40B4-BE49-F238E27FC236}">
                <a16:creationId xmlns:a16="http://schemas.microsoft.com/office/drawing/2014/main" id="{1D5D0481-D14F-40EB-9B2A-92512673CFEB}"/>
              </a:ext>
            </a:extLst>
          </p:cNvPr>
          <p:cNvSpPr>
            <a:spLocks xmlns:a="http://schemas.openxmlformats.org/drawingml/2006/main" noGrp="1"/>
          </p:cNvSpPr>
          <p:nvPr/>
        </p:nvSpPr>
        <p:spPr>
          <a:xfrm xmlns:a="http://schemas.openxmlformats.org/drawingml/2006/main">
            <a:off x="666750" y="8115300"/>
            <a:ext cx="1381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B0ABB0"/>
                </a:solidFill>
                <a:latin typeface="Arial"/>
                <a:ea typeface="Arial"/>
                <a:cs typeface="Arial"/>
              </a:defRPr>
            </a:pPr>
            <a:r>
              <a:rPr sz="1275" b="0">
                <a:solidFill>
                  <a:srgbClr val="B0ABB0"/>
                </a:solidFill>
                <a:latin typeface="Arial"/>
                <a:ea typeface="Arial"/>
                <a:cs typeface="Arial"/>
              </a:rPr>
              <a:t>Emada Academy · Fundamentos · Aula 5 · 3/5</a:t>
            </a:r>
          </a:p>
        </p:txBody>
      </p:sp>
    </p:spTree>
    <p:extLst>
      <p:ext uri="{BB962C8B-B14F-4D97-AF65-F5344CB8AC3E}">
        <p14:creationId xmlns:p14="http://schemas.microsoft.com/office/powerpoint/2010/main" val="141414369"/>
      </p:ext>
    </p:extLst>
  </p:cSld>
</p:sld>
</file>

<file path=ppt/slides/slide4.xml><?xml version="1.0" encoding="utf-8"?>
<p:sld xmlns:p="http://schemas.openxmlformats.org/presentationml/2006/main">
  <p:cSld>
    <p:bg>
      <p:bgPr>
        <a:solidFill xmlns:a="http://schemas.openxmlformats.org/drawingml/2006/main">
          <a:srgbClr val="101010"/>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54537447-EFB0-4D05-8254-9B2C04544FA6}"/>
              </a:ext>
            </a:extLst>
          </p:cNvPr>
          <p:cNvSpPr>
            <a:spLocks xmlns:a="http://schemas.openxmlformats.org/drawingml/2006/main" noGrp="1"/>
          </p:cNvSpPr>
          <p:nvPr/>
        </p:nvSpPr>
        <p:spPr>
          <a:xfrm xmlns:a="http://schemas.openxmlformats.org/drawingml/2006/main">
            <a:off x="666750" y="523875"/>
            <a:ext cx="13811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0">
                <a:solidFill>
                  <a:srgbClr val="F6F3F5"/>
                </a:solidFill>
                <a:latin typeface="Arial"/>
                <a:ea typeface="Arial"/>
                <a:cs typeface="Arial"/>
              </a:defRPr>
            </a:pPr>
            <a:r>
              <a:rPr sz="3450" b="0">
                <a:solidFill>
                  <a:srgbClr val="F6F3F5"/>
                </a:solidFill>
                <a:latin typeface="Arial"/>
                <a:ea typeface="Arial"/>
                <a:cs typeface="Arial"/>
              </a:rPr>
              <a:t>Sua intenção e a interpretação da IA</a:t>
            </a:r>
          </a:p>
        </p:txBody>
      </p:sp>
      <p:sp>
        <p:nvSpPr>
          <p:cNvPr id="2" name="">
            <a:extLst xmlns:a="http://schemas.openxmlformats.org/drawingml/2006/main">
              <a:ext uri="{FF2B5EF4-FFF2-40B4-BE49-F238E27FC236}">
                <a16:creationId xmlns:a16="http://schemas.microsoft.com/office/drawing/2014/main" id="{3FFB9450-D8D7-4221-81B0-4E192C0CCDE7}"/>
              </a:ext>
            </a:extLst>
          </p:cNvPr>
          <p:cNvSpPr>
            <a:spLocks xmlns:a="http://schemas.openxmlformats.org/drawingml/2006/main" noGrp="1"/>
          </p:cNvSpPr>
          <p:nvPr/>
        </p:nvSpPr>
        <p:spPr>
          <a:xfrm xmlns:a="http://schemas.openxmlformats.org/drawingml/2006/main">
            <a:off x="666750" y="1762125"/>
            <a:ext cx="13620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D6CFD4"/>
                </a:solidFill>
                <a:latin typeface="Arial"/>
                <a:ea typeface="Arial"/>
                <a:cs typeface="Arial"/>
              </a:defRPr>
            </a:pPr>
            <a:r>
              <a:rPr sz="2025" b="0">
                <a:solidFill>
                  <a:srgbClr val="D6CFD4"/>
                </a:solidFill>
                <a:latin typeface="Arial"/>
                <a:ea typeface="Arial"/>
                <a:cs typeface="Arial"/>
              </a:rPr>
              <a:t>Um resumo é uma seleção e uma reformulação. Ele pode eliminar repetições úteis, exagerar uma certeza ou transformar uma possibilidade em compromisso. Leia procurando fidelidade à sua intenção, não apenas uma versão mais elegante da fala.</a:t>
            </a:r>
          </a:p>
        </p:txBody>
      </p:sp>
      <p:sp>
        <p:nvSpPr>
          <p:cNvPr id="3" name="">
            <a:extLst xmlns:a="http://schemas.openxmlformats.org/drawingml/2006/main">
              <a:ext uri="{FF2B5EF4-FFF2-40B4-BE49-F238E27FC236}">
                <a16:creationId xmlns:a16="http://schemas.microsoft.com/office/drawing/2014/main" id="{4B7E6C17-7709-4C21-9CDC-14D37EF497A6}"/>
              </a:ext>
            </a:extLst>
          </p:cNvPr>
          <p:cNvSpPr>
            <a:spLocks xmlns:a="http://schemas.openxmlformats.org/drawingml/2006/main" noGrp="1"/>
          </p:cNvSpPr>
          <p:nvPr/>
        </p:nvSpPr>
        <p:spPr>
          <a:xfrm xmlns:a="http://schemas.openxmlformats.org/drawingml/2006/main">
            <a:off x="666750" y="3238500"/>
            <a:ext cx="13811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E7B5D4"/>
                </a:solidFill>
                <a:latin typeface="Arial"/>
                <a:ea typeface="Arial"/>
                <a:cs typeface="Arial"/>
              </a:defRPr>
            </a:pPr>
            <a:r>
              <a:rPr sz="2175" b="0">
                <a:solidFill>
                  <a:srgbClr val="E7B5D4"/>
                </a:solidFill>
                <a:latin typeface="Arial"/>
                <a:ea typeface="Arial"/>
                <a:cs typeface="Arial"/>
              </a:rPr>
              <a:t>O detalhe que muda o sentido</a:t>
            </a:r>
          </a:p>
        </p:txBody>
      </p:sp>
      <p:sp>
        <p:nvSpPr>
          <p:cNvPr id="4" name="">
            <a:extLst xmlns:a="http://schemas.openxmlformats.org/drawingml/2006/main">
              <a:ext uri="{FF2B5EF4-FFF2-40B4-BE49-F238E27FC236}">
                <a16:creationId xmlns:a16="http://schemas.microsoft.com/office/drawing/2014/main" id="{85E3C5B6-02C1-4098-B74D-3CEA65B8444B}"/>
              </a:ext>
            </a:extLst>
          </p:cNvPr>
          <p:cNvSpPr>
            <a:spLocks xmlns:a="http://schemas.openxmlformats.org/drawingml/2006/main" noGrp="1"/>
          </p:cNvSpPr>
          <p:nvPr/>
        </p:nvSpPr>
        <p:spPr>
          <a:xfrm xmlns:a="http://schemas.openxmlformats.org/drawingml/2006/main">
            <a:off x="666750" y="4143375"/>
            <a:ext cx="4368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BFCEB8"/>
                </a:solidFill>
                <a:latin typeface="Arial"/>
                <a:ea typeface="Arial"/>
                <a:cs typeface="Arial"/>
              </a:defRPr>
            </a:pPr>
            <a:r>
              <a:rPr sz="1650" b="0">
                <a:solidFill>
                  <a:srgbClr val="BFCEB8"/>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5057C5DF-21F5-4C75-847D-00B3B73580D3}"/>
              </a:ext>
            </a:extLst>
          </p:cNvPr>
          <p:cNvSpPr>
            <a:spLocks xmlns:a="http://schemas.openxmlformats.org/drawingml/2006/main" noGrp="1"/>
          </p:cNvSpPr>
          <p:nvPr/>
        </p:nvSpPr>
        <p:spPr>
          <a:xfrm xmlns:a="http://schemas.openxmlformats.org/drawingml/2006/main">
            <a:off x="666750" y="4667250"/>
            <a:ext cx="4368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F6F3F5"/>
                </a:solidFill>
                <a:latin typeface="Arial"/>
                <a:ea typeface="Arial"/>
                <a:cs typeface="Arial"/>
              </a:defRPr>
            </a:pPr>
            <a:r>
              <a:rPr sz="1950" b="1">
                <a:solidFill>
                  <a:srgbClr val="F6F3F5"/>
                </a:solidFill>
                <a:latin typeface="Arial"/>
                <a:ea typeface="Arial"/>
                <a:cs typeface="Arial"/>
              </a:rPr>
              <a:t>O que foi dito</a:t>
            </a:r>
          </a:p>
        </p:txBody>
      </p:sp>
      <p:sp>
        <p:nvSpPr>
          <p:cNvPr id="6" name="">
            <a:extLst xmlns:a="http://schemas.openxmlformats.org/drawingml/2006/main">
              <a:ext uri="{FF2B5EF4-FFF2-40B4-BE49-F238E27FC236}">
                <a16:creationId xmlns:a16="http://schemas.microsoft.com/office/drawing/2014/main" id="{C8FAA009-5D58-41A1-A638-BDE81E46D784}"/>
              </a:ext>
            </a:extLst>
          </p:cNvPr>
          <p:cNvSpPr>
            <a:spLocks xmlns:a="http://schemas.openxmlformats.org/drawingml/2006/main" noGrp="1"/>
          </p:cNvSpPr>
          <p:nvPr/>
        </p:nvSpPr>
        <p:spPr>
          <a:xfrm xmlns:a="http://schemas.openxmlformats.org/drawingml/2006/main">
            <a:off x="666750" y="5619750"/>
            <a:ext cx="43688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D6CFD4"/>
                </a:solidFill>
                <a:latin typeface="Arial"/>
                <a:ea typeface="Arial"/>
                <a:cs typeface="Arial"/>
              </a:defRPr>
            </a:pPr>
            <a:r>
              <a:rPr sz="1725" b="0">
                <a:solidFill>
                  <a:srgbClr val="D6CFD4"/>
                </a:solidFill>
                <a:latin typeface="Arial"/>
                <a:ea typeface="Arial"/>
                <a:cs typeface="Arial"/>
              </a:rPr>
              <a:t>‘Talvez eu publique o piloto no sábado.’</a:t>
            </a:r>
          </a:p>
        </p:txBody>
      </p:sp>
      <p:sp>
        <p:nvSpPr>
          <p:cNvPr id="7" name="">
            <a:extLst xmlns:a="http://schemas.openxmlformats.org/drawingml/2006/main">
              <a:ext uri="{FF2B5EF4-FFF2-40B4-BE49-F238E27FC236}">
                <a16:creationId xmlns:a16="http://schemas.microsoft.com/office/drawing/2014/main" id="{6762D35B-3AD6-41CE-8951-B97C9A5C09CE}"/>
              </a:ext>
            </a:extLst>
          </p:cNvPr>
          <p:cNvSpPr>
            <a:spLocks xmlns:a="http://schemas.openxmlformats.org/drawingml/2006/main" noGrp="1"/>
          </p:cNvSpPr>
          <p:nvPr/>
        </p:nvSpPr>
        <p:spPr>
          <a:xfrm xmlns:a="http://schemas.openxmlformats.org/drawingml/2006/main">
            <a:off x="5435600" y="4143375"/>
            <a:ext cx="4368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BFCEB8"/>
                </a:solidFill>
                <a:latin typeface="Arial"/>
                <a:ea typeface="Arial"/>
                <a:cs typeface="Arial"/>
              </a:defRPr>
            </a:pPr>
            <a:r>
              <a:rPr sz="1650" b="0">
                <a:solidFill>
                  <a:srgbClr val="BFCEB8"/>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C0CDD257-C4AC-4AD1-BEDC-701BD98452C2}"/>
              </a:ext>
            </a:extLst>
          </p:cNvPr>
          <p:cNvSpPr>
            <a:spLocks xmlns:a="http://schemas.openxmlformats.org/drawingml/2006/main" noGrp="1"/>
          </p:cNvSpPr>
          <p:nvPr/>
        </p:nvSpPr>
        <p:spPr>
          <a:xfrm xmlns:a="http://schemas.openxmlformats.org/drawingml/2006/main">
            <a:off x="5435600" y="4667250"/>
            <a:ext cx="4368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F6F3F5"/>
                </a:solidFill>
                <a:latin typeface="Arial"/>
                <a:ea typeface="Arial"/>
                <a:cs typeface="Arial"/>
              </a:defRPr>
            </a:pPr>
            <a:r>
              <a:rPr sz="1950" b="1">
                <a:solidFill>
                  <a:srgbClr val="F6F3F5"/>
                </a:solidFill>
                <a:latin typeface="Arial"/>
                <a:ea typeface="Arial"/>
                <a:cs typeface="Arial"/>
              </a:rPr>
              <a:t>Resumo impreciso</a:t>
            </a:r>
          </a:p>
        </p:txBody>
      </p:sp>
      <p:sp>
        <p:nvSpPr>
          <p:cNvPr id="9" name="">
            <a:extLst xmlns:a="http://schemas.openxmlformats.org/drawingml/2006/main">
              <a:ext uri="{FF2B5EF4-FFF2-40B4-BE49-F238E27FC236}">
                <a16:creationId xmlns:a16="http://schemas.microsoft.com/office/drawing/2014/main" id="{9A3B74CF-BEE2-4A0D-889B-9775247C5FBB}"/>
              </a:ext>
            </a:extLst>
          </p:cNvPr>
          <p:cNvSpPr>
            <a:spLocks xmlns:a="http://schemas.openxmlformats.org/drawingml/2006/main" noGrp="1"/>
          </p:cNvSpPr>
          <p:nvPr/>
        </p:nvSpPr>
        <p:spPr>
          <a:xfrm xmlns:a="http://schemas.openxmlformats.org/drawingml/2006/main">
            <a:off x="5435600" y="5619750"/>
            <a:ext cx="43688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D6CFD4"/>
                </a:solidFill>
                <a:latin typeface="Arial"/>
                <a:ea typeface="Arial"/>
                <a:cs typeface="Arial"/>
              </a:defRPr>
            </a:pPr>
            <a:r>
              <a:rPr sz="1725" b="0">
                <a:solidFill>
                  <a:srgbClr val="D6CFD4"/>
                </a:solidFill>
                <a:latin typeface="Arial"/>
                <a:ea typeface="Arial"/>
                <a:cs typeface="Arial"/>
              </a:rPr>
              <a:t>‘O piloto será publicado no sábado.’</a:t>
            </a:r>
          </a:p>
        </p:txBody>
      </p:sp>
      <p:sp>
        <p:nvSpPr>
          <p:cNvPr id="10" name="">
            <a:extLst xmlns:a="http://schemas.openxmlformats.org/drawingml/2006/main">
              <a:ext uri="{FF2B5EF4-FFF2-40B4-BE49-F238E27FC236}">
                <a16:creationId xmlns:a16="http://schemas.microsoft.com/office/drawing/2014/main" id="{D42C9C8A-9F9E-4D00-8FE0-CBDB2B3B24B7}"/>
              </a:ext>
            </a:extLst>
          </p:cNvPr>
          <p:cNvSpPr>
            <a:spLocks xmlns:a="http://schemas.openxmlformats.org/drawingml/2006/main" noGrp="1"/>
          </p:cNvSpPr>
          <p:nvPr/>
        </p:nvSpPr>
        <p:spPr>
          <a:xfrm xmlns:a="http://schemas.openxmlformats.org/drawingml/2006/main">
            <a:off x="10204450" y="4143375"/>
            <a:ext cx="4368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BFCEB8"/>
                </a:solidFill>
                <a:latin typeface="Arial"/>
                <a:ea typeface="Arial"/>
                <a:cs typeface="Arial"/>
              </a:defRPr>
            </a:pPr>
            <a:r>
              <a:rPr sz="1650" b="0">
                <a:solidFill>
                  <a:srgbClr val="BFCEB8"/>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9B47C524-9731-449A-8501-C070AC5DE7FA}"/>
              </a:ext>
            </a:extLst>
          </p:cNvPr>
          <p:cNvSpPr>
            <a:spLocks xmlns:a="http://schemas.openxmlformats.org/drawingml/2006/main" noGrp="1"/>
          </p:cNvSpPr>
          <p:nvPr/>
        </p:nvSpPr>
        <p:spPr>
          <a:xfrm xmlns:a="http://schemas.openxmlformats.org/drawingml/2006/main">
            <a:off x="10204450" y="4667250"/>
            <a:ext cx="4368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F6F3F5"/>
                </a:solidFill>
                <a:latin typeface="Arial"/>
                <a:ea typeface="Arial"/>
                <a:cs typeface="Arial"/>
              </a:defRPr>
            </a:pPr>
            <a:r>
              <a:rPr sz="1950" b="1">
                <a:solidFill>
                  <a:srgbClr val="F6F3F5"/>
                </a:solidFill>
                <a:latin typeface="Arial"/>
                <a:ea typeface="Arial"/>
                <a:cs typeface="Arial"/>
              </a:rPr>
              <a:t>Resumo fiel</a:t>
            </a:r>
          </a:p>
        </p:txBody>
      </p:sp>
      <p:sp>
        <p:nvSpPr>
          <p:cNvPr id="12" name="">
            <a:extLst xmlns:a="http://schemas.openxmlformats.org/drawingml/2006/main">
              <a:ext uri="{FF2B5EF4-FFF2-40B4-BE49-F238E27FC236}">
                <a16:creationId xmlns:a16="http://schemas.microsoft.com/office/drawing/2014/main" id="{0BD11801-C5B8-43D0-829B-6CF7233BE280}"/>
              </a:ext>
            </a:extLst>
          </p:cNvPr>
          <p:cNvSpPr>
            <a:spLocks xmlns:a="http://schemas.openxmlformats.org/drawingml/2006/main" noGrp="1"/>
          </p:cNvSpPr>
          <p:nvPr/>
        </p:nvSpPr>
        <p:spPr>
          <a:xfrm xmlns:a="http://schemas.openxmlformats.org/drawingml/2006/main">
            <a:off x="10204450" y="5619750"/>
            <a:ext cx="43688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D6CFD4"/>
                </a:solidFill>
                <a:latin typeface="Arial"/>
                <a:ea typeface="Arial"/>
                <a:cs typeface="Arial"/>
              </a:defRPr>
            </a:pPr>
            <a:r>
              <a:rPr sz="1725" b="0">
                <a:solidFill>
                  <a:srgbClr val="D6CFD4"/>
                </a:solidFill>
                <a:latin typeface="Arial"/>
                <a:ea typeface="Arial"/>
                <a:cs typeface="Arial"/>
              </a:rPr>
              <a:t>‘Sábado é uma opção. A data não foi definida.’</a:t>
            </a:r>
          </a:p>
        </p:txBody>
      </p:sp>
      <p:sp>
        <p:nvSpPr>
          <p:cNvPr id="13" name="">
            <a:extLst xmlns:a="http://schemas.openxmlformats.org/drawingml/2006/main">
              <a:ext uri="{FF2B5EF4-FFF2-40B4-BE49-F238E27FC236}">
                <a16:creationId xmlns:a16="http://schemas.microsoft.com/office/drawing/2014/main" id="{72347C82-5314-461E-8534-B25732286142}"/>
              </a:ext>
            </a:extLst>
          </p:cNvPr>
          <p:cNvSpPr>
            <a:spLocks xmlns:a="http://schemas.openxmlformats.org/drawingml/2006/main" noGrp="1"/>
          </p:cNvSpPr>
          <p:nvPr/>
        </p:nvSpPr>
        <p:spPr>
          <a:xfrm xmlns:a="http://schemas.openxmlformats.org/drawingml/2006/main">
            <a:off x="666750" y="7239000"/>
            <a:ext cx="1381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BFCEB8"/>
                </a:solidFill>
                <a:latin typeface="Arial"/>
                <a:ea typeface="Arial"/>
                <a:cs typeface="Arial"/>
              </a:defRPr>
            </a:pPr>
            <a:r>
              <a:rPr sz="1950" b="0">
                <a:solidFill>
                  <a:srgbClr val="BFCEB8"/>
                </a:solidFill>
                <a:latin typeface="Arial"/>
                <a:ea typeface="Arial"/>
                <a:cs typeface="Arial"/>
              </a:rPr>
              <a:t>Clareza não é certeza artificial. É enxergar o que está definido e o que ainda está aberto.</a:t>
            </a:r>
          </a:p>
        </p:txBody>
      </p:sp>
      <p:sp>
        <p:nvSpPr>
          <p:cNvPr id="14" name="">
            <a:extLst xmlns:a="http://schemas.openxmlformats.org/drawingml/2006/main">
              <a:ext uri="{FF2B5EF4-FFF2-40B4-BE49-F238E27FC236}">
                <a16:creationId xmlns:a16="http://schemas.microsoft.com/office/drawing/2014/main" id="{679DD794-8599-4ADD-9D3A-CC5AE1EB0952}"/>
              </a:ext>
            </a:extLst>
          </p:cNvPr>
          <p:cNvSpPr>
            <a:spLocks xmlns:a="http://schemas.openxmlformats.org/drawingml/2006/main" noGrp="1"/>
          </p:cNvSpPr>
          <p:nvPr/>
        </p:nvSpPr>
        <p:spPr>
          <a:xfrm xmlns:a="http://schemas.openxmlformats.org/drawingml/2006/main">
            <a:off x="666750" y="8115300"/>
            <a:ext cx="1381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B0ABB0"/>
                </a:solidFill>
                <a:latin typeface="Arial"/>
                <a:ea typeface="Arial"/>
                <a:cs typeface="Arial"/>
              </a:defRPr>
            </a:pPr>
            <a:r>
              <a:rPr sz="1275" b="0">
                <a:solidFill>
                  <a:srgbClr val="B0ABB0"/>
                </a:solidFill>
                <a:latin typeface="Arial"/>
                <a:ea typeface="Arial"/>
                <a:cs typeface="Arial"/>
              </a:rPr>
              <a:t>Emada Academy · Fundamentos · Aula 5 · 4/5</a:t>
            </a:r>
          </a:p>
        </p:txBody>
      </p:sp>
    </p:spTree>
    <p:extLst>
      <p:ext uri="{BB962C8B-B14F-4D97-AF65-F5344CB8AC3E}">
        <p14:creationId xmlns:p14="http://schemas.microsoft.com/office/powerpoint/2010/main" val="943624369"/>
      </p:ext>
    </p:extLst>
  </p:cSld>
</p:sld>
</file>

<file path=ppt/slides/slide5.xml><?xml version="1.0" encoding="utf-8"?>
<p:sld xmlns:p="http://schemas.openxmlformats.org/presentationml/2006/main">
  <p:cSld>
    <p:bg>
      <p:bgPr>
        <a:solidFill xmlns:a="http://schemas.openxmlformats.org/drawingml/2006/main">
          <a:srgbClr val="101010"/>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61560142-E467-45B4-94D0-B19403914E8D}"/>
              </a:ext>
            </a:extLst>
          </p:cNvPr>
          <p:cNvSpPr>
            <a:spLocks xmlns:a="http://schemas.openxmlformats.org/drawingml/2006/main" noGrp="1"/>
          </p:cNvSpPr>
          <p:nvPr/>
        </p:nvSpPr>
        <p:spPr>
          <a:xfrm xmlns:a="http://schemas.openxmlformats.org/drawingml/2006/main">
            <a:off x="666750" y="523875"/>
            <a:ext cx="13811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0">
                <a:solidFill>
                  <a:srgbClr val="F6F3F5"/>
                </a:solidFill>
                <a:latin typeface="Arial"/>
                <a:ea typeface="Arial"/>
                <a:cs typeface="Arial"/>
              </a:defRPr>
            </a:pPr>
            <a:r>
              <a:rPr sz="3450" b="0">
                <a:solidFill>
                  <a:srgbClr val="F6F3F5"/>
                </a:solidFill>
                <a:latin typeface="Arial"/>
                <a:ea typeface="Arial"/>
                <a:cs typeface="Arial"/>
              </a:rPr>
              <a:t>Da reflexão ao próximo passo</a:t>
            </a:r>
          </a:p>
        </p:txBody>
      </p:sp>
      <p:sp>
        <p:nvSpPr>
          <p:cNvPr id="2" name="">
            <a:extLst xmlns:a="http://schemas.openxmlformats.org/drawingml/2006/main">
              <a:ext uri="{FF2B5EF4-FFF2-40B4-BE49-F238E27FC236}">
                <a16:creationId xmlns:a16="http://schemas.microsoft.com/office/drawing/2014/main" id="{EB61BDCA-EF0D-4E7C-BD8B-1E5420FB6F9C}"/>
              </a:ext>
            </a:extLst>
          </p:cNvPr>
          <p:cNvSpPr>
            <a:spLocks xmlns:a="http://schemas.openxmlformats.org/drawingml/2006/main" noGrp="1"/>
          </p:cNvSpPr>
          <p:nvPr/>
        </p:nvSpPr>
        <p:spPr>
          <a:xfrm xmlns:a="http://schemas.openxmlformats.org/drawingml/2006/main">
            <a:off x="666750" y="1762125"/>
            <a:ext cx="13620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D6CFD4"/>
                </a:solidFill>
                <a:latin typeface="Arial"/>
                <a:ea typeface="Arial"/>
                <a:cs typeface="Arial"/>
              </a:defRPr>
            </a:pPr>
            <a:r>
              <a:rPr sz="2025" b="0">
                <a:solidFill>
                  <a:srgbClr val="D6CFD4"/>
                </a:solidFill>
                <a:latin typeface="Arial"/>
                <a:ea typeface="Arial"/>
                <a:cs typeface="Arial"/>
              </a:rPr>
              <a:t>Depois de corrigir o resumo, escolha uma ação pequena que ajude a esclarecer a próxima dúvida. Você não precisa sair com um plano completo. Às vezes, uma pergunta para outra pessoa é o passo que mais faz diferença.</a:t>
            </a:r>
          </a:p>
        </p:txBody>
      </p:sp>
      <p:sp>
        <p:nvSpPr>
          <p:cNvPr id="3" name="">
            <a:extLst xmlns:a="http://schemas.openxmlformats.org/drawingml/2006/main">
              <a:ext uri="{FF2B5EF4-FFF2-40B4-BE49-F238E27FC236}">
                <a16:creationId xmlns:a16="http://schemas.microsoft.com/office/drawing/2014/main" id="{18CE09A9-204C-4B5E-95E9-F9F1C26EF26A}"/>
              </a:ext>
            </a:extLst>
          </p:cNvPr>
          <p:cNvSpPr>
            <a:spLocks xmlns:a="http://schemas.openxmlformats.org/drawingml/2006/main" noGrp="1"/>
          </p:cNvSpPr>
          <p:nvPr/>
        </p:nvSpPr>
        <p:spPr>
          <a:xfrm xmlns:a="http://schemas.openxmlformats.org/drawingml/2006/main">
            <a:off x="666750" y="3238500"/>
            <a:ext cx="13811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E7B5D4"/>
                </a:solidFill>
                <a:latin typeface="Arial"/>
                <a:ea typeface="Arial"/>
                <a:cs typeface="Arial"/>
              </a:defRPr>
            </a:pPr>
            <a:r>
              <a:rPr sz="2175" b="0">
                <a:solidFill>
                  <a:srgbClr val="E7B5D4"/>
                </a:solidFill>
                <a:latin typeface="Arial"/>
                <a:ea typeface="Arial"/>
                <a:cs typeface="Arial"/>
              </a:rPr>
              <a:t>A próxima ação responde a uma dúvida</a:t>
            </a:r>
          </a:p>
        </p:txBody>
      </p:sp>
      <p:sp>
        <p:nvSpPr>
          <p:cNvPr id="4" name="">
            <a:extLst xmlns:a="http://schemas.openxmlformats.org/drawingml/2006/main">
              <a:ext uri="{FF2B5EF4-FFF2-40B4-BE49-F238E27FC236}">
                <a16:creationId xmlns:a16="http://schemas.microsoft.com/office/drawing/2014/main" id="{536267FE-974E-4658-934C-479032CAB1BA}"/>
              </a:ext>
            </a:extLst>
          </p:cNvPr>
          <p:cNvSpPr>
            <a:spLocks xmlns:a="http://schemas.openxmlformats.org/drawingml/2006/main" noGrp="1"/>
          </p:cNvSpPr>
          <p:nvPr/>
        </p:nvSpPr>
        <p:spPr>
          <a:xfrm xmlns:a="http://schemas.openxmlformats.org/drawingml/2006/main">
            <a:off x="666750" y="4143375"/>
            <a:ext cx="4368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E7B5D4"/>
                </a:solidFill>
                <a:latin typeface="Arial"/>
                <a:ea typeface="Arial"/>
                <a:cs typeface="Arial"/>
              </a:defRPr>
            </a:pPr>
            <a:r>
              <a:rPr sz="1650" b="0">
                <a:solidFill>
                  <a:srgbClr val="E7B5D4"/>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05DCFCBB-5B6A-4653-A6DE-90A3CECFD51C}"/>
              </a:ext>
            </a:extLst>
          </p:cNvPr>
          <p:cNvSpPr>
            <a:spLocks xmlns:a="http://schemas.openxmlformats.org/drawingml/2006/main" noGrp="1"/>
          </p:cNvSpPr>
          <p:nvPr/>
        </p:nvSpPr>
        <p:spPr>
          <a:xfrm xmlns:a="http://schemas.openxmlformats.org/drawingml/2006/main">
            <a:off x="666750" y="4667250"/>
            <a:ext cx="4368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F6F3F5"/>
                </a:solidFill>
                <a:latin typeface="Arial"/>
                <a:ea typeface="Arial"/>
                <a:cs typeface="Arial"/>
              </a:defRPr>
            </a:pPr>
            <a:r>
              <a:rPr sz="1950" b="1">
                <a:solidFill>
                  <a:srgbClr val="F6F3F5"/>
                </a:solidFill>
                <a:latin typeface="Arial"/>
                <a:ea typeface="Arial"/>
                <a:cs typeface="Arial"/>
              </a:rPr>
              <a:t>Dúvida</a:t>
            </a:r>
          </a:p>
        </p:txBody>
      </p:sp>
      <p:sp>
        <p:nvSpPr>
          <p:cNvPr id="6" name="">
            <a:extLst xmlns:a="http://schemas.openxmlformats.org/drawingml/2006/main">
              <a:ext uri="{FF2B5EF4-FFF2-40B4-BE49-F238E27FC236}">
                <a16:creationId xmlns:a16="http://schemas.microsoft.com/office/drawing/2014/main" id="{DA7F1526-2146-4986-96B8-56EBB0CE610F}"/>
              </a:ext>
            </a:extLst>
          </p:cNvPr>
          <p:cNvSpPr>
            <a:spLocks xmlns:a="http://schemas.openxmlformats.org/drawingml/2006/main" noGrp="1"/>
          </p:cNvSpPr>
          <p:nvPr/>
        </p:nvSpPr>
        <p:spPr>
          <a:xfrm xmlns:a="http://schemas.openxmlformats.org/drawingml/2006/main">
            <a:off x="666750" y="5619750"/>
            <a:ext cx="43688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D6CFD4"/>
                </a:solidFill>
                <a:latin typeface="Arial"/>
                <a:ea typeface="Arial"/>
                <a:cs typeface="Arial"/>
              </a:defRPr>
            </a:pPr>
            <a:r>
              <a:rPr sz="1725" b="0">
                <a:solidFill>
                  <a:srgbClr val="D6CFD4"/>
                </a:solidFill>
                <a:latin typeface="Arial"/>
                <a:ea typeface="Arial"/>
                <a:cs typeface="Arial"/>
              </a:rPr>
              <a:t>Não sei qual formato interessa ao público.</a:t>
            </a:r>
          </a:p>
        </p:txBody>
      </p:sp>
      <p:sp>
        <p:nvSpPr>
          <p:cNvPr id="7" name="">
            <a:extLst xmlns:a="http://schemas.openxmlformats.org/drawingml/2006/main">
              <a:ext uri="{FF2B5EF4-FFF2-40B4-BE49-F238E27FC236}">
                <a16:creationId xmlns:a16="http://schemas.microsoft.com/office/drawing/2014/main" id="{2C5BB9A3-D19B-4149-B7FE-CC3F7852399B}"/>
              </a:ext>
            </a:extLst>
          </p:cNvPr>
          <p:cNvSpPr>
            <a:spLocks xmlns:a="http://schemas.openxmlformats.org/drawingml/2006/main" noGrp="1"/>
          </p:cNvSpPr>
          <p:nvPr/>
        </p:nvSpPr>
        <p:spPr>
          <a:xfrm xmlns:a="http://schemas.openxmlformats.org/drawingml/2006/main">
            <a:off x="5111750" y="4191000"/>
            <a:ext cx="228600" cy="133350"/>
          </a:xfrm>
          <a:prstGeom xmlns:a="http://schemas.openxmlformats.org/drawingml/2006/main" prst="rightArrow">
            <a:avLst/>
          </a:prstGeom>
          <a:solidFill xmlns:a="http://schemas.openxmlformats.org/drawingml/2006/main">
            <a:srgbClr val="E7B5D4"/>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1F527D6-885B-400B-93CF-5DEE9ACD1D6B}"/>
              </a:ext>
            </a:extLst>
          </p:cNvPr>
          <p:cNvSpPr>
            <a:spLocks xmlns:a="http://schemas.openxmlformats.org/drawingml/2006/main" noGrp="1"/>
          </p:cNvSpPr>
          <p:nvPr/>
        </p:nvSpPr>
        <p:spPr>
          <a:xfrm xmlns:a="http://schemas.openxmlformats.org/drawingml/2006/main">
            <a:off x="5435600" y="4143375"/>
            <a:ext cx="4368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E7B5D4"/>
                </a:solidFill>
                <a:latin typeface="Arial"/>
                <a:ea typeface="Arial"/>
                <a:cs typeface="Arial"/>
              </a:defRPr>
            </a:pPr>
            <a:r>
              <a:rPr sz="1650" b="0">
                <a:solidFill>
                  <a:srgbClr val="E7B5D4"/>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8CF549D5-34D8-4557-9F92-CB18A56E25B4}"/>
              </a:ext>
            </a:extLst>
          </p:cNvPr>
          <p:cNvSpPr>
            <a:spLocks xmlns:a="http://schemas.openxmlformats.org/drawingml/2006/main" noGrp="1"/>
          </p:cNvSpPr>
          <p:nvPr/>
        </p:nvSpPr>
        <p:spPr>
          <a:xfrm xmlns:a="http://schemas.openxmlformats.org/drawingml/2006/main">
            <a:off x="5435600" y="4667250"/>
            <a:ext cx="4368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F6F3F5"/>
                </a:solidFill>
                <a:latin typeface="Arial"/>
                <a:ea typeface="Arial"/>
                <a:cs typeface="Arial"/>
              </a:defRPr>
            </a:pPr>
            <a:r>
              <a:rPr sz="1950" b="1">
                <a:solidFill>
                  <a:srgbClr val="F6F3F5"/>
                </a:solidFill>
                <a:latin typeface="Arial"/>
                <a:ea typeface="Arial"/>
                <a:cs typeface="Arial"/>
              </a:rPr>
              <a:t>Ação pequena</a:t>
            </a:r>
          </a:p>
        </p:txBody>
      </p:sp>
      <p:sp>
        <p:nvSpPr>
          <p:cNvPr id="10" name="">
            <a:extLst xmlns:a="http://schemas.openxmlformats.org/drawingml/2006/main">
              <a:ext uri="{FF2B5EF4-FFF2-40B4-BE49-F238E27FC236}">
                <a16:creationId xmlns:a16="http://schemas.microsoft.com/office/drawing/2014/main" id="{E81EDE3F-5507-495C-B62A-425A7DC0E600}"/>
              </a:ext>
            </a:extLst>
          </p:cNvPr>
          <p:cNvSpPr>
            <a:spLocks xmlns:a="http://schemas.openxmlformats.org/drawingml/2006/main" noGrp="1"/>
          </p:cNvSpPr>
          <p:nvPr/>
        </p:nvSpPr>
        <p:spPr>
          <a:xfrm xmlns:a="http://schemas.openxmlformats.org/drawingml/2006/main">
            <a:off x="5435600" y="5619750"/>
            <a:ext cx="43688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D6CFD4"/>
                </a:solidFill>
                <a:latin typeface="Arial"/>
                <a:ea typeface="Arial"/>
                <a:cs typeface="Arial"/>
              </a:defRPr>
            </a:pPr>
            <a:r>
              <a:rPr sz="1725" b="0">
                <a:solidFill>
                  <a:srgbClr val="D6CFD4"/>
                </a:solidFill>
                <a:latin typeface="Arial"/>
                <a:ea typeface="Arial"/>
                <a:cs typeface="Arial"/>
              </a:rPr>
              <a:t>Preparar uma pergunta sobre tutorial ou bastidores.</a:t>
            </a:r>
          </a:p>
        </p:txBody>
      </p:sp>
      <p:sp>
        <p:nvSpPr>
          <p:cNvPr id="11" name="">
            <a:extLst xmlns:a="http://schemas.openxmlformats.org/drawingml/2006/main">
              <a:ext uri="{FF2B5EF4-FFF2-40B4-BE49-F238E27FC236}">
                <a16:creationId xmlns:a16="http://schemas.microsoft.com/office/drawing/2014/main" id="{1F680956-DF23-4D3A-9421-70A49222C1B4}"/>
              </a:ext>
            </a:extLst>
          </p:cNvPr>
          <p:cNvSpPr>
            <a:spLocks xmlns:a="http://schemas.openxmlformats.org/drawingml/2006/main" noGrp="1"/>
          </p:cNvSpPr>
          <p:nvPr/>
        </p:nvSpPr>
        <p:spPr>
          <a:xfrm xmlns:a="http://schemas.openxmlformats.org/drawingml/2006/main">
            <a:off x="9880600" y="4191000"/>
            <a:ext cx="228600" cy="133350"/>
          </a:xfrm>
          <a:prstGeom xmlns:a="http://schemas.openxmlformats.org/drawingml/2006/main" prst="rightArrow">
            <a:avLst/>
          </a:prstGeom>
          <a:solidFill xmlns:a="http://schemas.openxmlformats.org/drawingml/2006/main">
            <a:srgbClr val="E7B5D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1F894BB-7774-4BB4-8C99-F6ABD6D4BD21}"/>
              </a:ext>
            </a:extLst>
          </p:cNvPr>
          <p:cNvSpPr>
            <a:spLocks xmlns:a="http://schemas.openxmlformats.org/drawingml/2006/main" noGrp="1"/>
          </p:cNvSpPr>
          <p:nvPr/>
        </p:nvSpPr>
        <p:spPr>
          <a:xfrm xmlns:a="http://schemas.openxmlformats.org/drawingml/2006/main">
            <a:off x="10204450" y="4143375"/>
            <a:ext cx="4368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E7B5D4"/>
                </a:solidFill>
                <a:latin typeface="Arial"/>
                <a:ea typeface="Arial"/>
                <a:cs typeface="Arial"/>
              </a:defRPr>
            </a:pPr>
            <a:r>
              <a:rPr sz="1650" b="0">
                <a:solidFill>
                  <a:srgbClr val="E7B5D4"/>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05CB84CE-FBBC-4898-BC2D-983730ED72D8}"/>
              </a:ext>
            </a:extLst>
          </p:cNvPr>
          <p:cNvSpPr>
            <a:spLocks xmlns:a="http://schemas.openxmlformats.org/drawingml/2006/main" noGrp="1"/>
          </p:cNvSpPr>
          <p:nvPr/>
        </p:nvSpPr>
        <p:spPr>
          <a:xfrm xmlns:a="http://schemas.openxmlformats.org/drawingml/2006/main">
            <a:off x="10204450" y="4667250"/>
            <a:ext cx="4368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F6F3F5"/>
                </a:solidFill>
                <a:latin typeface="Arial"/>
                <a:ea typeface="Arial"/>
                <a:cs typeface="Arial"/>
              </a:defRPr>
            </a:pPr>
            <a:r>
              <a:rPr sz="1950" b="1">
                <a:solidFill>
                  <a:srgbClr val="F6F3F5"/>
                </a:solidFill>
                <a:latin typeface="Arial"/>
                <a:ea typeface="Arial"/>
                <a:cs typeface="Arial"/>
              </a:rPr>
              <a:t>Nova informação</a:t>
            </a:r>
          </a:p>
        </p:txBody>
      </p:sp>
      <p:sp>
        <p:nvSpPr>
          <p:cNvPr id="14" name="">
            <a:extLst xmlns:a="http://schemas.openxmlformats.org/drawingml/2006/main">
              <a:ext uri="{FF2B5EF4-FFF2-40B4-BE49-F238E27FC236}">
                <a16:creationId xmlns:a16="http://schemas.microsoft.com/office/drawing/2014/main" id="{24D53A94-94BF-4547-973A-FDB07A2C0447}"/>
              </a:ext>
            </a:extLst>
          </p:cNvPr>
          <p:cNvSpPr>
            <a:spLocks xmlns:a="http://schemas.openxmlformats.org/drawingml/2006/main" noGrp="1"/>
          </p:cNvSpPr>
          <p:nvPr/>
        </p:nvSpPr>
        <p:spPr>
          <a:xfrm xmlns:a="http://schemas.openxmlformats.org/drawingml/2006/main">
            <a:off x="10204450" y="5619750"/>
            <a:ext cx="43688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D6CFD4"/>
                </a:solidFill>
                <a:latin typeface="Arial"/>
                <a:ea typeface="Arial"/>
                <a:cs typeface="Arial"/>
              </a:defRPr>
            </a:pPr>
            <a:r>
              <a:rPr sz="1725" b="0">
                <a:solidFill>
                  <a:srgbClr val="D6CFD4"/>
                </a:solidFill>
                <a:latin typeface="Arial"/>
                <a:ea typeface="Arial"/>
                <a:cs typeface="Arial"/>
              </a:rPr>
              <a:t>Ouvir as respostas antes de planejar a série.</a:t>
            </a:r>
          </a:p>
        </p:txBody>
      </p:sp>
      <p:sp>
        <p:nvSpPr>
          <p:cNvPr id="15" name="">
            <a:extLst xmlns:a="http://schemas.openxmlformats.org/drawingml/2006/main">
              <a:ext uri="{FF2B5EF4-FFF2-40B4-BE49-F238E27FC236}">
                <a16:creationId xmlns:a16="http://schemas.microsoft.com/office/drawing/2014/main" id="{E97EC1FA-0A8E-4824-BD8F-485661C82C21}"/>
              </a:ext>
            </a:extLst>
          </p:cNvPr>
          <p:cNvSpPr>
            <a:spLocks xmlns:a="http://schemas.openxmlformats.org/drawingml/2006/main" noGrp="1"/>
          </p:cNvSpPr>
          <p:nvPr/>
        </p:nvSpPr>
        <p:spPr>
          <a:xfrm xmlns:a="http://schemas.openxmlformats.org/drawingml/2006/main">
            <a:off x="666750" y="7239000"/>
            <a:ext cx="1381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BFCEB8"/>
                </a:solidFill>
                <a:latin typeface="Arial"/>
                <a:ea typeface="Arial"/>
                <a:cs typeface="Arial"/>
              </a:defRPr>
            </a:pPr>
            <a:r>
              <a:rPr sz="1950" b="0">
                <a:solidFill>
                  <a:srgbClr val="BFCEB8"/>
                </a:solidFill>
                <a:latin typeface="Arial"/>
                <a:ea typeface="Arial"/>
                <a:cs typeface="Arial"/>
              </a:rPr>
              <a:t>Uma reflexão ganha força quando encontra um próximo passo do tamanho certo.</a:t>
            </a:r>
          </a:p>
        </p:txBody>
      </p:sp>
      <p:sp>
        <p:nvSpPr>
          <p:cNvPr id="16" name="">
            <a:extLst xmlns:a="http://schemas.openxmlformats.org/drawingml/2006/main">
              <a:ext uri="{FF2B5EF4-FFF2-40B4-BE49-F238E27FC236}">
                <a16:creationId xmlns:a16="http://schemas.microsoft.com/office/drawing/2014/main" id="{EBC1E560-34AF-4E6D-8F00-B07AD71B9F7B}"/>
              </a:ext>
            </a:extLst>
          </p:cNvPr>
          <p:cNvSpPr>
            <a:spLocks xmlns:a="http://schemas.openxmlformats.org/drawingml/2006/main" noGrp="1"/>
          </p:cNvSpPr>
          <p:nvPr/>
        </p:nvSpPr>
        <p:spPr>
          <a:xfrm xmlns:a="http://schemas.openxmlformats.org/drawingml/2006/main">
            <a:off x="666750" y="8115300"/>
            <a:ext cx="1381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B0ABB0"/>
                </a:solidFill>
                <a:latin typeface="Arial"/>
                <a:ea typeface="Arial"/>
                <a:cs typeface="Arial"/>
              </a:defRPr>
            </a:pPr>
            <a:r>
              <a:rPr sz="1275" b="0">
                <a:solidFill>
                  <a:srgbClr val="B0ABB0"/>
                </a:solidFill>
                <a:latin typeface="Arial"/>
                <a:ea typeface="Arial"/>
                <a:cs typeface="Arial"/>
              </a:rPr>
              <a:t>Emada Academy · Fundamentos · Aula 5 · 5/5</a:t>
            </a:r>
          </a:p>
        </p:txBody>
      </p:sp>
    </p:spTree>
    <p:extLst>
      <p:ext uri="{BB962C8B-B14F-4D97-AF65-F5344CB8AC3E}">
        <p14:creationId xmlns:p14="http://schemas.microsoft.com/office/powerpoint/2010/main" val="4237014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2026-09-14T20:55:13.2900000Z</dcterms:created>
  <dcterms:modified xsi:type="dcterms:W3CDTF">2026-09-14T20:55:13.2900000Z</dcterms:modified>
</coreProperties>
</file>