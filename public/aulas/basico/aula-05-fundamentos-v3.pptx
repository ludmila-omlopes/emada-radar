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d9f4a10f76e40ef" /><Relationship Type="http://schemas.openxmlformats.org/officeDocument/2006/relationships/extended-properties" Target="/docProps/app.xml" Id="R015b8a0f5e2f471c" /><Relationship Type="http://schemas.openxmlformats.org/officeDocument/2006/relationships/officeDocument" Target="/ppt/presentation.xml" Id="R60847b7d2fdf46d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d0d3fdf045e4cf4"/>
  </p:sldMasterIdLst>
  <p:notesMasterIdLst>
    <p:notesMasterId xmlns:r="http://schemas.openxmlformats.org/officeDocument/2006/relationships" r:id="Rec36c3937ac047bc"/>
  </p:notesMasterIdLst>
  <p:sldIdLst>
    <p:sldId xmlns:r="http://schemas.openxmlformats.org/officeDocument/2006/relationships" id="256" r:id="R8afaa3d882194f7c"/>
    <p:sldId xmlns:r="http://schemas.openxmlformats.org/officeDocument/2006/relationships" id="257" r:id="R753f4d4a26494103"/>
    <p:sldId xmlns:r="http://schemas.openxmlformats.org/officeDocument/2006/relationships" id="258" r:id="R1c9f0d40eddd474b"/>
    <p:sldId xmlns:r="http://schemas.openxmlformats.org/officeDocument/2006/relationships" id="259" r:id="R4ee19dc4203946eb"/>
    <p:sldId xmlns:r="http://schemas.openxmlformats.org/officeDocument/2006/relationships" id="260" r:id="R09c423de29274379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9cb47b3c5204596" /><Relationship Type="http://schemas.openxmlformats.org/officeDocument/2006/relationships/slideMaster" Target="/ppt/slideMasters/slideMaster1.xml" Id="R9d0d3fdf045e4cf4" /><Relationship Type="http://schemas.openxmlformats.org/officeDocument/2006/relationships/notesMaster" Target="/ppt/notesMasters/notesMaster1.xml" Id="Rec36c3937ac047bc" /><Relationship Type="http://schemas.openxmlformats.org/officeDocument/2006/relationships/presProps" Target="/ppt/presProps.xml" Id="R0d6ae347298e4103" /><Relationship Type="http://schemas.openxmlformats.org/officeDocument/2006/relationships/tableStyles" Target="/ppt/tableStyles.xml" Id="R900a3bf98d4d4316" /><Relationship Type="http://schemas.openxmlformats.org/officeDocument/2006/relationships/slide" Target="/ppt/slides/slide1.xml" Id="R8afaa3d882194f7c" /><Relationship Type="http://schemas.openxmlformats.org/officeDocument/2006/relationships/slide" Target="/ppt/slides/slide2.xml" Id="R753f4d4a26494103" /><Relationship Type="http://schemas.openxmlformats.org/officeDocument/2006/relationships/slide" Target="/ppt/slides/slide3.xml" Id="R1c9f0d40eddd474b" /><Relationship Type="http://schemas.openxmlformats.org/officeDocument/2006/relationships/slide" Target="/ppt/slides/slide4.xml" Id="R4ee19dc4203946eb" /><Relationship Type="http://schemas.openxmlformats.org/officeDocument/2006/relationships/slide" Target="/ppt/slides/slide5.xml" Id="R09c423de2927437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ad82e1928c244d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72e847543d54f9f" /><Relationship Type="http://schemas.openxmlformats.org/officeDocument/2006/relationships/notesMaster" Target="/ppt/notesMasters/notesMaster1.xml" Id="Rf4cfb2d45cf24bc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207c2ca76fd4691" /><Relationship Type="http://schemas.openxmlformats.org/officeDocument/2006/relationships/notesMaster" Target="/ppt/notesMasters/notesMaster1.xml" Id="R96222ff4d81849a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a96a456562b4060" /><Relationship Type="http://schemas.openxmlformats.org/officeDocument/2006/relationships/notesMaster" Target="/ppt/notesMasters/notesMaster1.xml" Id="Rf535580da8ec4e9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95437775fa74744" /><Relationship Type="http://schemas.openxmlformats.org/officeDocument/2006/relationships/notesMaster" Target="/ppt/notesMasters/notesMaster1.xml" Id="R3f72c02f24494c7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0b4ed0c870b4be1" /><Relationship Type="http://schemas.openxmlformats.org/officeDocument/2006/relationships/notesMaster" Target="/ppt/notesMasters/notesMaster1.xml" Id="Re53b77c158ef47b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Aprender algo novo pode trazer curiosidade e desconforto ao mesmo tempo. Você pode querer experimentar e ainda não saber como começar. Não precisa esconder essa mistura nem esperar que ela desapareça para dar um passo pequeno.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Demonstrações prontas costumam esconder o caminho: pedidos refeitos, respostas descartadas e condições que não funcionaram. Comparar seu começo com o resultado editado de outra pessoa oferece uma régua injusta. Seu objetivo aqui é observar uma tentativa sua, não reproduzir uma performance.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Ao mesmo tempo, nem toda resistência é insegurança. Falta de tempo, acesso limitado, desinteresse e preocupações com privacidade são razões reais. O primeiro trabalho desta aula é nomear a barreira sem transformar uma preferência ou um cuidado legítimo em defeito pessoal.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Você não precisa abandonar seus limites para explorar uma possibilidade.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EXEMPLO FICTÍCIO: Um começo sem apresentação pública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Uma editora quer testar textos para apresentar seu serviço, mas não deseja mostrar as primeiras tentativas aos clientes.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Ela inventa um serviço de edição de vídeos curtos e compara duas apresentações, sem enviar o texto a ninguém.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experimento permite aprender sobre tom e revisão sem criar uma promessa comercial real. Não há obrigação de publicar o resultado ou contar uma história de transformação para que o aprendizado seja válido.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REFLEXÃO: O que precisaria mudar para um teste parecer possível, e não obrigatório?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Talvez bastem cinco minutos, um exemplo inventado ou a possibilidade de parar. Nomeie uma condição concreta. Se nenhuma versão parecer útil agora, você pode registrar esse limite e voltar quando houver motivo.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IDEIA PRINCIPAL: Você pode aprender sem transformar o aprendizado em uma demonstração para os outros.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Antes de tentar superar uma barreira, descubra qual é ela. Soluções diferentes respondem a problemas diferentes. Um tutorial não cria tempo livre; entusiasmo não resolve uma preocupação com dados; um pedido pronto não garante interesse.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Descreva a dificuldade em uma frase observável. Em vez de ‘não sou bom com tecnologia’, tente ‘não sei por onde começar uma mensagem’. Em vez de ‘isso não é para mim’, talvez seja mais preciso ‘não encontrei uma tarefa que valha a revisão’. Você não precisa se encaixar nesses exemplos; procure a descrição que faz sentido.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Depois, escolha uma adaptação proporcional. Falta de tempo pode pedir uma tarefa de cinco minutos. Privacidade pode pedir dados fictícios. Falta de acesso a voz pode ser contornada por escrita. Algumas barreiras não se resolvem dentro da aula, e reconhecê-las é melhor do que prometer uma solução simples para tudo.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São possibilidades de adaptação, não um diagnóstico sobre você nem uma lista completa de barreiras.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EXEMPLO FICTÍCIO: Resolver o problema certo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Uma pequena empreendedora não quer colar no chat mensagens reais de clientes.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exercício vira: inventar três perguntas sobre produtos, entrega e personalização, depois pedir uma organização por assunto, sem responder por ela.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adaptação respeita a preocupação, em vez de tentar convencê-la a compartilhar. O resultado ensina sobre a tarefa de classificação sem expor contatos ou inventar condições de atendimento.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REFLEXÃO: Qual é a menor mudança que responderia à sua barreira específica?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 não souber começar, use o pedido de exemplo. Se o problema for falta de tempo, reduza a entrega. Se envolver privacidade ou consequência importante, não envie os dados: trabalhe com um cenário inventado ou escolha outra tarefa.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IDEIA PRINCIPAL: Nomear bem a barreira permite fazer um convite mais respeitoso a si mesmo.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Confiança útil não é acreditar que a IA sempre acerta. É saber o que você consegue pedir, o que precisa conferir e quando prefere não usar. Ela pode crescer em uma tarefa e continuar pequena em outra — e isso faz sentido.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Você pode se sentir à vontade para gerar títulos e continuar cauteloso diante de cálculos. São tarefas diferentes, com erros e consequências diferentes. Não existe obrigação de transferir a confiança conquistada em uma para todas as demais. Experiência deve refinar seu julgamento, não desligá-lo.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Um caminho possível é testar, observar e ajustar o tamanho da próxima tentativa. Se o resultado foi confuso, reduza o escopo. Se foi útil, repita em uma situação parecida antes de aumentar a complexidade. Não há uma sequência emocional obrigatória nem um prazo para se sentir confortável.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ciclo não precisa levar a usos cada vez maiores. Pode levar a limites mais bem definidos.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EXEMPLO FICTÍCIO: Confiança específica, não irrestrita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Depois de alguns testes, uma criadora gosta de usar IA para títulos de vídeos, mas não para confirmar informações sobre os produtos de um patrocinador fictício.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Ela usa o chat para rascunhar títulos a partir do resumo fornecido e confere as características do produto no material aprovado pelo responsável.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Essa divisão é um sinal de discernimento. O resultado não é ‘confio na IA’ ou ‘não confio’; é saber em qual parte do trabalho a ajuda foi útil e qual parte exige outra fonte.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REFLEXÃO: Em qual tarefa você já consegue avaliar melhor uma resposta?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Talvez reconheça com facilidade se uma mensagem soa natural, mas ainda não saiba conferir um assunto técnico. Comece onde tem critérios e busque apoio apropriado quando faltar conhecimento para avaliar.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IDEIA PRINCIPAL: Aprender também é ficar mais preciso sobre onde confiar, onde conferir e onde não usar.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Desenhe um experimento que não precise virar publicação, entrega para alguém ou prova de competência. Você pode usar personagens fictícios e guardar apenas uma observação. Um espaço de teste permite errar sem transformar cada rascunho em compromisso.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Antes de começar, escreva uma expectativa: ‘acho que a mensagem ficará genérica’ ou ‘talvez eu não saiba o que responder’. Depois do teste, compare com o que aconteceu. A expectativa pode se confirmar parcialmente. Não force uma história positiva: procure uma descrição honesta.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Sem plateia não significa confidencialidade absoluta da ferramenta. O chat da Academy envia as mensagens ao provedor e mantém o histórico na sua conta. Por isso, continue usando situações fictícias, sem senhas, documentos ou detalhes privados. A liberdade para testar não depende de compartilhar sua intimidade.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Registre a diferença entre previsão e experiência, sem usar o resultado para se julgar.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EXEMPLO FICTÍCIO: Um resultado misto também ensina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Uma editora prevê: ‘Vou receber uma apresentação do meu serviço que parece uma propaganda genérica.’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Resultado: duas versões exageraram no tom; uma trouxe uma abertura aproveitável, que ela reescreveu sem promessas de desempenho.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previsão não estava totalmente errada. A experiência revelou uma forma específica de ajuda: usar alternativas como ponto de partida, sem esperar uma voz pessoal pronta na primeira tentativa.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PEDIDO PARA ADAPTAR: Crie três aberturas curtas para apresentar um serviço fictício de edição de vídeos curtos para pequenos negócios: uma direta, uma didática e uma acolhedora. Não invente clientes, preços, prazos ou resultados. Quero comparar os tons e adaptar uma delas com minhas próprias palavras.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REFLEXÃO: Que observação você registraria se não quisesse guardar a conversa inteira?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Algo como: ‘Pedir três tons me ajudou a escolher uma abertura, mas precisei reescrever o restante.’ O registro de aprendizado pode ser breve e não precisa reproduzir detalhes pessoais ou todo o histórico.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IDEIA PRINCIPAL: Você tem permissão para testar sem impressionar ninguém.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Um teste possível é aquele que cabe nas condições que você tem hoje. Escolha uma barreira, uma adaptação e um limite de tempo. A proposta é criar uma experiência respeitosa, não provar que toda resistência pode ser vencida.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Você pode fazer uma única troca, usar um exemplo pronto ou revisar um resultado sem enviá-lo a ninguém. Se a tarefa não ajudar, registre isso. O valor do exercício está em relacionar uma condição com o resultado observado, sem exigir entusiasmo ou confiança imediatos.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Ao terminar, decida o próximo passo com base nessa experiência. Talvez queira repetir com outro tom, reduzir ainda mais a tarefa ou deixar esse uso de lado. Um limite bem compreendido é um resultado melhor do que um compromisso feito só para acompanhar o ritmo de outras pessoas.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acordo define um espaço para explorar. Você pode encerrá-lo sem precisar esgotar as mensagens disponíveis.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EXEMPLO FICTÍCIO: Reduzir pode destravar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Uma criadora planejou testar um calendário de conteúdo completo, mas percebeu que não tinha energia para revisar uma resposta longa.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Reduziu o pedido a três títulos para um vídeo fictício e comentou por que nenhum representava bem o assunto.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Mesmo sem escolher um título, identificou o tom que não queria e o tema que precisava ficar mais claro. A próxima tentativa pode partir dessa orientação ou esperar outro momento.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REFLEXÃO: Como você descreveria seu teste sem usar ‘tenho que’?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‘Vou experimentar por cinco minutos uma tarefa fictícia e observar se recebo algo aproveitável.’ Essa formulação deixa espaço para uma descoberta, inclusive a de que o uso não valeu a pena nesta situação.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IDEIA PRINCIPAL: O seu ritmo não é um obstáculo ao aprendizado. É uma condição para desenhar a prática.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ddd9d724f94ba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dff8c0f6e9a4816" /><Relationship Type="http://schemas.openxmlformats.org/officeDocument/2006/relationships/slideLayout" Target="/ppt/slideLayouts/slideLayout1.xml" Id="R00df05c115b445a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0df05c115b445a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0f1c6d3b584d62" /><Relationship Type="http://schemas.openxmlformats.org/officeDocument/2006/relationships/notesSlide" Target="/ppt/notesSlides/notesSlide1.xml" Id="Rdf5ddb2f36ce463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a9b6e87cc24a16" /><Relationship Type="http://schemas.openxmlformats.org/officeDocument/2006/relationships/notesSlide" Target="/ppt/notesSlides/notesSlide2.xml" Id="R1bfc02d0c9e946b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16a3da82b24b5c" /><Relationship Type="http://schemas.openxmlformats.org/officeDocument/2006/relationships/notesSlide" Target="/ppt/notesSlides/notesSlide3.xml" Id="Rb0e9f63243ab4fc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23f9c08ede4914" /><Relationship Type="http://schemas.openxmlformats.org/officeDocument/2006/relationships/notesSlide" Target="/ppt/notesSlides/notesSlide4.xml" Id="Rf3dddd50b78a462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db9d7e8e8443f5" /><Relationship Type="http://schemas.openxmlformats.org/officeDocument/2006/relationships/notesSlide" Target="/ppt/notesSlides/notesSlide5.xml" Id="Rdc64f712f394439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0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3A222A-750B-4D43-8837-2F2BA4566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3811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0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3450" b="0">
                <a:solidFill>
                  <a:srgbClr val="F6F3F5"/>
                </a:solidFill>
                <a:latin typeface="Arial"/>
                <a:ea typeface="Arial"/>
                <a:cs typeface="Arial"/>
              </a:rPr>
              <a:t>O desconforto de começar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33E23D-0F7B-4F69-806A-783F76C9B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13620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Aprender algo novo pode trazer curiosidade e desconforto ao mesmo tempo. Você pode querer experimentar e ainda não saber como começar. Não precisa esconder essa mistura nem esperar que ela desapareça para dar um passo pequeno.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EF4DBE-7777-4EE0-8AE2-2268A7A13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1381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E7B5D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7B5D4"/>
                </a:solidFill>
                <a:latin typeface="Arial"/>
                <a:ea typeface="Arial"/>
                <a:cs typeface="Arial"/>
              </a:rPr>
              <a:t>Duas coisas podem ser verdade ao mesmo tempo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8B97E4-0785-4CD6-81C6-4FB574D72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43375"/>
            <a:ext cx="4368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BFCEB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FCEB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7B0967-5D1C-4258-A680-6A7671415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0"/>
            <a:ext cx="4368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Tenho curiosidade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470BDD-E1E1-4861-8663-2AD1F4101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4368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Quero descobrir se isso pode me ajudar.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544F3A-6EBA-47A9-B1C6-C1F2E1C82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5600" y="4143375"/>
            <a:ext cx="4368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BFCEB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FCEB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6C697F-6EC2-4E85-B676-5966518FE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5600" y="4667250"/>
            <a:ext cx="4368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Tenho um limite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E2FBCC-EC06-4E4B-B4A6-0CC3149D6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5600" y="5619750"/>
            <a:ext cx="4368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Não quero expor dados ou investir muito tempo.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CDA976-C91E-4C85-B5F5-C4E8C2990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4450" y="4143375"/>
            <a:ext cx="4368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BFCEB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FCEB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0EABA5-F184-46BB-B354-ED526FD3D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4450" y="4667250"/>
            <a:ext cx="4368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Posso escolher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C79A21-F624-4E3C-8A36-6C7176120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4450" y="5619750"/>
            <a:ext cx="4368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Um teste pequeno pode respeitar as duas coisas.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C79AD8-828C-40C2-8518-0C8A8508D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0"/>
            <a:ext cx="1381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BFCEB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FCEB8"/>
                </a:solidFill>
                <a:latin typeface="Arial"/>
                <a:ea typeface="Arial"/>
                <a:cs typeface="Arial"/>
              </a:rPr>
              <a:t>Você pode aprender sem transformar o aprendizado em uma demonstração para os outros.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F80E29-1102-488E-B789-ACDF2FFE8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15300"/>
            <a:ext cx="1381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B0ABB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0ABB0"/>
                </a:solidFill>
                <a:latin typeface="Arial"/>
                <a:ea typeface="Arial"/>
                <a:cs typeface="Arial"/>
              </a:rPr>
              <a:t>Emada Academy · Fundamentos · Aula 6 · 1/5</a:t>
            </a:r>
          </a:p>
        </p:txBody>
      </p:sp>
    </p:spTree>
    <p:extLst>
      <p:ext uri="{BB962C8B-B14F-4D97-AF65-F5344CB8AC3E}">
        <p14:creationId xmlns:p14="http://schemas.microsoft.com/office/powerpoint/2010/main" val="165091883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10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A8D97F-BC7E-460D-884B-A311A7C92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3811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0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3450" b="0">
                <a:solidFill>
                  <a:srgbClr val="F6F3F5"/>
                </a:solidFill>
                <a:latin typeface="Arial"/>
                <a:ea typeface="Arial"/>
                <a:cs typeface="Arial"/>
              </a:rPr>
              <a:t>O que pode estar dificultando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BE4DC5-3DE3-4EED-9C42-B307FB93C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13620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Antes de tentar superar uma barreira, descubra qual é ela. Soluções diferentes respondem a problemas diferentes. Um tutorial não cria tempo livre; entusiasmo não resolve uma preocupação com dados; um pedido pronto não garante interesse.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4C7C7B-8B3A-4FD0-A5C4-3F9FDF418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1381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E7B5D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7B5D4"/>
                </a:solidFill>
                <a:latin typeface="Arial"/>
                <a:ea typeface="Arial"/>
                <a:cs typeface="Arial"/>
              </a:rPr>
              <a:t>Barreira e adaptação precisam combinar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2FB734-106E-40BF-B9B4-815AD4F6C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43375"/>
            <a:ext cx="3176588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BFCEB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FCEB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7B9926-E178-4B77-9FE1-338D61F4E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0"/>
            <a:ext cx="3176588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Pouco tempo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8A82A0-2DA1-4A32-845E-CB292BC1B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3176588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Uma tarefa de cinco minutos, com uma saída curta.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460301-2873-43EB-83F4-EA6F7E6E8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3388" y="4143375"/>
            <a:ext cx="3176588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BFCEB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FCEB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3082B3-68E9-475A-9B94-3131D9F14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3388" y="4667250"/>
            <a:ext cx="3176588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Privacidade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96470E-02F9-425A-A872-830C21B1C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3388" y="5619750"/>
            <a:ext cx="3176588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Uma situação inventada, sem dados reais.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01A2E2-4E20-475E-9806-E585E36BC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4143375"/>
            <a:ext cx="3176588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BFCEB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FCEB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2C41A4-91DA-4487-B565-ED706A37C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4667250"/>
            <a:ext cx="3176588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Não sei começar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3E121B-3CB3-49AC-8DB3-873C62EA2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5619750"/>
            <a:ext cx="3176588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Um pedido de exemplo que você pode adaptar.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93966A-4C97-41C4-8F8C-281E48841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6663" y="4143375"/>
            <a:ext cx="3176588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BFCEB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FCEB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6CE87A-EFE0-49FF-A910-81319E615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6663" y="4667250"/>
            <a:ext cx="3176588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Sem recurso de voz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3EB266-4A2F-443B-93A6-9734545FD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6663" y="5619750"/>
            <a:ext cx="3176588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Escrita livre para explorar a mesma ideia.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A545CB-8948-408A-9242-0B18D2BB4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0"/>
            <a:ext cx="1381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BFCEB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FCEB8"/>
                </a:solidFill>
                <a:latin typeface="Arial"/>
                <a:ea typeface="Arial"/>
                <a:cs typeface="Arial"/>
              </a:rPr>
              <a:t>Nomear bem a barreira permite fazer um convite mais respeitoso a si mesmo.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DC8385-8657-4EC0-B701-FBF0C6868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15300"/>
            <a:ext cx="1381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B0ABB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0ABB0"/>
                </a:solidFill>
                <a:latin typeface="Arial"/>
                <a:ea typeface="Arial"/>
                <a:cs typeface="Arial"/>
              </a:rPr>
              <a:t>Emada Academy · Fundamentos · Aula 6 · 2/5</a:t>
            </a:r>
          </a:p>
        </p:txBody>
      </p:sp>
    </p:spTree>
    <p:extLst>
      <p:ext uri="{BB962C8B-B14F-4D97-AF65-F5344CB8AC3E}">
        <p14:creationId xmlns:p14="http://schemas.microsoft.com/office/powerpoint/2010/main" val="206285649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010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422E24-0E3F-41CE-ABE3-74DCD18D9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3811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0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3450" b="0">
                <a:solidFill>
                  <a:srgbClr val="F6F3F5"/>
                </a:solidFill>
                <a:latin typeface="Arial"/>
                <a:ea typeface="Arial"/>
                <a:cs typeface="Arial"/>
              </a:rPr>
              <a:t>Confiança construída em pequenos testes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D3992E-30A5-414A-9976-EE2E62113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13620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Confiança útil não é acreditar que a IA sempre acerta. É saber o que você consegue pedir, o que precisa conferir e quando prefere não usar. Ela pode crescer em uma tarefa e continuar pequena em outra — e isso faz sentido.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A84416-F1F8-4F84-BBBD-34F20D974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1381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E7B5D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7B5D4"/>
                </a:solidFill>
                <a:latin typeface="Arial"/>
                <a:ea typeface="Arial"/>
                <a:cs typeface="Arial"/>
              </a:rPr>
              <a:t>Confiança apoiada em experiência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A3077A-7904-407A-9539-02D65F127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43375"/>
            <a:ext cx="3176588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E7B5D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7B5D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A37F01-3B78-44A8-9665-4B9C9C03D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0"/>
            <a:ext cx="3176588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Teste pequeno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ECC1C7-5A23-41CA-8D5D-314D80B15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3176588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Escolho uma tarefa que consigo avaliar.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EDAB59-FB82-45FF-A2DC-282E2E7F0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9538" y="4191000"/>
            <a:ext cx="2286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7B5D4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E57D76-5574-47BA-878D-E04CE292F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3388" y="4143375"/>
            <a:ext cx="3176588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E7B5D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7B5D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BA6C35-D20A-4AAE-8C13-4AACB89A4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3388" y="4667250"/>
            <a:ext cx="3176588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Observação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816E8F-A1F5-477A-89CE-33AFE734C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3388" y="5619750"/>
            <a:ext cx="3176588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Registro o que ajudou e o que falhou.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602B7E-2FFB-46DA-BD15-54DD44651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4191000"/>
            <a:ext cx="2286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7B5D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53EC1D-A90C-43B6-9F2B-6B485A3D0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4143375"/>
            <a:ext cx="3176588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E7B5D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7B5D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0A73D5-4385-4789-B6E1-003859C44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4667250"/>
            <a:ext cx="3176588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Ajuste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D662E1-BEC8-4914-AAED-1BEBA78E4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5619750"/>
            <a:ext cx="3176588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Mudo uma condição ou reduzo o escopo.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9A9F52-8615-46F6-95F9-20AB8966A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2813" y="4191000"/>
            <a:ext cx="2286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7B5D4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A619F2-C1B2-468F-8267-FB4A10232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6663" y="4143375"/>
            <a:ext cx="3176588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E7B5D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7B5D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D88D88-7462-4B73-9066-1322BADA9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6663" y="4667250"/>
            <a:ext cx="3176588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Nova escolha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FBD98E-3561-4BAA-A61D-4ABF58309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6663" y="5619750"/>
            <a:ext cx="3176588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Decido se vale repetir, ampliar ou parar.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862BFB-4B7B-42B8-A5DD-EC406051C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0"/>
            <a:ext cx="1381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BFCEB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FCEB8"/>
                </a:solidFill>
                <a:latin typeface="Arial"/>
                <a:ea typeface="Arial"/>
                <a:cs typeface="Arial"/>
              </a:rPr>
              <a:t>Aprender também é ficar mais preciso sobre onde confiar, onde conferir e onde não usar.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D5F503-BBFC-418C-AAF4-4E6A21252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15300"/>
            <a:ext cx="1381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B0ABB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0ABB0"/>
                </a:solidFill>
                <a:latin typeface="Arial"/>
                <a:ea typeface="Arial"/>
                <a:cs typeface="Arial"/>
              </a:rPr>
              <a:t>Emada Academy · Fundamentos · Aula 6 · 3/5</a:t>
            </a:r>
          </a:p>
        </p:txBody>
      </p:sp>
    </p:spTree>
    <p:extLst>
      <p:ext uri="{BB962C8B-B14F-4D97-AF65-F5344CB8AC3E}">
        <p14:creationId xmlns:p14="http://schemas.microsoft.com/office/powerpoint/2010/main" val="168957311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10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7F4A32-A537-4354-BD4D-C1388A27E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3811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0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3450" b="0">
                <a:solidFill>
                  <a:srgbClr val="F6F3F5"/>
                </a:solidFill>
                <a:latin typeface="Arial"/>
                <a:ea typeface="Arial"/>
                <a:cs typeface="Arial"/>
              </a:rPr>
              <a:t>Uma tentativa sem plateia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5C944F-534F-47DC-B522-59334A5B4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13620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Desenhe um experimento que não precise virar publicação, entrega para alguém ou prova de competência. Você pode usar personagens fictícios e guardar apenas uma observação. Um espaço de teste permite errar sem transformar cada rascunho em compromisso.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4E0BCB-961E-4512-B148-A7232601D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1381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E7B5D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7B5D4"/>
                </a:solidFill>
                <a:latin typeface="Arial"/>
                <a:ea typeface="Arial"/>
                <a:cs typeface="Arial"/>
              </a:rPr>
              <a:t>Expectativa encontra observação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8638EE-5749-418A-9EE3-8374A0CB5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43375"/>
            <a:ext cx="4368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E7B5D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7B5D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C1F183-2420-4F01-8750-76B702EAF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0"/>
            <a:ext cx="4368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Antes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9ED286-2234-440F-8E22-72BEE43C4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4368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O que imagino que vai acontecer?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7DA2B4-1DA8-43F5-B6B2-37B0301E6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1750" y="4191000"/>
            <a:ext cx="2286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7B5D4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0C3DB6-38FE-4B6E-BA20-3A28C6F34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5600" y="4143375"/>
            <a:ext cx="4368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E7B5D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7B5D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2A46E4-0719-4535-873C-76F6EEAEC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5600" y="4667250"/>
            <a:ext cx="4368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Durante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DD5ADB-AE05-43A3-AF70-F888D160C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5600" y="5619750"/>
            <a:ext cx="4368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Faço um pedido curto e observo minha reação.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01F629-292D-4BF9-A30C-5877F1AC3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0600" y="4191000"/>
            <a:ext cx="2286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7B5D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031B7C-294A-48B8-9304-2A47E7208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4450" y="4143375"/>
            <a:ext cx="4368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E7B5D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7B5D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F0A51E-10E0-487C-9E6A-96599BEDC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4450" y="4667250"/>
            <a:ext cx="4368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Depois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B50671-6721-43F5-BC4D-E4CA24656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4450" y="5619750"/>
            <a:ext cx="4368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O que aconteceu de fato? O que ainda não sei?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4F25B3-F959-4C64-A9F5-46F91E252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0"/>
            <a:ext cx="1381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BFCEB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FCEB8"/>
                </a:solidFill>
                <a:latin typeface="Arial"/>
                <a:ea typeface="Arial"/>
                <a:cs typeface="Arial"/>
              </a:rPr>
              <a:t>Você tem permissão para testar sem impressionar ninguém.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6BFDDE-2B00-4BCA-AAD6-110C8DA31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15300"/>
            <a:ext cx="1381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B0ABB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0ABB0"/>
                </a:solidFill>
                <a:latin typeface="Arial"/>
                <a:ea typeface="Arial"/>
                <a:cs typeface="Arial"/>
              </a:rPr>
              <a:t>Emada Academy · Fundamentos · Aula 6 · 4/5</a:t>
            </a:r>
          </a:p>
        </p:txBody>
      </p:sp>
    </p:spTree>
    <p:extLst>
      <p:ext uri="{BB962C8B-B14F-4D97-AF65-F5344CB8AC3E}">
        <p14:creationId xmlns:p14="http://schemas.microsoft.com/office/powerpoint/2010/main" val="197410863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10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936311-B757-4DD7-9BE5-F9D1269A5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3811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0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3450" b="0">
                <a:solidFill>
                  <a:srgbClr val="F6F3F5"/>
                </a:solidFill>
                <a:latin typeface="Arial"/>
                <a:ea typeface="Arial"/>
                <a:cs typeface="Arial"/>
              </a:rPr>
              <a:t>Seu próximo teste possível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9CF2CF-DFDF-4A28-AF45-C7934DFA7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13620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Um teste possível é aquele que cabe nas condições que você tem hoje. Escolha uma barreira, uma adaptação e um limite de tempo. A proposta é criar uma experiência respeitosa, não provar que toda resistência pode ser vencida.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940B3C-6839-4CA3-B756-30ECAFD7F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1381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E7B5D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7B5D4"/>
                </a:solidFill>
                <a:latin typeface="Arial"/>
                <a:ea typeface="Arial"/>
                <a:cs typeface="Arial"/>
              </a:rPr>
              <a:t>Um acordo pequeno e concreto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56E57E-7EE7-475D-861F-F11B56977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43375"/>
            <a:ext cx="4368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E7B5D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7B5D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AE84D7-98FB-48CE-8EF4-E79EB1577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0"/>
            <a:ext cx="4368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Minha condição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B1F5BC-C630-4163-90A0-CD1CA802F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4368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Tenho cinco minutos e usarei dados inventados.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4DF750-AC2F-47EC-84FC-DA0D95677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1750" y="4191000"/>
            <a:ext cx="2286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7B5D4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8AD278-7061-4FF2-9E5E-DA47BE031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5600" y="4143375"/>
            <a:ext cx="4368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E7B5D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7B5D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1E1FB4-B8FF-4866-BA65-8ABA5D2F8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5600" y="4667250"/>
            <a:ext cx="4368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Meu teste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260C2B-6F09-4639-A1D6-05C8E8392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5600" y="5619750"/>
            <a:ext cx="4368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Comparar três aberturas para apresentar um serviço.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A676E3-C1E0-40A5-9DFF-B08F586B6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0600" y="4191000"/>
            <a:ext cx="2286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7B5D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14F662-8413-4202-AF8A-3DF86DC8A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4450" y="4143375"/>
            <a:ext cx="4368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E7B5D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7B5D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F4B649-89F2-4084-96B7-85761BA52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4450" y="4667250"/>
            <a:ext cx="4368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Minha avaliação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26A591-7DB5-455F-BB41-68E40EDEC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4450" y="5619750"/>
            <a:ext cx="4368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Alguma opção me ajudou a escrever a minha?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157751-1A85-455C-AB35-6D8137344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0"/>
            <a:ext cx="1381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BFCEB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FCEB8"/>
                </a:solidFill>
                <a:latin typeface="Arial"/>
                <a:ea typeface="Arial"/>
                <a:cs typeface="Arial"/>
              </a:rPr>
              <a:t>O seu ritmo não é um obstáculo ao aprendizado. É uma condição para desenhar a prática.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FB9016-3AA5-4A0B-AF65-1E553D81C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15300"/>
            <a:ext cx="1381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B0ABB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0ABB0"/>
                </a:solidFill>
                <a:latin typeface="Arial"/>
                <a:ea typeface="Arial"/>
                <a:cs typeface="Arial"/>
              </a:rPr>
              <a:t>Emada Academy · Fundamentos · Aula 6 · 5/5</a:t>
            </a:r>
          </a:p>
        </p:txBody>
      </p:sp>
    </p:spTree>
    <p:extLst>
      <p:ext uri="{BB962C8B-B14F-4D97-AF65-F5344CB8AC3E}">
        <p14:creationId xmlns:p14="http://schemas.microsoft.com/office/powerpoint/2010/main" val="18336829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2026-09-14T20:55:16.3160000Z</dcterms:created>
  <dcterms:modified xsi:type="dcterms:W3CDTF">2026-09-14T20:55:16.3160000Z</dcterms:modified>
</coreProperties>
</file>